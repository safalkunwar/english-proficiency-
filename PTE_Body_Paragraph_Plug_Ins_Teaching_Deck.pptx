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b537f5077534a5d" /><Relationship Type="http://schemas.openxmlformats.org/officeDocument/2006/relationships/extended-properties" Target="/docProps/app.xml" Id="Rea9ddde9668943f1" /><Relationship Type="http://schemas.openxmlformats.org/officeDocument/2006/relationships/officeDocument" Target="/ppt/presentation.xml" Id="Rf04030b3142642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fa6ad85ce14459"/>
  </p:sldMasterIdLst>
  <p:notesMasterIdLst>
    <p:notesMasterId xmlns:r="http://schemas.openxmlformats.org/officeDocument/2006/relationships" r:id="R47dd897147784507"/>
  </p:notesMasterIdLst>
  <p:sldIdLst>
    <p:sldId xmlns:r="http://schemas.openxmlformats.org/officeDocument/2006/relationships" id="256" r:id="Ree3a74516be54782"/>
    <p:sldId xmlns:r="http://schemas.openxmlformats.org/officeDocument/2006/relationships" id="257" r:id="R32bbcf697bc34633"/>
    <p:sldId xmlns:r="http://schemas.openxmlformats.org/officeDocument/2006/relationships" id="258" r:id="R3ebc2bb099584928"/>
    <p:sldId xmlns:r="http://schemas.openxmlformats.org/officeDocument/2006/relationships" id="259" r:id="R22f44504569f4c30"/>
    <p:sldId xmlns:r="http://schemas.openxmlformats.org/officeDocument/2006/relationships" id="260" r:id="Rc885803f73b64445"/>
    <p:sldId xmlns:r="http://schemas.openxmlformats.org/officeDocument/2006/relationships" id="261" r:id="R2e27e7db412c49a3"/>
    <p:sldId xmlns:r="http://schemas.openxmlformats.org/officeDocument/2006/relationships" id="262" r:id="R13b69fc87ad640e1"/>
    <p:sldId xmlns:r="http://schemas.openxmlformats.org/officeDocument/2006/relationships" id="263" r:id="R8973c4ec4f844348"/>
    <p:sldId xmlns:r="http://schemas.openxmlformats.org/officeDocument/2006/relationships" id="264" r:id="R88835b8052994b6a"/>
    <p:sldId xmlns:r="http://schemas.openxmlformats.org/officeDocument/2006/relationships" id="265" r:id="R79a425fa3c114397"/>
    <p:sldId xmlns:r="http://schemas.openxmlformats.org/officeDocument/2006/relationships" id="266" r:id="R8f3e6e0b7f7a48c7"/>
    <p:sldId xmlns:r="http://schemas.openxmlformats.org/officeDocument/2006/relationships" id="267" r:id="R69953ac683bd42b5"/>
    <p:sldId xmlns:r="http://schemas.openxmlformats.org/officeDocument/2006/relationships" id="268" r:id="R40bf1370bb424cdc"/>
    <p:sldId xmlns:r="http://schemas.openxmlformats.org/officeDocument/2006/relationships" id="269" r:id="R63af8b8761704c49"/>
    <p:sldId xmlns:r="http://schemas.openxmlformats.org/officeDocument/2006/relationships" id="270" r:id="R34fca73fce7649ea"/>
    <p:sldId xmlns:r="http://schemas.openxmlformats.org/officeDocument/2006/relationships" id="271" r:id="Rd47ad1d3c3d247ff"/>
    <p:sldId xmlns:r="http://schemas.openxmlformats.org/officeDocument/2006/relationships" id="272" r:id="Rdfa85428faaa4f92"/>
    <p:sldId xmlns:r="http://schemas.openxmlformats.org/officeDocument/2006/relationships" id="273" r:id="R0731a9b75d43412c"/>
    <p:sldId xmlns:r="http://schemas.openxmlformats.org/officeDocument/2006/relationships" id="274" r:id="R085cfbde523843f9"/>
    <p:sldId xmlns:r="http://schemas.openxmlformats.org/officeDocument/2006/relationships" id="275" r:id="R55f54c13c36d4afc"/>
    <p:sldId xmlns:r="http://schemas.openxmlformats.org/officeDocument/2006/relationships" id="276" r:id="R274980c97f544989"/>
    <p:sldId xmlns:r="http://schemas.openxmlformats.org/officeDocument/2006/relationships" id="277" r:id="Rd36d603b506245de"/>
    <p:sldId xmlns:r="http://schemas.openxmlformats.org/officeDocument/2006/relationships" id="278" r:id="R609f5b631dc34534"/>
    <p:sldId xmlns:r="http://schemas.openxmlformats.org/officeDocument/2006/relationships" id="279" r:id="Rc7a66cd9adef4388"/>
    <p:sldId xmlns:r="http://schemas.openxmlformats.org/officeDocument/2006/relationships" id="280" r:id="Rb361ff8514374c9e"/>
    <p:sldId xmlns:r="http://schemas.openxmlformats.org/officeDocument/2006/relationships" id="281" r:id="R11076f4749b3479d"/>
    <p:sldId xmlns:r="http://schemas.openxmlformats.org/officeDocument/2006/relationships" id="282" r:id="Rf350bf0670014779"/>
    <p:sldId xmlns:r="http://schemas.openxmlformats.org/officeDocument/2006/relationships" id="283" r:id="R919288bb6c174fc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a1fcb32d0a2496a" /><Relationship Type="http://schemas.openxmlformats.org/officeDocument/2006/relationships/slideMaster" Target="/ppt/slideMasters/slideMaster1.xml" Id="R8bfa6ad85ce14459" /><Relationship Type="http://schemas.openxmlformats.org/officeDocument/2006/relationships/notesMaster" Target="/ppt/notesMasters/notesMaster1.xml" Id="R47dd897147784507" /><Relationship Type="http://schemas.openxmlformats.org/officeDocument/2006/relationships/presProps" Target="/ppt/presProps.xml" Id="R47cc6f587c614721" /><Relationship Type="http://schemas.openxmlformats.org/officeDocument/2006/relationships/tableStyles" Target="/ppt/tableStyles.xml" Id="R63a3f245e91b461c" /><Relationship Type="http://schemas.openxmlformats.org/officeDocument/2006/relationships/slide" Target="/ppt/slides/slide1.xml" Id="Ree3a74516be54782" /><Relationship Type="http://schemas.openxmlformats.org/officeDocument/2006/relationships/slide" Target="/ppt/slides/slide2.xml" Id="R32bbcf697bc34633" /><Relationship Type="http://schemas.openxmlformats.org/officeDocument/2006/relationships/slide" Target="/ppt/slides/slide3.xml" Id="R3ebc2bb099584928" /><Relationship Type="http://schemas.openxmlformats.org/officeDocument/2006/relationships/slide" Target="/ppt/slides/slide4.xml" Id="R22f44504569f4c30" /><Relationship Type="http://schemas.openxmlformats.org/officeDocument/2006/relationships/slide" Target="/ppt/slides/slide5.xml" Id="Rc885803f73b64445" /><Relationship Type="http://schemas.openxmlformats.org/officeDocument/2006/relationships/slide" Target="/ppt/slides/slide6.xml" Id="R2e27e7db412c49a3" /><Relationship Type="http://schemas.openxmlformats.org/officeDocument/2006/relationships/slide" Target="/ppt/slides/slide7.xml" Id="R13b69fc87ad640e1" /><Relationship Type="http://schemas.openxmlformats.org/officeDocument/2006/relationships/slide" Target="/ppt/slides/slide8.xml" Id="R8973c4ec4f844348" /><Relationship Type="http://schemas.openxmlformats.org/officeDocument/2006/relationships/slide" Target="/ppt/slides/slide9.xml" Id="R88835b8052994b6a" /><Relationship Type="http://schemas.openxmlformats.org/officeDocument/2006/relationships/slide" Target="/ppt/slides/slide10.xml" Id="R79a425fa3c114397" /><Relationship Type="http://schemas.openxmlformats.org/officeDocument/2006/relationships/slide" Target="/ppt/slides/slide11.xml" Id="R8f3e6e0b7f7a48c7" /><Relationship Type="http://schemas.openxmlformats.org/officeDocument/2006/relationships/slide" Target="/ppt/slides/slide12.xml" Id="R69953ac683bd42b5" /><Relationship Type="http://schemas.openxmlformats.org/officeDocument/2006/relationships/slide" Target="/ppt/slides/slide13.xml" Id="R40bf1370bb424cdc" /><Relationship Type="http://schemas.openxmlformats.org/officeDocument/2006/relationships/slide" Target="/ppt/slides/slide14.xml" Id="R63af8b8761704c49" /><Relationship Type="http://schemas.openxmlformats.org/officeDocument/2006/relationships/slide" Target="/ppt/slides/slide15.xml" Id="R34fca73fce7649ea" /><Relationship Type="http://schemas.openxmlformats.org/officeDocument/2006/relationships/slide" Target="/ppt/slides/slide16.xml" Id="Rd47ad1d3c3d247ff" /><Relationship Type="http://schemas.openxmlformats.org/officeDocument/2006/relationships/slide" Target="/ppt/slides/slide17.xml" Id="Rdfa85428faaa4f92" /><Relationship Type="http://schemas.openxmlformats.org/officeDocument/2006/relationships/slide" Target="/ppt/slides/slide18.xml" Id="R0731a9b75d43412c" /><Relationship Type="http://schemas.openxmlformats.org/officeDocument/2006/relationships/slide" Target="/ppt/slides/slide19.xml" Id="R085cfbde523843f9" /><Relationship Type="http://schemas.openxmlformats.org/officeDocument/2006/relationships/slide" Target="/ppt/slides/slide20.xml" Id="R55f54c13c36d4afc" /><Relationship Type="http://schemas.openxmlformats.org/officeDocument/2006/relationships/slide" Target="/ppt/slides/slide21.xml" Id="R274980c97f544989" /><Relationship Type="http://schemas.openxmlformats.org/officeDocument/2006/relationships/slide" Target="/ppt/slides/slide22.xml" Id="Rd36d603b506245de" /><Relationship Type="http://schemas.openxmlformats.org/officeDocument/2006/relationships/slide" Target="/ppt/slides/slide23.xml" Id="R609f5b631dc34534" /><Relationship Type="http://schemas.openxmlformats.org/officeDocument/2006/relationships/slide" Target="/ppt/slides/slide24.xml" Id="Rc7a66cd9adef4388" /><Relationship Type="http://schemas.openxmlformats.org/officeDocument/2006/relationships/slide" Target="/ppt/slides/slide25.xml" Id="Rb361ff8514374c9e" /><Relationship Type="http://schemas.openxmlformats.org/officeDocument/2006/relationships/slide" Target="/ppt/slides/slide26.xml" Id="R11076f4749b3479d" /><Relationship Type="http://schemas.openxmlformats.org/officeDocument/2006/relationships/slide" Target="/ppt/slides/slide27.xml" Id="Rf350bf0670014779" /><Relationship Type="http://schemas.openxmlformats.org/officeDocument/2006/relationships/slide" Target="/ppt/slides/slide28.xml" Id="R919288bb6c174f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8c4ecb3b144e6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79a44d43904471" /><Relationship Type="http://schemas.openxmlformats.org/officeDocument/2006/relationships/notesMaster" Target="/ppt/notesMasters/notesMaster1.xml" Id="R0b2873299e9e457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a31cb4522c642f2" /><Relationship Type="http://schemas.openxmlformats.org/officeDocument/2006/relationships/notesMaster" Target="/ppt/notesMasters/notesMaster1.xml" Id="R334aa83cfd84458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f210bb45194e88" /><Relationship Type="http://schemas.openxmlformats.org/officeDocument/2006/relationships/notesMaster" Target="/ppt/notesMasters/notesMaster1.xml" Id="R886745703a1044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82e64f0de7946a1" /><Relationship Type="http://schemas.openxmlformats.org/officeDocument/2006/relationships/notesMaster" Target="/ppt/notesMasters/notesMaster1.xml" Id="Ra2b907fe917842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a6f76982484211" /><Relationship Type="http://schemas.openxmlformats.org/officeDocument/2006/relationships/notesMaster" Target="/ppt/notesMasters/notesMaster1.xml" Id="Re7a620ffaeff40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30fdf10a1a4c04" /><Relationship Type="http://schemas.openxmlformats.org/officeDocument/2006/relationships/notesMaster" Target="/ppt/notesMasters/notesMaster1.xml" Id="Ra58d2d4a5882480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79b994ce0b4eeb" /><Relationship Type="http://schemas.openxmlformats.org/officeDocument/2006/relationships/notesMaster" Target="/ppt/notesMasters/notesMaster1.xml" Id="R91c699ac933545e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1e3366cc41f4fc0" /><Relationship Type="http://schemas.openxmlformats.org/officeDocument/2006/relationships/notesMaster" Target="/ppt/notesMasters/notesMaster1.xml" Id="R9922cd7b1f2d459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d3a0e034187494f" /><Relationship Type="http://schemas.openxmlformats.org/officeDocument/2006/relationships/notesMaster" Target="/ppt/notesMasters/notesMaster1.xml" Id="R6a7a84e9da8a45d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5d8da1c1cf84bf9" /><Relationship Type="http://schemas.openxmlformats.org/officeDocument/2006/relationships/notesMaster" Target="/ppt/notesMasters/notesMaster1.xml" Id="R61d1817367364a4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7d32750d894efc" /><Relationship Type="http://schemas.openxmlformats.org/officeDocument/2006/relationships/notesMaster" Target="/ppt/notesMasters/notesMaster1.xml" Id="R892954ec642b4a6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d656c593b3d43a2" /><Relationship Type="http://schemas.openxmlformats.org/officeDocument/2006/relationships/notesMaster" Target="/ppt/notesMasters/notesMaster1.xml" Id="Ra589263eb101497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acfb68922214da9" /><Relationship Type="http://schemas.openxmlformats.org/officeDocument/2006/relationships/notesMaster" Target="/ppt/notesMasters/notesMaster1.xml" Id="R6bacf8232fb949e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666bd2eac304744" /><Relationship Type="http://schemas.openxmlformats.org/officeDocument/2006/relationships/notesMaster" Target="/ppt/notesMasters/notesMaster1.xml" Id="R0efaba2b27a2437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0adee4d10204c9b" /><Relationship Type="http://schemas.openxmlformats.org/officeDocument/2006/relationships/notesMaster" Target="/ppt/notesMasters/notesMaster1.xml" Id="R7c13ffee3ac6449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60a17da7b1c482b" /><Relationship Type="http://schemas.openxmlformats.org/officeDocument/2006/relationships/notesMaster" Target="/ppt/notesMasters/notesMaster1.xml" Id="Re1801de726ac4f3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0ad4a0353aa41af" /><Relationship Type="http://schemas.openxmlformats.org/officeDocument/2006/relationships/notesMaster" Target="/ppt/notesMasters/notesMaster1.xml" Id="R23744fa4c535448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ad589fc60224a6b" /><Relationship Type="http://schemas.openxmlformats.org/officeDocument/2006/relationships/notesMaster" Target="/ppt/notesMasters/notesMaster1.xml" Id="R88772ba8c072481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0f7aa2c90434067" /><Relationship Type="http://schemas.openxmlformats.org/officeDocument/2006/relationships/notesMaster" Target="/ppt/notesMasters/notesMaster1.xml" Id="Rb3c82305e58d481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3bb07f2a801434d" /><Relationship Type="http://schemas.openxmlformats.org/officeDocument/2006/relationships/notesMaster" Target="/ppt/notesMasters/notesMaster1.xml" Id="R4b3210beadcf494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cb33956164f4695" /><Relationship Type="http://schemas.openxmlformats.org/officeDocument/2006/relationships/notesMaster" Target="/ppt/notesMasters/notesMaster1.xml" Id="R0186fd6f3b0e400e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5c76d7a268f4f2c" /><Relationship Type="http://schemas.openxmlformats.org/officeDocument/2006/relationships/notesMaster" Target="/ppt/notesMasters/notesMaster1.xml" Id="Rb1d6c2e2561c4ae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b13786511544571" /><Relationship Type="http://schemas.openxmlformats.org/officeDocument/2006/relationships/notesMaster" Target="/ppt/notesMasters/notesMaster1.xml" Id="R2b80027bcfaf48a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5f2f2d5257f4e4b" /><Relationship Type="http://schemas.openxmlformats.org/officeDocument/2006/relationships/notesMaster" Target="/ppt/notesMasters/notesMaster1.xml" Id="R43e14c14b8a7474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280f2acc19af4d3f" /><Relationship Type="http://schemas.openxmlformats.org/officeDocument/2006/relationships/notesMaster" Target="/ppt/notesMasters/notesMaster1.xml" Id="R8ba2bcc74b5f42a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1f7e11eb3d1427b" /><Relationship Type="http://schemas.openxmlformats.org/officeDocument/2006/relationships/notesMaster" Target="/ppt/notesMasters/notesMaster1.xml" Id="R3c2ca865d7a743f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393f39cb54b48f3" /><Relationship Type="http://schemas.openxmlformats.org/officeDocument/2006/relationships/notesMaster" Target="/ppt/notesMasters/notesMaster1.xml" Id="R7c861901475a49b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e163700ec77b4596" /><Relationship Type="http://schemas.openxmlformats.org/officeDocument/2006/relationships/notesMaster" Target="/ppt/notesMasters/notesMaster1.xml" Id="Rc4b277d760cb46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asking: What makes a body paragraph convincing?</a:t>
            </a:r>
          </a:p>
          <a:p xmlns:a="http://schemas.openxmlformats.org/drawingml/2006/main">
            <a:r>
              <a:t>Accept responses, then introduce the four-part rule: point, explain, example and link.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Tell students that a strong paragraph is a chain, not a collection of memorised sentences.</a:t>
            </a:r>
          </a:p>
          <a:p xmlns:a="http://schemas.openxmlformats.org/drawingml/2006/main">
            <a:r>
              <a:t>Ask the class to repeat the four actions: choose, develop, prove, connect.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that templates can support grammar and organisation, but content must still answer the prompt.</a:t>
            </a:r>
          </a:p>
          <a:p xmlns:a="http://schemas.openxmlformats.org/drawingml/2006/main">
            <a:r>
              <a:t>Remind students that the whole PTE essay should normally remain within 200–300 words.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https://www.pearsonpte.com/content/dam/ELL/pte/pearsonpte/pdfs/pte-academic-pdfs/PTE-Academic-Test-Taker-Score-Guide.pdf</a:t>
            </a:r>
          </a:p>
          <a:p xmlns:a="http://schemas.openxmlformats.org/drawingml/2006/main">
            <a:r>
              <a:t>- https://www.pearsonpte.com/articles/how-to-prepare-for-the-pte-essay-writing-task/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sequence as PEEL: Point, Explain, Example, Link.</a:t>
            </a:r>
          </a:p>
          <a:p xmlns:a="http://schemas.openxmlformats.org/drawingml/2006/main">
            <a:r>
              <a:t>Explain that the example is not enough by itself; the link states what the example proves.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two quick prompts and ask whether the class needs a point sentence or a cross-topic example.</a:t>
            </a:r>
          </a:p>
          <a:p xmlns:a="http://schemas.openxmlformats.org/drawingml/2006/main">
            <a:r>
              <a:t>Stress that a cross-topic example must be connected explicitly; similarity should never be assumed.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bridge aloud and ask students to identify the field, example and connection.</a:t>
            </a:r>
          </a:p>
          <a:p xmlns:a="http://schemas.openxmlformats.org/drawingml/2006/main">
            <a:r>
              <a:t>Warn students not to stop after naming the example; the connection must support the paragraph’s argument.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classify the three lines for Education: positive, negative or balanced judgement.</a:t>
            </a:r>
          </a:p>
          <a:p xmlns:a="http://schemas.openxmlformats.org/drawingml/2006/main">
            <a:r>
              <a:t>Students select only the sentence that matches their position and the exact prompt.</a:t>
            </a:r>
          </a:p>
          <a:p xmlns:a="http://schemas.openxmlformats.org/drawingml/2006/main">
            <a:r>
              <a:t>After selection, ask for one original explanation sentence before moving to an example.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a prompt outside Education and ask students which example could still support it.</a:t>
            </a:r>
          </a:p>
          <a:p xmlns:a="http://schemas.openxmlformats.org/drawingml/2006/main">
            <a:r>
              <a:t>Require students to begin with a bridge and end by stating the lesson or connection.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classify the three lines for Science and research: positive, negative or balanced judgement.</a:t>
            </a:r>
          </a:p>
          <a:p xmlns:a="http://schemas.openxmlformats.org/drawingml/2006/main">
            <a:r>
              <a:t>Students select only the sentence that matches their position and the exact prompt.</a:t>
            </a:r>
          </a:p>
          <a:p xmlns:a="http://schemas.openxmlformats.org/drawingml/2006/main">
            <a:r>
              <a:t>After selection, ask for one original explanation sentence before moving to an example.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a prompt outside Science and research and ask students which example could still support it.</a:t>
            </a:r>
          </a:p>
          <a:p xmlns:a="http://schemas.openxmlformats.org/drawingml/2006/main">
            <a:r>
              <a:t>Require students to begin with a bridge and end by stating the lesson or connection.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classify the three lines for Technology and AI: positive, negative or balanced judgement.</a:t>
            </a:r>
          </a:p>
          <a:p xmlns:a="http://schemas.openxmlformats.org/drawingml/2006/main">
            <a:r>
              <a:t>Students select only the sentence that matches their position and the exact prompt.</a:t>
            </a:r>
          </a:p>
          <a:p xmlns:a="http://schemas.openxmlformats.org/drawingml/2006/main">
            <a:r>
              <a:t>After selection, ask for one original explanation sentence before moving to an example.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a prompt outside Technology and AI and ask students which example could still support it.</a:t>
            </a:r>
          </a:p>
          <a:p xmlns:a="http://schemas.openxmlformats.org/drawingml/2006/main">
            <a:r>
              <a:t>Require students to begin with a bridge and end by stating the lesson or connection.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classify the three lines for Health: positive, negative or balanced judgement.</a:t>
            </a:r>
          </a:p>
          <a:p xmlns:a="http://schemas.openxmlformats.org/drawingml/2006/main">
            <a:r>
              <a:t>Students select only the sentence that matches their position and the exact prompt.</a:t>
            </a:r>
          </a:p>
          <a:p xmlns:a="http://schemas.openxmlformats.org/drawingml/2006/main">
            <a:r>
              <a:t>After selection, ask for one original explanation sentence before moving to an example.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a prompt outside Health and ask students which example could still support it.</a:t>
            </a:r>
          </a:p>
          <a:p xmlns:a="http://schemas.openxmlformats.org/drawingml/2006/main">
            <a:r>
              <a:t>Require students to begin with a bridge and end by stating the lesson or connection.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classify the three lines for Environment: positive, negative or balanced judgement.</a:t>
            </a:r>
          </a:p>
          <a:p xmlns:a="http://schemas.openxmlformats.org/drawingml/2006/main">
            <a:r>
              <a:t>Students select only the sentence that matches their position and the exact prompt.</a:t>
            </a:r>
          </a:p>
          <a:p xmlns:a="http://schemas.openxmlformats.org/drawingml/2006/main">
            <a:r>
              <a:t>After selection, ask for one original explanation sentence before moving to an example.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a prompt outside Environment and ask students which example could still support it.</a:t>
            </a:r>
          </a:p>
          <a:p xmlns:a="http://schemas.openxmlformats.org/drawingml/2006/main">
            <a:r>
              <a:t>Require students to begin with a bridge and end by stating the lesson or connection.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classify the three lines for Society and government: positive, negative or balanced judgement.</a:t>
            </a:r>
          </a:p>
          <a:p xmlns:a="http://schemas.openxmlformats.org/drawingml/2006/main">
            <a:r>
              <a:t>Students select only the sentence that matches their position and the exact prompt.</a:t>
            </a:r>
          </a:p>
          <a:p xmlns:a="http://schemas.openxmlformats.org/drawingml/2006/main">
            <a:r>
              <a:t>After selection, ask for one original explanation sentence before moving to an example.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a prompt outside Society and government and ask students which example could still support it.</a:t>
            </a:r>
          </a:p>
          <a:p xmlns:a="http://schemas.openxmlformats.org/drawingml/2006/main">
            <a:r>
              <a:t>Require students to begin with a bridge and end by stating the lesson or connection.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classify the three lines for Individuals and employment: positive, negative or balanced judgement.</a:t>
            </a:r>
          </a:p>
          <a:p xmlns:a="http://schemas.openxmlformats.org/drawingml/2006/main">
            <a:r>
              <a:t>Students select only the sentence that matches their position and the exact prompt.</a:t>
            </a:r>
          </a:p>
          <a:p xmlns:a="http://schemas.openxmlformats.org/drawingml/2006/main">
            <a:r>
              <a:t>After selection, ask for one original explanation sentence before moving to an example.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a prompt outside Individuals and employment and ask students which example could still support it.</a:t>
            </a:r>
          </a:p>
          <a:p xmlns:a="http://schemas.openxmlformats.org/drawingml/2006/main">
            <a:r>
              <a:t>Require students to begin with a bridge and end by stating the lesson or connection.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choose a positive, negative or neutral point starter.</a:t>
            </a:r>
          </a:p>
          <a:p xmlns:a="http://schemas.openxmlformats.org/drawingml/2006/main">
            <a:r>
              <a:t>Check that the completed sentence answers the question rather than merely naming the topic.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what logical relationship each sentence creates: cause-effect, clarification, affected group or future consequence.</a:t>
            </a:r>
          </a:p>
          <a:p xmlns:a="http://schemas.openxmlformats.org/drawingml/2006/main">
            <a:r>
              <a:t>Encourage one developed explanation rather than several undeveloped reasons.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underline the specific case and circle the lesson it demonstrates.</a:t>
            </a:r>
          </a:p>
          <a:p xmlns:a="http://schemas.openxmlformats.org/drawingml/2006/main">
            <a:r>
              <a:t>Remind them that a plausible, clearly explained example is safer than an impressive but unrelated one.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Ask students to distinguish a link sentence from a repeated example.</a:t>
            </a:r>
          </a:p>
          <a:p xmlns:a="http://schemas.openxmlformats.org/drawingml/2006/main">
            <a:r>
              <a:t>The link should echo the paragraph’s point and remain consistent with the essay position.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paragraph one move at a time: point, explain, example, link.</a:t>
            </a:r>
          </a:p>
          <a:p xmlns:a="http://schemas.openxmlformats.org/drawingml/2006/main">
            <a:r>
              <a:t>Ask students how each sentence grows from the one before it.</a:t>
            </a:r>
          </a:p>
          <a:p xmlns:a="http://schemas.openxmlformats.org/drawingml/2006/main">
            <a:r>
              <a:t>Point out that the paragraph supports AI but also sets a condition: professional supervision.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students six minutes: two minutes per prompt or choose one prompt for a complete paragraph.</a:t>
            </a:r>
          </a:p>
          <a:p xmlns:a="http://schemas.openxmlformats.org/drawingml/2006/main">
            <a:r>
              <a:t>Circulate and check relevance before correcting grammar.</a:t>
            </a:r>
          </a:p>
          <a:p xmlns:a="http://schemas.openxmlformats.org/drawingml/2006/main">
            <a:r>
              <a:t>Invite students to compare category choices; more than one can work when the logic is explained.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Accept alternative answers when students can explain the connection.</a:t>
            </a:r>
          </a:p>
          <a:p xmlns:a="http://schemas.openxmlformats.org/drawingml/2006/main">
            <a:r>
              <a:t>Ask students to add one explanation and one link to each model line orally.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as a peer-review checklist after every practice paragraph.</a:t>
            </a:r>
          </a:p>
          <a:p xmlns:a="http://schemas.openxmlformats.org/drawingml/2006/main">
            <a:r>
              <a:t>Close by asking students to state the four moves without looking: point, explain, example, link.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c33b9b7c1442c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3fa865d6b440d8" /><Relationship Type="http://schemas.openxmlformats.org/officeDocument/2006/relationships/slideLayout" Target="/ppt/slideLayouts/slideLayout1.xml" Id="R2d5870b3a4f54f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5870b3a4f54f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cec332e9bc4f42" /><Relationship Type="http://schemas.openxmlformats.org/officeDocument/2006/relationships/notesSlide" Target="/ppt/notesSlides/notesSlide1.xml" Id="R7d2cbda8fbaa41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0fe2af664e4566" /><Relationship Type="http://schemas.openxmlformats.org/officeDocument/2006/relationships/notesSlide" Target="/ppt/notesSlides/notesSlide2.xml" Id="Rf88786e54abb478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1e1811ccdf47a6" /><Relationship Type="http://schemas.openxmlformats.org/officeDocument/2006/relationships/notesSlide" Target="/ppt/notesSlides/notesSlide3.xml" Id="R530b6360b34f4c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698f1ecdd84571" /><Relationship Type="http://schemas.openxmlformats.org/officeDocument/2006/relationships/notesSlide" Target="/ppt/notesSlides/notesSlide4.xml" Id="R75b5326f16f9455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a9b3a448974019" /><Relationship Type="http://schemas.openxmlformats.org/officeDocument/2006/relationships/notesSlide" Target="/ppt/notesSlides/notesSlide5.xml" Id="R9635c5820c0b46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2d94047f184a69" /><Relationship Type="http://schemas.openxmlformats.org/officeDocument/2006/relationships/notesSlide" Target="/ppt/notesSlides/notesSlide6.xml" Id="R1b74063cc108414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b2d0e9b3b547b6" /><Relationship Type="http://schemas.openxmlformats.org/officeDocument/2006/relationships/notesSlide" Target="/ppt/notesSlides/notesSlide7.xml" Id="R63cc6dedb09a4d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48588044cb4e98" /><Relationship Type="http://schemas.openxmlformats.org/officeDocument/2006/relationships/notesSlide" Target="/ppt/notesSlides/notesSlide8.xml" Id="R3f4468706573462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42d0d7b6dc46be" /><Relationship Type="http://schemas.openxmlformats.org/officeDocument/2006/relationships/notesSlide" Target="/ppt/notesSlides/notesSlide9.xml" Id="R1456050e64c74d1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19979902e14ba4" /><Relationship Type="http://schemas.openxmlformats.org/officeDocument/2006/relationships/notesSlide" Target="/ppt/notesSlides/notesSlide10.xml" Id="R448895af3325414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3c6e6884314721" /><Relationship Type="http://schemas.openxmlformats.org/officeDocument/2006/relationships/notesSlide" Target="/ppt/notesSlides/notesSlide11.xml" Id="R04cf1efcf36b470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0b9277709d4a28" /><Relationship Type="http://schemas.openxmlformats.org/officeDocument/2006/relationships/notesSlide" Target="/ppt/notesSlides/notesSlide12.xml" Id="R550748861d64480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a2523421e244ab" /><Relationship Type="http://schemas.openxmlformats.org/officeDocument/2006/relationships/notesSlide" Target="/ppt/notesSlides/notesSlide13.xml" Id="R532085bddd62429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eabbecd6d2460a" /><Relationship Type="http://schemas.openxmlformats.org/officeDocument/2006/relationships/notesSlide" Target="/ppt/notesSlides/notesSlide14.xml" Id="Rd5e2fd75cad34ef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30c01735ea4c73" /><Relationship Type="http://schemas.openxmlformats.org/officeDocument/2006/relationships/notesSlide" Target="/ppt/notesSlides/notesSlide15.xml" Id="R94b86e4f7cbe41f4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7f35836b704636" /><Relationship Type="http://schemas.openxmlformats.org/officeDocument/2006/relationships/notesSlide" Target="/ppt/notesSlides/notesSlide16.xml" Id="Raa4db9d00e144d1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45362859254366" /><Relationship Type="http://schemas.openxmlformats.org/officeDocument/2006/relationships/notesSlide" Target="/ppt/notesSlides/notesSlide17.xml" Id="Rbf517609de7f49d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9e254aa40c4f8c" /><Relationship Type="http://schemas.openxmlformats.org/officeDocument/2006/relationships/notesSlide" Target="/ppt/notesSlides/notesSlide18.xml" Id="R28ae7d5a5b88460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d97ca140534ca9" /><Relationship Type="http://schemas.openxmlformats.org/officeDocument/2006/relationships/notesSlide" Target="/ppt/notesSlides/notesSlide19.xml" Id="Rcd7e26eaeae2483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8af057368241ee" /><Relationship Type="http://schemas.openxmlformats.org/officeDocument/2006/relationships/notesSlide" Target="/ppt/notesSlides/notesSlide20.xml" Id="R31bab35e7aec483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4e53d10eb449ee" /><Relationship Type="http://schemas.openxmlformats.org/officeDocument/2006/relationships/notesSlide" Target="/ppt/notesSlides/notesSlide21.xml" Id="Rd924a08884414b6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6ef9d98674d19" /><Relationship Type="http://schemas.openxmlformats.org/officeDocument/2006/relationships/notesSlide" Target="/ppt/notesSlides/notesSlide22.xml" Id="R975dc3853266440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bcce89eb1b4da6" /><Relationship Type="http://schemas.openxmlformats.org/officeDocument/2006/relationships/notesSlide" Target="/ppt/notesSlides/notesSlide23.xml" Id="R6a05c0c9e4a14439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8543d277e24722" /><Relationship Type="http://schemas.openxmlformats.org/officeDocument/2006/relationships/notesSlide" Target="/ppt/notesSlides/notesSlide24.xml" Id="R348887f9bb7b48c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cecfbceadd453c" /><Relationship Type="http://schemas.openxmlformats.org/officeDocument/2006/relationships/notesSlide" Target="/ppt/notesSlides/notesSlide25.xml" Id="R7f1c7e7038e84427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dc1944a2ba43f4" /><Relationship Type="http://schemas.openxmlformats.org/officeDocument/2006/relationships/notesSlide" Target="/ppt/notesSlides/notesSlide26.xml" Id="R2df0341045ff4f9b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2da004e1274fbd" /><Relationship Type="http://schemas.openxmlformats.org/officeDocument/2006/relationships/notesSlide" Target="/ppt/notesSlides/notesSlide27.xml" Id="Rb6ef528f975d482a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bb2a31bd10422e" /><Relationship Type="http://schemas.openxmlformats.org/officeDocument/2006/relationships/notesSlide" Target="/ppt/notesSlides/notesSlide28.xml" Id="R5feebf1fb874411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56-44">
            <a:extLst xmlns:a="http://schemas.openxmlformats.org/drawingml/2006/main">
              <a:ext uri="{FF2B5EF4-FFF2-40B4-BE49-F238E27FC236}">
                <a16:creationId xmlns:a16="http://schemas.microsoft.com/office/drawing/2014/main" id="{A816F62B-910F-4120-9952-656AEA1B6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PTE ACADEMIC · WRITING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546B351-8C84-4EF6-ADA3-18D59D7D3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9906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111111"/>
                </a:solidFill>
              </a:defRPr>
            </a:pPr>
            <a:r>
              <a:rPr sz="5100" b="1">
                <a:solidFill>
                  <a:srgbClr val="111111"/>
                </a:solidFill>
              </a:rPr>
              <a:t>High-Scoring</a:t>
            </a:r>
          </a:p>
          <a:p xmlns:a="http://schemas.openxmlformats.org/drawingml/2006/main">
            <a:pPr algn="l">
              <a:defRPr sz="5100" b="1">
                <a:solidFill>
                  <a:srgbClr val="111111"/>
                </a:solidFill>
              </a:defRPr>
            </a:pPr>
            <a:r>
              <a:rPr sz="5100" b="1">
                <a:solidFill>
                  <a:srgbClr val="111111"/>
                </a:solidFill>
              </a:rPr>
              <a:t>Body Paragraphs</a:t>
            </a:r>
          </a:p>
        </p:txBody>
      </p:sp>
      <p:sp>
        <p:nvSpPr>
          <p:cNvPr id="3" name="text-56-466">
            <a:extLst xmlns:a="http://schemas.openxmlformats.org/drawingml/2006/main">
              <a:ext uri="{FF2B5EF4-FFF2-40B4-BE49-F238E27FC236}">
                <a16:creationId xmlns:a16="http://schemas.microsoft.com/office/drawing/2014/main" id="{DA27CDA6-2469-45E9-94D5-85322B887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E6673"/>
                </a:solidFill>
              </a:defRPr>
            </a:pPr>
            <a:r>
              <a:rPr sz="2025" b="0">
                <a:solidFill>
                  <a:srgbClr val="5E6673"/>
                </a:solidFill>
              </a:rPr>
              <a:t>Make a point. Explain it. Prove it. Link it back.</a:t>
            </a:r>
          </a:p>
        </p:txBody>
      </p:sp>
      <p:sp>
        <p:nvSpPr>
          <p:cNvPr id="4" name="rect-56-570">
            <a:extLst xmlns:a="http://schemas.openxmlformats.org/drawingml/2006/main">
              <a:ext uri="{FF2B5EF4-FFF2-40B4-BE49-F238E27FC236}">
                <a16:creationId xmlns:a16="http://schemas.microsoft.com/office/drawing/2014/main" id="{8A814323-A847-4009-B475-CF885CFAD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429250"/>
            <a:ext cx="43815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5" name="text-56-606">
            <a:extLst xmlns:a="http://schemas.openxmlformats.org/drawingml/2006/main">
              <a:ext uri="{FF2B5EF4-FFF2-40B4-BE49-F238E27FC236}">
                <a16:creationId xmlns:a16="http://schemas.microsoft.com/office/drawing/2014/main" id="{BB7CE0C3-6E80-4D59-B399-A50A4F3FE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72150"/>
            <a:ext cx="9525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A teacher-ready lesson with seven topic banks and universal plug-ins</a:t>
            </a:r>
          </a:p>
        </p:txBody>
      </p:sp>
    </p:spTree>
    <p:extLst>
      <p:ext uri="{BB962C8B-B14F-4D97-AF65-F5344CB8AC3E}">
        <p14:creationId xmlns:p14="http://schemas.microsoft.com/office/powerpoint/2010/main" val="2227658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2">
            <a:extLst xmlns:a="http://schemas.openxmlformats.org/drawingml/2006/main">
              <a:ext uri="{FF2B5EF4-FFF2-40B4-BE49-F238E27FC236}">
                <a16:creationId xmlns:a16="http://schemas.microsoft.com/office/drawing/2014/main" id="{0005F976-E0A3-47E6-9EDC-8BC8CAFE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LESSON OUTCOME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17776613-FF80-45C2-AA9D-472AD6C62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Build one focused body paragraph at a time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2C43DABE-013E-403D-B963-7565937D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14D55FE3-3CBE-40EF-B86C-14ED4A2B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02</a:t>
            </a:r>
          </a:p>
        </p:txBody>
      </p:sp>
      <p:sp>
        <p:nvSpPr>
          <p:cNvPr id="5" name="text-70-184">
            <a:extLst xmlns:a="http://schemas.openxmlformats.org/drawingml/2006/main">
              <a:ext uri="{FF2B5EF4-FFF2-40B4-BE49-F238E27FC236}">
                <a16:creationId xmlns:a16="http://schemas.microsoft.com/office/drawing/2014/main" id="{31B955BA-DF21-4A7E-99BC-6776D8CF0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D8DFF"/>
                </a:solidFill>
              </a:defRPr>
            </a:pPr>
            <a:r>
              <a:rPr sz="2325" b="1">
                <a:solidFill>
                  <a:srgbClr val="3D8DFF"/>
                </a:solidFill>
              </a:rPr>
              <a:t>01</a:t>
            </a:r>
          </a:p>
        </p:txBody>
      </p:sp>
      <p:sp>
        <p:nvSpPr>
          <p:cNvPr id="6" name="text-180-184">
            <a:extLst xmlns:a="http://schemas.openxmlformats.org/drawingml/2006/main">
              <a:ext uri="{FF2B5EF4-FFF2-40B4-BE49-F238E27FC236}">
                <a16:creationId xmlns:a16="http://schemas.microsoft.com/office/drawing/2014/main" id="{422E6B7A-E27F-4B71-A3B2-2E0EB5A6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7526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Choose</a:t>
            </a:r>
          </a:p>
        </p:txBody>
      </p:sp>
      <p:sp>
        <p:nvSpPr>
          <p:cNvPr id="7" name="text-450-186">
            <a:extLst xmlns:a="http://schemas.openxmlformats.org/drawingml/2006/main">
              <a:ext uri="{FF2B5EF4-FFF2-40B4-BE49-F238E27FC236}">
                <a16:creationId xmlns:a16="http://schemas.microsoft.com/office/drawing/2014/main" id="{4E51CD0C-7D71-4B7C-B8B5-B41BB6B5B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7165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</a:defRPr>
            </a:pPr>
            <a:r>
              <a:rPr sz="1650" b="0">
                <a:solidFill>
                  <a:srgbClr val="5E6673"/>
                </a:solidFill>
              </a:rPr>
              <a:t>Select a category sentence that directly answers the prompt.</a:t>
            </a:r>
          </a:p>
        </p:txBody>
      </p:sp>
      <p:sp>
        <p:nvSpPr>
          <p:cNvPr id="8" name="rect-70-260">
            <a:extLst xmlns:a="http://schemas.openxmlformats.org/drawingml/2006/main">
              <a:ext uri="{FF2B5EF4-FFF2-40B4-BE49-F238E27FC236}">
                <a16:creationId xmlns:a16="http://schemas.microsoft.com/office/drawing/2014/main" id="{AD30D8A7-FECD-40FA-A284-6CACEB6A6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text-70-294">
            <a:extLst xmlns:a="http://schemas.openxmlformats.org/drawingml/2006/main">
              <a:ext uri="{FF2B5EF4-FFF2-40B4-BE49-F238E27FC236}">
                <a16:creationId xmlns:a16="http://schemas.microsoft.com/office/drawing/2014/main" id="{CE1F1D0B-5D9C-4068-A0A9-8EE28617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D8DFF"/>
                </a:solidFill>
              </a:defRPr>
            </a:pPr>
            <a:r>
              <a:rPr sz="2325" b="1">
                <a:solidFill>
                  <a:srgbClr val="3D8DFF"/>
                </a:solidFill>
              </a:rPr>
              <a:t>02</a:t>
            </a:r>
          </a:p>
        </p:txBody>
      </p:sp>
      <p:sp>
        <p:nvSpPr>
          <p:cNvPr id="10" name="text-180-294">
            <a:extLst xmlns:a="http://schemas.openxmlformats.org/drawingml/2006/main">
              <a:ext uri="{FF2B5EF4-FFF2-40B4-BE49-F238E27FC236}">
                <a16:creationId xmlns:a16="http://schemas.microsoft.com/office/drawing/2014/main" id="{5F0F40B4-CDE0-48A3-91BD-BFF1256A0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003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Develop</a:t>
            </a:r>
          </a:p>
        </p:txBody>
      </p:sp>
      <p:sp>
        <p:nvSpPr>
          <p:cNvPr id="11" name="text-450-296">
            <a:extLst xmlns:a="http://schemas.openxmlformats.org/drawingml/2006/main">
              <a:ext uri="{FF2B5EF4-FFF2-40B4-BE49-F238E27FC236}">
                <a16:creationId xmlns:a16="http://schemas.microsoft.com/office/drawing/2014/main" id="{D64BA8CC-3916-4897-B6DA-EA2EC1D0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1940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</a:defRPr>
            </a:pPr>
            <a:r>
              <a:rPr sz="1650" b="0">
                <a:solidFill>
                  <a:srgbClr val="5E6673"/>
                </a:solidFill>
              </a:rPr>
              <a:t>Explain the cause, effect or reason in your own words.</a:t>
            </a:r>
          </a:p>
        </p:txBody>
      </p:sp>
      <p:sp>
        <p:nvSpPr>
          <p:cNvPr id="12" name="rect-70-370">
            <a:extLst xmlns:a="http://schemas.openxmlformats.org/drawingml/2006/main">
              <a:ext uri="{FF2B5EF4-FFF2-40B4-BE49-F238E27FC236}">
                <a16:creationId xmlns:a16="http://schemas.microsoft.com/office/drawing/2014/main" id="{B6D6725A-F9F2-4A8E-839E-D07C47A5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3" name="text-70-404">
            <a:extLst xmlns:a="http://schemas.openxmlformats.org/drawingml/2006/main">
              <a:ext uri="{FF2B5EF4-FFF2-40B4-BE49-F238E27FC236}">
                <a16:creationId xmlns:a16="http://schemas.microsoft.com/office/drawing/2014/main" id="{9960ED80-09CE-46D0-9EE5-E95250945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4810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D8DFF"/>
                </a:solidFill>
              </a:defRPr>
            </a:pPr>
            <a:r>
              <a:rPr sz="2325" b="1">
                <a:solidFill>
                  <a:srgbClr val="3D8DFF"/>
                </a:solidFill>
              </a:rPr>
              <a:t>03</a:t>
            </a:r>
          </a:p>
        </p:txBody>
      </p:sp>
      <p:sp>
        <p:nvSpPr>
          <p:cNvPr id="14" name="text-180-404">
            <a:extLst xmlns:a="http://schemas.openxmlformats.org/drawingml/2006/main">
              <a:ext uri="{FF2B5EF4-FFF2-40B4-BE49-F238E27FC236}">
                <a16:creationId xmlns:a16="http://schemas.microsoft.com/office/drawing/2014/main" id="{04F08DAA-3D4C-428D-8592-E8D22EC0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481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Prove</a:t>
            </a:r>
          </a:p>
        </p:txBody>
      </p:sp>
      <p:sp>
        <p:nvSpPr>
          <p:cNvPr id="15" name="text-450-406">
            <a:extLst xmlns:a="http://schemas.openxmlformats.org/drawingml/2006/main">
              <a:ext uri="{FF2B5EF4-FFF2-40B4-BE49-F238E27FC236}">
                <a16:creationId xmlns:a16="http://schemas.microsoft.com/office/drawing/2014/main" id="{CDDB98A0-6000-406B-8C40-31A72690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6715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</a:defRPr>
            </a:pPr>
            <a:r>
              <a:rPr sz="1650" b="0">
                <a:solidFill>
                  <a:srgbClr val="5E6673"/>
                </a:solidFill>
              </a:rPr>
              <a:t>Use a relevant example and state what it demonstrates.</a:t>
            </a:r>
          </a:p>
        </p:txBody>
      </p:sp>
      <p:sp>
        <p:nvSpPr>
          <p:cNvPr id="16" name="rect-70-480">
            <a:extLst xmlns:a="http://schemas.openxmlformats.org/drawingml/2006/main">
              <a:ext uri="{FF2B5EF4-FFF2-40B4-BE49-F238E27FC236}">
                <a16:creationId xmlns:a16="http://schemas.microsoft.com/office/drawing/2014/main" id="{EFBA63C3-0190-4842-881B-4D447EE42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text-70-514">
            <a:extLst xmlns:a="http://schemas.openxmlformats.org/drawingml/2006/main">
              <a:ext uri="{FF2B5EF4-FFF2-40B4-BE49-F238E27FC236}">
                <a16:creationId xmlns:a16="http://schemas.microsoft.com/office/drawing/2014/main" id="{77B15CB9-B63A-4E72-B976-EE8F971F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95850"/>
            <a:ext cx="85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D8DFF"/>
                </a:solidFill>
              </a:defRPr>
            </a:pPr>
            <a:r>
              <a:rPr sz="2325" b="1">
                <a:solidFill>
                  <a:srgbClr val="3D8DFF"/>
                </a:solidFill>
              </a:rPr>
              <a:t>04</a:t>
            </a:r>
          </a:p>
        </p:txBody>
      </p:sp>
      <p:sp>
        <p:nvSpPr>
          <p:cNvPr id="18" name="text-180-514">
            <a:extLst xmlns:a="http://schemas.openxmlformats.org/drawingml/2006/main">
              <a:ext uri="{FF2B5EF4-FFF2-40B4-BE49-F238E27FC236}">
                <a16:creationId xmlns:a16="http://schemas.microsoft.com/office/drawing/2014/main" id="{5EF0F64F-626D-4C29-BBCA-10098E51F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958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11111"/>
                </a:solidFill>
              </a:defRPr>
            </a:pPr>
            <a:r>
              <a:rPr sz="2100" b="1">
                <a:solidFill>
                  <a:srgbClr val="111111"/>
                </a:solidFill>
              </a:rPr>
              <a:t>Connect</a:t>
            </a:r>
          </a:p>
        </p:txBody>
      </p:sp>
      <p:sp>
        <p:nvSpPr>
          <p:cNvPr id="19" name="text-450-516">
            <a:extLst xmlns:a="http://schemas.openxmlformats.org/drawingml/2006/main">
              <a:ext uri="{FF2B5EF4-FFF2-40B4-BE49-F238E27FC236}">
                <a16:creationId xmlns:a16="http://schemas.microsoft.com/office/drawing/2014/main" id="{258DEB13-6952-4BE9-8E00-0579AA90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914900"/>
            <a:ext cx="666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E6673"/>
                </a:solidFill>
              </a:defRPr>
            </a:pPr>
            <a:r>
              <a:rPr sz="1650" b="0">
                <a:solidFill>
                  <a:srgbClr val="5E6673"/>
                </a:solidFill>
              </a:rPr>
              <a:t>Link the evidence back to the paragraph’s main point.</a:t>
            </a:r>
          </a:p>
        </p:txBody>
      </p:sp>
    </p:spTree>
    <p:extLst>
      <p:ext uri="{BB962C8B-B14F-4D97-AF65-F5344CB8AC3E}">
        <p14:creationId xmlns:p14="http://schemas.microsoft.com/office/powerpoint/2010/main" val="21447234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-3">
            <a:extLst xmlns:a="http://schemas.openxmlformats.org/drawingml/2006/main">
              <a:ext uri="{FF2B5EF4-FFF2-40B4-BE49-F238E27FC236}">
                <a16:creationId xmlns:a16="http://schemas.microsoft.com/office/drawing/2014/main" id="{4F3919FF-BD57-439A-A8BC-9A8FCE37B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SCORING REALITY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CB24FA65-9A7C-4461-A9CE-C99CB5345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Relevant development beats memorised complexity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FDDD5E05-6A22-4216-BA2B-2A94141DC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28901116-42BA-46B3-B5EA-61439A686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03</a:t>
            </a:r>
          </a:p>
        </p:txBody>
      </p:sp>
      <p:sp>
        <p:nvSpPr>
          <p:cNvPr id="5" name="text-70-194">
            <a:extLst xmlns:a="http://schemas.openxmlformats.org/drawingml/2006/main">
              <a:ext uri="{FF2B5EF4-FFF2-40B4-BE49-F238E27FC236}">
                <a16:creationId xmlns:a16="http://schemas.microsoft.com/office/drawing/2014/main" id="{A9FD37E2-FED6-4400-B4AF-0BC00D78F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7A55"/>
                </a:solidFill>
              </a:defRPr>
            </a:pPr>
            <a:r>
              <a:rPr sz="1275" b="1">
                <a:solidFill>
                  <a:srgbClr val="157A55"/>
                </a:solidFill>
              </a:rPr>
              <a:t>A STRONG BODY PARAGRAPH</a:t>
            </a:r>
          </a:p>
        </p:txBody>
      </p:sp>
      <p:sp>
        <p:nvSpPr>
          <p:cNvPr id="6" name="text-70-238">
            <a:extLst xmlns:a="http://schemas.openxmlformats.org/drawingml/2006/main">
              <a:ext uri="{FF2B5EF4-FFF2-40B4-BE49-F238E27FC236}">
                <a16:creationId xmlns:a16="http://schemas.microsoft.com/office/drawing/2014/main" id="{75090478-77AF-4B19-8F11-E78660422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4762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answers the exact question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develops one clear idea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explains why the idea matters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supports it with a relevant example</a:t>
            </a:r>
          </a:p>
        </p:txBody>
      </p:sp>
      <p:sp>
        <p:nvSpPr>
          <p:cNvPr id="7" name="text-660-194">
            <a:extLst xmlns:a="http://schemas.openxmlformats.org/drawingml/2006/main">
              <a:ext uri="{FF2B5EF4-FFF2-40B4-BE49-F238E27FC236}">
                <a16:creationId xmlns:a16="http://schemas.microsoft.com/office/drawing/2014/main" id="{5CDA48D5-234A-48AC-9E53-5AA04122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47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93939"/>
                </a:solidFill>
              </a:defRPr>
            </a:pPr>
            <a:r>
              <a:rPr sz="1275" b="1">
                <a:solidFill>
                  <a:srgbClr val="C93939"/>
                </a:solidFill>
              </a:rPr>
              <a:t>CONTENT WEAKENS WHEN</a:t>
            </a:r>
          </a:p>
        </p:txBody>
      </p:sp>
      <p:sp>
        <p:nvSpPr>
          <p:cNvPr id="8" name="text-660-238">
            <a:extLst xmlns:a="http://schemas.openxmlformats.org/drawingml/2006/main">
              <a:ext uri="{FF2B5EF4-FFF2-40B4-BE49-F238E27FC236}">
                <a16:creationId xmlns:a16="http://schemas.microsoft.com/office/drawing/2014/main" id="{C7CC93F0-CC87-441F-B45A-17574B06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66950"/>
            <a:ext cx="4762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a sentence could fit any topic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the example is unrelated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ideas are listed but not explained</a:t>
            </a:r>
          </a:p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• the paragraph contradicts the thesis</a:t>
            </a:r>
          </a:p>
        </p:txBody>
      </p:sp>
      <p:sp>
        <p:nvSpPr>
          <p:cNvPr id="9" name="rect-70-538">
            <a:extLst xmlns:a="http://schemas.openxmlformats.org/drawingml/2006/main">
              <a:ext uri="{FF2B5EF4-FFF2-40B4-BE49-F238E27FC236}">
                <a16:creationId xmlns:a16="http://schemas.microsoft.com/office/drawing/2014/main" id="{8B881F23-24F1-4E09-9050-0677ADEB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24450"/>
            <a:ext cx="103822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0" name="text-92-554">
            <a:extLst xmlns:a="http://schemas.openxmlformats.org/drawingml/2006/main">
              <a:ext uri="{FF2B5EF4-FFF2-40B4-BE49-F238E27FC236}">
                <a16:creationId xmlns:a16="http://schemas.microsoft.com/office/drawing/2014/main" id="{C2FB3818-4CC7-4811-9220-29645B2F7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76850"/>
            <a:ext cx="9963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Use the templates as a starting frame—not as a substitute for relevant ideas.</a:t>
            </a:r>
          </a:p>
        </p:txBody>
      </p:sp>
    </p:spTree>
    <p:extLst>
      <p:ext uri="{BB962C8B-B14F-4D97-AF65-F5344CB8AC3E}">
        <p14:creationId xmlns:p14="http://schemas.microsoft.com/office/powerpoint/2010/main" val="16165133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4">
            <a:extLst xmlns:a="http://schemas.openxmlformats.org/drawingml/2006/main">
              <a:ext uri="{FF2B5EF4-FFF2-40B4-BE49-F238E27FC236}">
                <a16:creationId xmlns:a16="http://schemas.microsoft.com/office/drawing/2014/main" id="{FDF5C22D-7E77-4F77-846F-6B5DA304B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CORE METHOD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8C08B0E5-3E5B-4731-BCB0-3CE95D163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Every body paragraph needs four connected moves</a:t>
            </a: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D8559E04-7BA6-4290-A342-888B3260C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77ACCA64-BDF5-44D3-94AF-5F1412970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04</a:t>
            </a:r>
          </a:p>
        </p:txBody>
      </p:sp>
      <p:sp>
        <p:nvSpPr>
          <p:cNvPr id="5" name="text-70-200">
            <a:extLst xmlns:a="http://schemas.openxmlformats.org/drawingml/2006/main">
              <a:ext uri="{FF2B5EF4-FFF2-40B4-BE49-F238E27FC236}">
                <a16:creationId xmlns:a16="http://schemas.microsoft.com/office/drawing/2014/main" id="{1C2CEB26-204F-4B38-980F-C99564A77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57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</a:defRPr>
            </a:pPr>
            <a:r>
              <a:rPr sz="2850" b="1">
                <a:solidFill>
                  <a:srgbClr val="3D8DFF"/>
                </a:solidFill>
              </a:rPr>
              <a:t>1</a:t>
            </a:r>
          </a:p>
        </p:txBody>
      </p:sp>
      <p:sp>
        <p:nvSpPr>
          <p:cNvPr id="6" name="text-70-278">
            <a:extLst xmlns:a="http://schemas.openxmlformats.org/drawingml/2006/main">
              <a:ext uri="{FF2B5EF4-FFF2-40B4-BE49-F238E27FC236}">
                <a16:creationId xmlns:a16="http://schemas.microsoft.com/office/drawing/2014/main" id="{737B1666-1EA1-41B3-9839-36CA6A51C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POINT</a:t>
            </a:r>
          </a:p>
        </p:txBody>
      </p:sp>
      <p:sp>
        <p:nvSpPr>
          <p:cNvPr id="7" name="text-70-326">
            <a:extLst xmlns:a="http://schemas.openxmlformats.org/drawingml/2006/main">
              <a:ext uri="{FF2B5EF4-FFF2-40B4-BE49-F238E27FC236}">
                <a16:creationId xmlns:a16="http://schemas.microsoft.com/office/drawing/2014/main" id="{1C11BF67-0605-4B4F-AE07-7142A678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2190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State the paragraph’s main claim.</a:t>
            </a:r>
          </a:p>
        </p:txBody>
      </p:sp>
      <p:sp>
        <p:nvSpPr>
          <p:cNvPr id="8" name="text-348-200">
            <a:extLst xmlns:a="http://schemas.openxmlformats.org/drawingml/2006/main">
              <a:ext uri="{FF2B5EF4-FFF2-40B4-BE49-F238E27FC236}">
                <a16:creationId xmlns:a16="http://schemas.microsoft.com/office/drawing/2014/main" id="{D49F5271-59BB-4AAC-8A91-026D8D98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1905000"/>
            <a:ext cx="57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</a:defRPr>
            </a:pPr>
            <a:r>
              <a:rPr sz="2850" b="1">
                <a:solidFill>
                  <a:srgbClr val="3D8DFF"/>
                </a:solidFill>
              </a:rPr>
              <a:t>2</a:t>
            </a:r>
          </a:p>
        </p:txBody>
      </p:sp>
      <p:sp>
        <p:nvSpPr>
          <p:cNvPr id="9" name="text-348-278">
            <a:extLst xmlns:a="http://schemas.openxmlformats.org/drawingml/2006/main">
              <a:ext uri="{FF2B5EF4-FFF2-40B4-BE49-F238E27FC236}">
                <a16:creationId xmlns:a16="http://schemas.microsoft.com/office/drawing/2014/main" id="{51E5EBC1-B7F5-46B7-8B19-9B9732B3E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6479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EXPLAIN</a:t>
            </a:r>
          </a:p>
        </p:txBody>
      </p:sp>
      <p:sp>
        <p:nvSpPr>
          <p:cNvPr id="10" name="text-348-326">
            <a:extLst xmlns:a="http://schemas.openxmlformats.org/drawingml/2006/main">
              <a:ext uri="{FF2B5EF4-FFF2-40B4-BE49-F238E27FC236}">
                <a16:creationId xmlns:a16="http://schemas.microsoft.com/office/drawing/2014/main" id="{8F0B2509-60E5-42BA-9446-55F0E5B6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105150"/>
            <a:ext cx="2190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Show why or how the claim is true.</a:t>
            </a:r>
          </a:p>
        </p:txBody>
      </p:sp>
      <p:sp>
        <p:nvSpPr>
          <p:cNvPr id="11" name="text-626-200">
            <a:extLst xmlns:a="http://schemas.openxmlformats.org/drawingml/2006/main">
              <a:ext uri="{FF2B5EF4-FFF2-40B4-BE49-F238E27FC236}">
                <a16:creationId xmlns:a16="http://schemas.microsoft.com/office/drawing/2014/main" id="{A48317F4-A3B4-458B-BA28-37C8E059D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05000"/>
            <a:ext cx="57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</a:defRPr>
            </a:pPr>
            <a:r>
              <a:rPr sz="2850" b="1">
                <a:solidFill>
                  <a:srgbClr val="3D8DFF"/>
                </a:solidFill>
              </a:rPr>
              <a:t>3</a:t>
            </a:r>
          </a:p>
        </p:txBody>
      </p:sp>
      <p:sp>
        <p:nvSpPr>
          <p:cNvPr id="12" name="text-626-278">
            <a:extLst xmlns:a="http://schemas.openxmlformats.org/drawingml/2006/main">
              <a:ext uri="{FF2B5EF4-FFF2-40B4-BE49-F238E27FC236}">
                <a16:creationId xmlns:a16="http://schemas.microsoft.com/office/drawing/2014/main" id="{158C5D6D-C03E-48B4-87B0-153DDFC11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6479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EXAMPLE</a:t>
            </a:r>
          </a:p>
        </p:txBody>
      </p:sp>
      <p:sp>
        <p:nvSpPr>
          <p:cNvPr id="13" name="text-626-326">
            <a:extLst xmlns:a="http://schemas.openxmlformats.org/drawingml/2006/main">
              <a:ext uri="{FF2B5EF4-FFF2-40B4-BE49-F238E27FC236}">
                <a16:creationId xmlns:a16="http://schemas.microsoft.com/office/drawing/2014/main" id="{0CFCBE20-34F0-44EA-BF55-5E4F55C46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105150"/>
            <a:ext cx="2190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Give a specific, relevant illustration.</a:t>
            </a:r>
          </a:p>
        </p:txBody>
      </p:sp>
      <p:sp>
        <p:nvSpPr>
          <p:cNvPr id="14" name="text-904-200">
            <a:extLst xmlns:a="http://schemas.openxmlformats.org/drawingml/2006/main">
              <a:ext uri="{FF2B5EF4-FFF2-40B4-BE49-F238E27FC236}">
                <a16:creationId xmlns:a16="http://schemas.microsoft.com/office/drawing/2014/main" id="{0D69D507-57C2-49C1-A3DB-5CBDE32E6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05000"/>
            <a:ext cx="571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3D8DFF"/>
                </a:solidFill>
              </a:defRPr>
            </a:pPr>
            <a:r>
              <a:rPr sz="2850" b="1">
                <a:solidFill>
                  <a:srgbClr val="3D8DFF"/>
                </a:solidFill>
              </a:rPr>
              <a:t>4</a:t>
            </a:r>
          </a:p>
        </p:txBody>
      </p:sp>
      <p:sp>
        <p:nvSpPr>
          <p:cNvPr id="15" name="text-904-278">
            <a:extLst xmlns:a="http://schemas.openxmlformats.org/drawingml/2006/main">
              <a:ext uri="{FF2B5EF4-FFF2-40B4-BE49-F238E27FC236}">
                <a16:creationId xmlns:a16="http://schemas.microsoft.com/office/drawing/2014/main" id="{0C96E6F4-21F1-498A-9D92-4D0D76F93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6479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LINK</a:t>
            </a:r>
          </a:p>
        </p:txBody>
      </p:sp>
      <p:sp>
        <p:nvSpPr>
          <p:cNvPr id="16" name="text-904-326">
            <a:extLst xmlns:a="http://schemas.openxmlformats.org/drawingml/2006/main">
              <a:ext uri="{FF2B5EF4-FFF2-40B4-BE49-F238E27FC236}">
                <a16:creationId xmlns:a16="http://schemas.microsoft.com/office/drawing/2014/main" id="{F2EFB28E-42A8-4E41-BBEC-D5E042950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105150"/>
            <a:ext cx="2190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Return to the argument and show its meaning.</a:t>
            </a:r>
          </a:p>
        </p:txBody>
      </p:sp>
      <p:sp>
        <p:nvSpPr>
          <p:cNvPr id="17" name="rect-70-500">
            <a:extLst xmlns:a="http://schemas.openxmlformats.org/drawingml/2006/main">
              <a:ext uri="{FF2B5EF4-FFF2-40B4-BE49-F238E27FC236}">
                <a16:creationId xmlns:a16="http://schemas.microsoft.com/office/drawing/2014/main" id="{130C67CB-4649-4AD8-BE07-F0F648E7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10382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0">
            <a:solidFill>
              <a:srgbClr val="F5F7F9"/>
            </a:solidFill>
            <a:prstDash val="solid"/>
          </a:ln>
        </p:spPr>
      </p:sp>
      <p:sp>
        <p:nvSpPr>
          <p:cNvPr id="18" name="text-94-522">
            <a:extLst xmlns:a="http://schemas.openxmlformats.org/drawingml/2006/main">
              <a:ext uri="{FF2B5EF4-FFF2-40B4-BE49-F238E27FC236}">
                <a16:creationId xmlns:a16="http://schemas.microsoft.com/office/drawing/2014/main" id="{DF743EA0-E547-4EA6-AA6F-3E28D8FC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72050"/>
            <a:ext cx="9925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11111"/>
                </a:solidFill>
              </a:defRPr>
            </a:pPr>
            <a:r>
              <a:rPr sz="2175" b="1">
                <a:solidFill>
                  <a:srgbClr val="111111"/>
                </a:solidFill>
              </a:rPr>
              <a:t>POINT  →  EXPLAIN  →  EXAMPLE  →  LINK</a:t>
            </a:r>
          </a:p>
        </p:txBody>
      </p:sp>
    </p:spTree>
    <p:extLst>
      <p:ext uri="{BB962C8B-B14F-4D97-AF65-F5344CB8AC3E}">
        <p14:creationId xmlns:p14="http://schemas.microsoft.com/office/powerpoint/2010/main" val="10376069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-5">
            <a:extLst xmlns:a="http://schemas.openxmlformats.org/drawingml/2006/main">
              <a:ext uri="{FF2B5EF4-FFF2-40B4-BE49-F238E27FC236}">
                <a16:creationId xmlns:a16="http://schemas.microsoft.com/office/drawing/2014/main" id="{6F847646-CEF6-4BD9-9474-CC631A3E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HOW TO USE THE BANK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3B3ECFCA-3B03-4889-A610-E5722589D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The same bank supports two different writing jobs</a:t>
            </a:r>
          </a:p>
        </p:txBody>
      </p:sp>
      <p:sp>
        <p:nvSpPr>
          <p:cNvPr id="3" name="rule-5">
            <a:extLst xmlns:a="http://schemas.openxmlformats.org/drawingml/2006/main">
              <a:ext uri="{FF2B5EF4-FFF2-40B4-BE49-F238E27FC236}">
                <a16:creationId xmlns:a16="http://schemas.microsoft.com/office/drawing/2014/main" id="{FC3B00C3-4D2E-4E63-B219-0E5D19DAD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66F0EBC5-7FC2-480C-8F52-5641B9E7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05</a:t>
            </a:r>
          </a:p>
        </p:txBody>
      </p:sp>
      <p:sp>
        <p:nvSpPr>
          <p:cNvPr id="5" name="text-70-194">
            <a:extLst xmlns:a="http://schemas.openxmlformats.org/drawingml/2006/main">
              <a:ext uri="{FF2B5EF4-FFF2-40B4-BE49-F238E27FC236}">
                <a16:creationId xmlns:a16="http://schemas.microsoft.com/office/drawing/2014/main" id="{BBBF62F4-88C6-4C33-AAED-3B142212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4667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57A55"/>
                </a:solidFill>
              </a:defRPr>
            </a:pPr>
            <a:r>
              <a:rPr sz="1275" b="1">
                <a:solidFill>
                  <a:srgbClr val="157A55"/>
                </a:solidFill>
              </a:rPr>
              <a:t>WHEN THE CATEGORY IS THE MAIN TOPIC</a:t>
            </a:r>
          </a:p>
        </p:txBody>
      </p:sp>
      <p:sp>
        <p:nvSpPr>
          <p:cNvPr id="6" name="text-70-244">
            <a:extLst xmlns:a="http://schemas.openxmlformats.org/drawingml/2006/main">
              <a:ext uri="{FF2B5EF4-FFF2-40B4-BE49-F238E27FC236}">
                <a16:creationId xmlns:a16="http://schemas.microsoft.com/office/drawing/2014/main" id="{2085CFA0-EC57-4A34-940D-D5417652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Choose a body sentence</a:t>
            </a:r>
          </a:p>
        </p:txBody>
      </p:sp>
      <p:sp>
        <p:nvSpPr>
          <p:cNvPr id="7" name="text-70-318">
            <a:extLst xmlns:a="http://schemas.openxmlformats.org/drawingml/2006/main">
              <a:ext uri="{FF2B5EF4-FFF2-40B4-BE49-F238E27FC236}">
                <a16:creationId xmlns:a16="http://schemas.microsoft.com/office/drawing/2014/main" id="{DCA3A23C-E67C-4712-A17D-7005DEF2B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2895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E6673"/>
                </a:solidFill>
              </a:defRPr>
            </a:pPr>
            <a:r>
              <a:rPr sz="1725" b="0">
                <a:solidFill>
                  <a:srgbClr val="5E6673"/>
                </a:solidFill>
              </a:rPr>
              <a:t>Use it as the paragraph’s point, then explain and support it.</a:t>
            </a:r>
          </a:p>
        </p:txBody>
      </p:sp>
      <p:sp>
        <p:nvSpPr>
          <p:cNvPr id="8" name="rect-610-190">
            <a:extLst xmlns:a="http://schemas.openxmlformats.org/drawingml/2006/main">
              <a:ext uri="{FF2B5EF4-FFF2-40B4-BE49-F238E27FC236}">
                <a16:creationId xmlns:a16="http://schemas.microsoft.com/office/drawing/2014/main" id="{8D2DD76D-7E53-4E06-A92A-B7E3BC655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09750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text-660-194">
            <a:extLst xmlns:a="http://schemas.openxmlformats.org/drawingml/2006/main">
              <a:ext uri="{FF2B5EF4-FFF2-40B4-BE49-F238E27FC236}">
                <a16:creationId xmlns:a16="http://schemas.microsoft.com/office/drawing/2014/main" id="{641456FD-B99A-4DF7-ACB5-1BADAAAC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478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D8DFF"/>
                </a:solidFill>
              </a:defRPr>
            </a:pPr>
            <a:r>
              <a:rPr sz="1275" b="1">
                <a:solidFill>
                  <a:srgbClr val="3D8DFF"/>
                </a:solidFill>
              </a:rPr>
              <a:t>WHEN THE MAIN TOPIC IS DIFFERENT</a:t>
            </a:r>
          </a:p>
        </p:txBody>
      </p:sp>
      <p:sp>
        <p:nvSpPr>
          <p:cNvPr id="10" name="text-660-244">
            <a:extLst xmlns:a="http://schemas.openxmlformats.org/drawingml/2006/main">
              <a:ext uri="{FF2B5EF4-FFF2-40B4-BE49-F238E27FC236}">
                <a16:creationId xmlns:a16="http://schemas.microsoft.com/office/drawing/2014/main" id="{EB656816-E30A-48D9-B5C8-C653CB10B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2410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</a:defRPr>
            </a:pPr>
            <a:r>
              <a:rPr sz="2325" b="1">
                <a:solidFill>
                  <a:srgbClr val="111111"/>
                </a:solidFill>
              </a:rPr>
              <a:t>Choose a cross-topic example</a:t>
            </a:r>
          </a:p>
        </p:txBody>
      </p:sp>
      <p:sp>
        <p:nvSpPr>
          <p:cNvPr id="11" name="text-660-318">
            <a:extLst xmlns:a="http://schemas.openxmlformats.org/drawingml/2006/main">
              <a:ext uri="{FF2B5EF4-FFF2-40B4-BE49-F238E27FC236}">
                <a16:creationId xmlns:a16="http://schemas.microsoft.com/office/drawing/2014/main" id="{89DEF75E-D699-4AA0-BDEC-9ADBC25FD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2895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E6673"/>
                </a:solidFill>
              </a:defRPr>
            </a:pPr>
            <a:r>
              <a:rPr sz="1725" b="0">
                <a:solidFill>
                  <a:srgbClr val="5E6673"/>
                </a:solidFill>
              </a:rPr>
              <a:t>Use a bridge, give the example, and explain its connection to the main argument.</a:t>
            </a:r>
          </a:p>
        </p:txBody>
      </p:sp>
      <p:sp>
        <p:nvSpPr>
          <p:cNvPr id="12" name="rect-70-534">
            <a:extLst xmlns:a="http://schemas.openxmlformats.org/drawingml/2006/main">
              <a:ext uri="{FF2B5EF4-FFF2-40B4-BE49-F238E27FC236}">
                <a16:creationId xmlns:a16="http://schemas.microsoft.com/office/drawing/2014/main" id="{C6769EE4-5090-4D63-A43F-2CC981894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10382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3" name="text-90-550">
            <a:extLst xmlns:a="http://schemas.openxmlformats.org/drawingml/2006/main">
              <a:ext uri="{FF2B5EF4-FFF2-40B4-BE49-F238E27FC236}">
                <a16:creationId xmlns:a16="http://schemas.microsoft.com/office/drawing/2014/main" id="{4B0A2586-C9E6-4A2F-AB89-2302FD98D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0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Main topic = POINT sentence   |   Different topic = EXAMPLE sentence</a:t>
            </a:r>
          </a:p>
        </p:txBody>
      </p:sp>
    </p:spTree>
    <p:extLst>
      <p:ext uri="{BB962C8B-B14F-4D97-AF65-F5344CB8AC3E}">
        <p14:creationId xmlns:p14="http://schemas.microsoft.com/office/powerpoint/2010/main" val="21435873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6">
            <a:extLst xmlns:a="http://schemas.openxmlformats.org/drawingml/2006/main">
              <a:ext uri="{FF2B5EF4-FFF2-40B4-BE49-F238E27FC236}">
                <a16:creationId xmlns:a16="http://schemas.microsoft.com/office/drawing/2014/main" id="{71875623-06A5-4E62-938E-302D069C4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CROSS-TOPIC CONNECTION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CE863128-9033-41DF-9B43-E6EECE64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A bridge makes a different-field example relevant</a:t>
            </a:r>
          </a:p>
        </p:txBody>
      </p:sp>
      <p:sp>
        <p:nvSpPr>
          <p:cNvPr id="3" name="rule-6">
            <a:extLst xmlns:a="http://schemas.openxmlformats.org/drawingml/2006/main">
              <a:ext uri="{FF2B5EF4-FFF2-40B4-BE49-F238E27FC236}">
                <a16:creationId xmlns:a16="http://schemas.microsoft.com/office/drawing/2014/main" id="{E8C6EB13-6C8C-45C6-96D3-EDCF37C47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3E62B0D9-4461-4A14-8D8E-F3ABFFB7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06</a:t>
            </a:r>
          </a:p>
        </p:txBody>
      </p:sp>
      <p:sp>
        <p:nvSpPr>
          <p:cNvPr id="5" name="step-box-1-70-192">
            <a:extLst xmlns:a="http://schemas.openxmlformats.org/drawingml/2006/main">
              <a:ext uri="{FF2B5EF4-FFF2-40B4-BE49-F238E27FC236}">
                <a16:creationId xmlns:a16="http://schemas.microsoft.com/office/drawing/2014/main" id="{38E83DBA-5D01-47C8-9197-592CC9AB5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288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step-1-70-192">
            <a:extLst xmlns:a="http://schemas.openxmlformats.org/drawingml/2006/main">
              <a:ext uri="{FF2B5EF4-FFF2-40B4-BE49-F238E27FC236}">
                <a16:creationId xmlns:a16="http://schemas.microsoft.com/office/drawing/2014/main" id="{2794369C-8BC3-409C-80F6-643761E2B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53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text-162-182">
            <a:extLst xmlns:a="http://schemas.openxmlformats.org/drawingml/2006/main">
              <a:ext uri="{FF2B5EF4-FFF2-40B4-BE49-F238E27FC236}">
                <a16:creationId xmlns:a16="http://schemas.microsoft.com/office/drawing/2014/main" id="{97159236-978C-456B-BD7E-E897CDEC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733550"/>
            <a:ext cx="9410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A comparable example can be found in [different field], where [example]; this demonstrates that [connection to the main topic].</a:t>
            </a:r>
          </a:p>
        </p:txBody>
      </p:sp>
      <p:sp>
        <p:nvSpPr>
          <p:cNvPr id="8" name="rect-162-274">
            <a:extLst xmlns:a="http://schemas.openxmlformats.org/drawingml/2006/main">
              <a:ext uri="{FF2B5EF4-FFF2-40B4-BE49-F238E27FC236}">
                <a16:creationId xmlns:a16="http://schemas.microsoft.com/office/drawing/2014/main" id="{CCB954B6-8939-4B41-977E-DD9AC901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09850"/>
            <a:ext cx="941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step-box-2-70-300">
            <a:extLst xmlns:a="http://schemas.openxmlformats.org/drawingml/2006/main">
              <a:ext uri="{FF2B5EF4-FFF2-40B4-BE49-F238E27FC236}">
                <a16:creationId xmlns:a16="http://schemas.microsoft.com/office/drawing/2014/main" id="{71F2D66D-74B5-44EB-9D70-629338734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step-2-70-300">
            <a:extLst xmlns:a="http://schemas.openxmlformats.org/drawingml/2006/main">
              <a:ext uri="{FF2B5EF4-FFF2-40B4-BE49-F238E27FC236}">
                <a16:creationId xmlns:a16="http://schemas.microsoft.com/office/drawing/2014/main" id="{813B3D3F-ACC9-43A5-AF68-D13F53E3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53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1" name="text-162-290">
            <a:extLst xmlns:a="http://schemas.openxmlformats.org/drawingml/2006/main">
              <a:ext uri="{FF2B5EF4-FFF2-40B4-BE49-F238E27FC236}">
                <a16:creationId xmlns:a16="http://schemas.microsoft.com/office/drawing/2014/main" id="{5F6958F2-D949-4CCA-A308-76E8B56F2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62250"/>
            <a:ext cx="9410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This principle is clearly visible in [different field], where [example].</a:t>
            </a:r>
          </a:p>
        </p:txBody>
      </p:sp>
      <p:sp>
        <p:nvSpPr>
          <p:cNvPr id="12" name="rect-162-382">
            <a:extLst xmlns:a="http://schemas.openxmlformats.org/drawingml/2006/main">
              <a:ext uri="{FF2B5EF4-FFF2-40B4-BE49-F238E27FC236}">
                <a16:creationId xmlns:a16="http://schemas.microsoft.com/office/drawing/2014/main" id="{31E1D34D-5A0A-4980-B803-5E870CF4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638550"/>
            <a:ext cx="941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3" name="step-box-3-70-408">
            <a:extLst xmlns:a="http://schemas.openxmlformats.org/drawingml/2006/main">
              <a:ext uri="{FF2B5EF4-FFF2-40B4-BE49-F238E27FC236}">
                <a16:creationId xmlns:a16="http://schemas.microsoft.com/office/drawing/2014/main" id="{49E4D6CA-7A11-479C-85D5-B39F0644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862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step-3-70-408">
            <a:extLst xmlns:a="http://schemas.openxmlformats.org/drawingml/2006/main">
              <a:ext uri="{FF2B5EF4-FFF2-40B4-BE49-F238E27FC236}">
                <a16:creationId xmlns:a16="http://schemas.microsoft.com/office/drawing/2014/main" id="{FB584B2C-DC69-4A1E-B5F2-22B3F36D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53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text-162-398">
            <a:extLst xmlns:a="http://schemas.openxmlformats.org/drawingml/2006/main">
              <a:ext uri="{FF2B5EF4-FFF2-40B4-BE49-F238E27FC236}">
                <a16:creationId xmlns:a16="http://schemas.microsoft.com/office/drawing/2014/main" id="{C82125D7-F5C8-4D6E-BAB9-9C56A4690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90950"/>
            <a:ext cx="9410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Although this example comes from [different field], it illustrates the broader point that [main argument].</a:t>
            </a:r>
          </a:p>
        </p:txBody>
      </p:sp>
      <p:sp>
        <p:nvSpPr>
          <p:cNvPr id="16" name="rect-162-490">
            <a:extLst xmlns:a="http://schemas.openxmlformats.org/drawingml/2006/main">
              <a:ext uri="{FF2B5EF4-FFF2-40B4-BE49-F238E27FC236}">
                <a16:creationId xmlns:a16="http://schemas.microsoft.com/office/drawing/2014/main" id="{7D6305CA-DCEB-4DB7-9C8D-6923C2322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667250"/>
            <a:ext cx="941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step-box-4-70-516">
            <a:extLst xmlns:a="http://schemas.openxmlformats.org/drawingml/2006/main">
              <a:ext uri="{FF2B5EF4-FFF2-40B4-BE49-F238E27FC236}">
                <a16:creationId xmlns:a16="http://schemas.microsoft.com/office/drawing/2014/main" id="{61A79B06-1CC1-4B38-8E5F-A7242D8F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149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8" name="step-4-70-516">
            <a:extLst xmlns:a="http://schemas.openxmlformats.org/drawingml/2006/main">
              <a:ext uri="{FF2B5EF4-FFF2-40B4-BE49-F238E27FC236}">
                <a16:creationId xmlns:a16="http://schemas.microsoft.com/office/drawing/2014/main" id="{7BA5BFC7-3275-4E91-B9B9-2A1A5E13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533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9" name="text-162-506">
            <a:extLst xmlns:a="http://schemas.openxmlformats.org/drawingml/2006/main">
              <a:ext uri="{FF2B5EF4-FFF2-40B4-BE49-F238E27FC236}">
                <a16:creationId xmlns:a16="http://schemas.microsoft.com/office/drawing/2014/main" id="{1887F2E5-8C19-41D3-81C5-243960B14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819650"/>
            <a:ext cx="9410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The experience of [different field] provides a useful lesson because [explanation].</a:t>
            </a:r>
          </a:p>
        </p:txBody>
      </p:sp>
    </p:spTree>
    <p:extLst>
      <p:ext uri="{BB962C8B-B14F-4D97-AF65-F5344CB8AC3E}">
        <p14:creationId xmlns:p14="http://schemas.microsoft.com/office/powerpoint/2010/main" val="2680892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7">
            <a:extLst xmlns:a="http://schemas.openxmlformats.org/drawingml/2006/main">
              <a:ext uri="{FF2B5EF4-FFF2-40B4-BE49-F238E27FC236}">
                <a16:creationId xmlns:a16="http://schemas.microsoft.com/office/drawing/2014/main" id="{A6F3B451-C7E8-44EB-90B8-68CCC0EA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MAIN-TOPIC BODY SENTENCES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93E9D342-1116-47CD-A086-0032E02E7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Education: choose the line that fits</a:t>
            </a:r>
          </a:p>
        </p:txBody>
      </p:sp>
      <p:sp>
        <p:nvSpPr>
          <p:cNvPr id="3" name="rule-7">
            <a:extLst xmlns:a="http://schemas.openxmlformats.org/drawingml/2006/main">
              <a:ext uri="{FF2B5EF4-FFF2-40B4-BE49-F238E27FC236}">
                <a16:creationId xmlns:a16="http://schemas.microsoft.com/office/drawing/2014/main" id="{D58B9AE0-D32F-47E5-A6D4-A48FFF03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2ACEFB55-4262-41A5-B3BD-1FC665A33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07</a:t>
            </a:r>
          </a:p>
        </p:txBody>
      </p:sp>
      <p:sp>
        <p:nvSpPr>
          <p:cNvPr id="5" name="sentence-row-1">
            <a:extLst xmlns:a="http://schemas.openxmlformats.org/drawingml/2006/main">
              <a:ext uri="{FF2B5EF4-FFF2-40B4-BE49-F238E27FC236}">
                <a16:creationId xmlns:a16="http://schemas.microsoft.com/office/drawing/2014/main" id="{69AFD290-DDC7-4EB0-B825-DBE610D6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10382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text-92-200">
            <a:extLst xmlns:a="http://schemas.openxmlformats.org/drawingml/2006/main">
              <a:ext uri="{FF2B5EF4-FFF2-40B4-BE49-F238E27FC236}">
                <a16:creationId xmlns:a16="http://schemas.microsoft.com/office/drawing/2014/main" id="{E745EE56-5616-450E-8092-5C5D7EAD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7A55"/>
                </a:solidFill>
              </a:defRPr>
            </a:pPr>
            <a:r>
              <a:rPr sz="1200" b="1">
                <a:solidFill>
                  <a:srgbClr val="157A55"/>
                </a:solidFill>
              </a:rPr>
              <a:t>BENEFIT</a:t>
            </a:r>
          </a:p>
        </p:txBody>
      </p:sp>
      <p:sp>
        <p:nvSpPr>
          <p:cNvPr id="7" name="text-92-232">
            <a:extLst xmlns:a="http://schemas.openxmlformats.org/drawingml/2006/main">
              <a:ext uri="{FF2B5EF4-FFF2-40B4-BE49-F238E27FC236}">
                <a16:creationId xmlns:a16="http://schemas.microsoft.com/office/drawing/2014/main" id="{535EA1B7-7368-4FEE-B72A-C4D000C18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Builds transferable skills</a:t>
            </a:r>
          </a:p>
        </p:txBody>
      </p:sp>
      <p:sp>
        <p:nvSpPr>
          <p:cNvPr id="8" name="sentence-1">
            <a:extLst xmlns:a="http://schemas.openxmlformats.org/drawingml/2006/main">
              <a:ext uri="{FF2B5EF4-FFF2-40B4-BE49-F238E27FC236}">
                <a16:creationId xmlns:a16="http://schemas.microsoft.com/office/drawing/2014/main" id="{70BBDD82-ED2E-4520-84B6-1FCEC250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05000"/>
            <a:ext cx="8362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One significant benefit of [educational approach] is that it develops critical thinking and practical skills that learners can apply beyond the classroom.</a:t>
            </a:r>
          </a:p>
        </p:txBody>
      </p:sp>
      <p:sp>
        <p:nvSpPr>
          <p:cNvPr id="9" name="sentence-row-2">
            <a:extLst xmlns:a="http://schemas.openxmlformats.org/drawingml/2006/main">
              <a:ext uri="{FF2B5EF4-FFF2-40B4-BE49-F238E27FC236}">
                <a16:creationId xmlns:a16="http://schemas.microsoft.com/office/drawing/2014/main" id="{B7F32D8B-43B9-44C1-B131-D92D680AD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10382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text-92-350">
            <a:extLst xmlns:a="http://schemas.openxmlformats.org/drawingml/2006/main">
              <a:ext uri="{FF2B5EF4-FFF2-40B4-BE49-F238E27FC236}">
                <a16:creationId xmlns:a16="http://schemas.microsoft.com/office/drawing/2014/main" id="{D26C857F-F525-455F-AF32-B678DEF6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3939"/>
                </a:solidFill>
              </a:defRPr>
            </a:pPr>
            <a:r>
              <a:rPr sz="1200" b="1">
                <a:solidFill>
                  <a:srgbClr val="C93939"/>
                </a:solidFill>
              </a:rPr>
              <a:t>LIMITATION</a:t>
            </a:r>
          </a:p>
        </p:txBody>
      </p:sp>
      <p:sp>
        <p:nvSpPr>
          <p:cNvPr id="11" name="text-92-382">
            <a:extLst xmlns:a="http://schemas.openxmlformats.org/drawingml/2006/main">
              <a:ext uri="{FF2B5EF4-FFF2-40B4-BE49-F238E27FC236}">
                <a16:creationId xmlns:a16="http://schemas.microsoft.com/office/drawing/2014/main" id="{42478176-D0FD-41A6-9BCC-9DEFE0B7E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May widen inequality</a:t>
            </a:r>
          </a:p>
        </p:txBody>
      </p:sp>
      <p:sp>
        <p:nvSpPr>
          <p:cNvPr id="12" name="sentence-2">
            <a:extLst xmlns:a="http://schemas.openxmlformats.org/drawingml/2006/main">
              <a:ext uri="{FF2B5EF4-FFF2-40B4-BE49-F238E27FC236}">
                <a16:creationId xmlns:a16="http://schemas.microsoft.com/office/drawing/2014/main" id="{534B19A0-F418-477B-88A3-5F0DCA76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33750"/>
            <a:ext cx="8362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However, [educational approach] may widen existing inequalities when disadvantaged students lack qualified teachers, technology or financial support.</a:t>
            </a:r>
          </a:p>
        </p:txBody>
      </p:sp>
      <p:sp>
        <p:nvSpPr>
          <p:cNvPr id="13" name="sentence-row-3">
            <a:extLst xmlns:a="http://schemas.openxmlformats.org/drawingml/2006/main">
              <a:ext uri="{FF2B5EF4-FFF2-40B4-BE49-F238E27FC236}">
                <a16:creationId xmlns:a16="http://schemas.microsoft.com/office/drawing/2014/main" id="{FA249D05-D499-40FB-95BB-F3B39BD3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10382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text-92-500">
            <a:extLst xmlns:a="http://schemas.openxmlformats.org/drawingml/2006/main">
              <a:ext uri="{FF2B5EF4-FFF2-40B4-BE49-F238E27FC236}">
                <a16:creationId xmlns:a16="http://schemas.microsoft.com/office/drawing/2014/main" id="{F7907E4E-6AFE-496D-8295-BBDF99B79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JUDGEMENT</a:t>
            </a:r>
          </a:p>
        </p:txBody>
      </p:sp>
      <p:sp>
        <p:nvSpPr>
          <p:cNvPr id="15" name="text-92-532">
            <a:extLst xmlns:a="http://schemas.openxmlformats.org/drawingml/2006/main">
              <a:ext uri="{FF2B5EF4-FFF2-40B4-BE49-F238E27FC236}">
                <a16:creationId xmlns:a16="http://schemas.microsoft.com/office/drawing/2014/main" id="{FD31FD95-1444-4CA6-914B-4BC73D95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Access determines success</a:t>
            </a:r>
          </a:p>
        </p:txBody>
      </p:sp>
      <p:sp>
        <p:nvSpPr>
          <p:cNvPr id="16" name="sentence-3">
            <a:extLst xmlns:a="http://schemas.openxmlformats.org/drawingml/2006/main">
              <a:ext uri="{FF2B5EF4-FFF2-40B4-BE49-F238E27FC236}">
                <a16:creationId xmlns:a16="http://schemas.microsoft.com/office/drawing/2014/main" id="{62276D85-A544-49E2-AA4E-334CCE5B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62500"/>
            <a:ext cx="8362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Its effectiveness therefore depends not only on the quality of instruction but also on whether learning opportunities are genuinely accessible.</a:t>
            </a:r>
          </a:p>
        </p:txBody>
      </p:sp>
      <p:sp>
        <p:nvSpPr>
          <p:cNvPr id="17" name="text-70-641">
            <a:extLst xmlns:a="http://schemas.openxmlformats.org/drawingml/2006/main">
              <a:ext uri="{FF2B5EF4-FFF2-40B4-BE49-F238E27FC236}">
                <a16:creationId xmlns:a16="http://schemas.microsoft.com/office/drawing/2014/main" id="{26429939-26CD-43B8-A097-DF09E50D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05525"/>
            <a:ext cx="838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3"/>
                </a:solidFill>
              </a:defRPr>
            </a:pPr>
            <a:r>
              <a:rPr sz="1350" b="1">
                <a:solidFill>
                  <a:srgbClr val="5E6673"/>
                </a:solidFill>
              </a:rPr>
              <a:t>Use one line only. Then explain it in your own words.</a:t>
            </a:r>
          </a:p>
        </p:txBody>
      </p:sp>
    </p:spTree>
    <p:extLst>
      <p:ext uri="{BB962C8B-B14F-4D97-AF65-F5344CB8AC3E}">
        <p14:creationId xmlns:p14="http://schemas.microsoft.com/office/powerpoint/2010/main" val="79426067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8">
            <a:extLst xmlns:a="http://schemas.openxmlformats.org/drawingml/2006/main">
              <a:ext uri="{FF2B5EF4-FFF2-40B4-BE49-F238E27FC236}">
                <a16:creationId xmlns:a16="http://schemas.microsoft.com/office/drawing/2014/main" id="{1D416EDD-EC2C-4343-B3DC-78E09B8B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CROSS-TOPIC EXAMPLES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5C0B6583-50FC-4CE8-A571-C6D5A5F27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Education: borrow an example</a:t>
            </a:r>
          </a:p>
        </p:txBody>
      </p:sp>
      <p:sp>
        <p:nvSpPr>
          <p:cNvPr id="3" name="rule-8">
            <a:extLst xmlns:a="http://schemas.openxmlformats.org/drawingml/2006/main">
              <a:ext uri="{FF2B5EF4-FFF2-40B4-BE49-F238E27FC236}">
                <a16:creationId xmlns:a16="http://schemas.microsoft.com/office/drawing/2014/main" id="{E8313863-BBF6-4D51-9134-53127D1C7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9010D806-BEE9-4EA7-889A-0AD90A7D7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08</a:t>
            </a:r>
          </a:p>
        </p:txBody>
      </p:sp>
      <p:sp>
        <p:nvSpPr>
          <p:cNvPr id="5" name="sentence-row-1">
            <a:extLst xmlns:a="http://schemas.openxmlformats.org/drawingml/2006/main">
              <a:ext uri="{FF2B5EF4-FFF2-40B4-BE49-F238E27FC236}">
                <a16:creationId xmlns:a16="http://schemas.microsoft.com/office/drawing/2014/main" id="{17F9BCDB-B81F-4E4A-95D5-30B0FA215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10382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text-92-200">
            <a:extLst xmlns:a="http://schemas.openxmlformats.org/drawingml/2006/main">
              <a:ext uri="{FF2B5EF4-FFF2-40B4-BE49-F238E27FC236}">
                <a16:creationId xmlns:a16="http://schemas.microsoft.com/office/drawing/2014/main" id="{430BE8D3-9329-44BE-9270-73AA176A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WORK</a:t>
            </a:r>
          </a:p>
        </p:txBody>
      </p:sp>
      <p:sp>
        <p:nvSpPr>
          <p:cNvPr id="7" name="text-92-232">
            <a:extLst xmlns:a="http://schemas.openxmlformats.org/drawingml/2006/main">
              <a:ext uri="{FF2B5EF4-FFF2-40B4-BE49-F238E27FC236}">
                <a16:creationId xmlns:a16="http://schemas.microsoft.com/office/drawing/2014/main" id="{6FEE9F5D-F6F1-4E47-B0FE-CC406201C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Employability</a:t>
            </a:r>
          </a:p>
        </p:txBody>
      </p:sp>
      <p:sp>
        <p:nvSpPr>
          <p:cNvPr id="8" name="sentence-1">
            <a:extLst xmlns:a="http://schemas.openxmlformats.org/drawingml/2006/main">
              <a:ext uri="{FF2B5EF4-FFF2-40B4-BE49-F238E27FC236}">
                <a16:creationId xmlns:a16="http://schemas.microsoft.com/office/drawing/2014/main" id="{11F0365A-F340-4693-8EAA-E79E5288F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05000"/>
            <a:ext cx="8362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For example, vocational education demonstrates how practical training can improve employability while helping industries address skill shortages.</a:t>
            </a:r>
          </a:p>
        </p:txBody>
      </p:sp>
      <p:sp>
        <p:nvSpPr>
          <p:cNvPr id="9" name="sentence-row-2">
            <a:extLst xmlns:a="http://schemas.openxmlformats.org/drawingml/2006/main">
              <a:ext uri="{FF2B5EF4-FFF2-40B4-BE49-F238E27FC236}">
                <a16:creationId xmlns:a16="http://schemas.microsoft.com/office/drawing/2014/main" id="{BE9F733E-FD01-4013-8E9E-018E362D2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10382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text-92-350">
            <a:extLst xmlns:a="http://schemas.openxmlformats.org/drawingml/2006/main">
              <a:ext uri="{FF2B5EF4-FFF2-40B4-BE49-F238E27FC236}">
                <a16:creationId xmlns:a16="http://schemas.microsoft.com/office/drawing/2014/main" id="{5AAAF883-B939-4D64-9EF6-72DFFB6B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LEARNING</a:t>
            </a:r>
          </a:p>
        </p:txBody>
      </p:sp>
      <p:sp>
        <p:nvSpPr>
          <p:cNvPr id="11" name="text-92-382">
            <a:extLst xmlns:a="http://schemas.openxmlformats.org/drawingml/2006/main">
              <a:ext uri="{FF2B5EF4-FFF2-40B4-BE49-F238E27FC236}">
                <a16:creationId xmlns:a16="http://schemas.microsoft.com/office/drawing/2014/main" id="{82FD4D3D-5499-4A99-8E1B-974AF643A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Theory plus practice</a:t>
            </a:r>
          </a:p>
        </p:txBody>
      </p:sp>
      <p:sp>
        <p:nvSpPr>
          <p:cNvPr id="12" name="sentence-2">
            <a:extLst xmlns:a="http://schemas.openxmlformats.org/drawingml/2006/main">
              <a:ext uri="{FF2B5EF4-FFF2-40B4-BE49-F238E27FC236}">
                <a16:creationId xmlns:a16="http://schemas.microsoft.com/office/drawing/2014/main" id="{FFA1A723-5B27-480D-93A4-1D8085CC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33750"/>
            <a:ext cx="8362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A comparable lesson can be seen in education, where students achieve better results when theoretical knowledge is combined with practical experience.</a:t>
            </a:r>
          </a:p>
        </p:txBody>
      </p:sp>
      <p:sp>
        <p:nvSpPr>
          <p:cNvPr id="13" name="sentence-row-3">
            <a:extLst xmlns:a="http://schemas.openxmlformats.org/drawingml/2006/main">
              <a:ext uri="{FF2B5EF4-FFF2-40B4-BE49-F238E27FC236}">
                <a16:creationId xmlns:a16="http://schemas.microsoft.com/office/drawing/2014/main" id="{C1DA6D5D-DF51-40DA-98B1-2E8DF817E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10382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text-92-500">
            <a:extLst xmlns:a="http://schemas.openxmlformats.org/drawingml/2006/main">
              <a:ext uri="{FF2B5EF4-FFF2-40B4-BE49-F238E27FC236}">
                <a16:creationId xmlns:a16="http://schemas.microsoft.com/office/drawing/2014/main" id="{DDDC76B8-B96F-44B4-9431-64D9770E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TECHNOLOGY</a:t>
            </a:r>
          </a:p>
        </p:txBody>
      </p:sp>
      <p:sp>
        <p:nvSpPr>
          <p:cNvPr id="15" name="text-92-532">
            <a:extLst xmlns:a="http://schemas.openxmlformats.org/drawingml/2006/main">
              <a:ext uri="{FF2B5EF4-FFF2-40B4-BE49-F238E27FC236}">
                <a16:creationId xmlns:a16="http://schemas.microsoft.com/office/drawing/2014/main" id="{FFDC2CB5-08BA-41FB-B710-CC69CA047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Digital access</a:t>
            </a:r>
          </a:p>
        </p:txBody>
      </p:sp>
      <p:sp>
        <p:nvSpPr>
          <p:cNvPr id="16" name="sentence-3">
            <a:extLst xmlns:a="http://schemas.openxmlformats.org/drawingml/2006/main">
              <a:ext uri="{FF2B5EF4-FFF2-40B4-BE49-F238E27FC236}">
                <a16:creationId xmlns:a16="http://schemas.microsoft.com/office/drawing/2014/main" id="{49E748F5-7B54-4102-9DD0-6BAA8C76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62500"/>
            <a:ext cx="8362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Online education provides a relevant example: although technology can expand access, its benefits remain limited for students without reliable internet or teacher support.</a:t>
            </a:r>
          </a:p>
        </p:txBody>
      </p:sp>
      <p:sp>
        <p:nvSpPr>
          <p:cNvPr id="17" name="rect-70-625">
            <a:extLst xmlns:a="http://schemas.openxmlformats.org/drawingml/2006/main">
              <a:ext uri="{FF2B5EF4-FFF2-40B4-BE49-F238E27FC236}">
                <a16:creationId xmlns:a16="http://schemas.microsoft.com/office/drawing/2014/main" id="{C92C0A51-627C-46CE-B263-07FC6AF3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1038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8" name="text-90-630">
            <a:extLst xmlns:a="http://schemas.openxmlformats.org/drawingml/2006/main">
              <a:ext uri="{FF2B5EF4-FFF2-40B4-BE49-F238E27FC236}">
                <a16:creationId xmlns:a16="http://schemas.microsoft.com/office/drawing/2014/main" id="{458B5D7E-CB91-4644-910A-4659BD24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007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Bridge first → give the example → connect it to the main argument</a:t>
            </a:r>
          </a:p>
        </p:txBody>
      </p:sp>
    </p:spTree>
    <p:extLst>
      <p:ext uri="{BB962C8B-B14F-4D97-AF65-F5344CB8AC3E}">
        <p14:creationId xmlns:p14="http://schemas.microsoft.com/office/powerpoint/2010/main" val="68079156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9">
            <a:extLst xmlns:a="http://schemas.openxmlformats.org/drawingml/2006/main">
              <a:ext uri="{FF2B5EF4-FFF2-40B4-BE49-F238E27FC236}">
                <a16:creationId xmlns:a16="http://schemas.microsoft.com/office/drawing/2014/main" id="{95DD1424-896A-4ED8-991F-C4BB3120F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MAIN-TOPIC BODY SENTENCES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1B94008E-495E-4564-94E2-CD8C0808E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Science and research: choose the line that fits</a:t>
            </a:r>
          </a:p>
        </p:txBody>
      </p:sp>
      <p:sp>
        <p:nvSpPr>
          <p:cNvPr id="3" name="rule-9">
            <a:extLst xmlns:a="http://schemas.openxmlformats.org/drawingml/2006/main">
              <a:ext uri="{FF2B5EF4-FFF2-40B4-BE49-F238E27FC236}">
                <a16:creationId xmlns:a16="http://schemas.microsoft.com/office/drawing/2014/main" id="{331B2A74-159D-4F23-9190-BEE7125F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E4FAE9E4-6847-4273-B1B0-F73C0CF0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09</a:t>
            </a:r>
          </a:p>
        </p:txBody>
      </p:sp>
      <p:sp>
        <p:nvSpPr>
          <p:cNvPr id="5" name="sentence-row-1">
            <a:extLst xmlns:a="http://schemas.openxmlformats.org/drawingml/2006/main">
              <a:ext uri="{FF2B5EF4-FFF2-40B4-BE49-F238E27FC236}">
                <a16:creationId xmlns:a16="http://schemas.microsoft.com/office/drawing/2014/main" id="{0CFA744C-8564-4EE1-A6F5-8FA533718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10382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text-92-200">
            <a:extLst xmlns:a="http://schemas.openxmlformats.org/drawingml/2006/main">
              <a:ext uri="{FF2B5EF4-FFF2-40B4-BE49-F238E27FC236}">
                <a16:creationId xmlns:a16="http://schemas.microsoft.com/office/drawing/2014/main" id="{7B14EAD6-0CA7-4434-A947-A8F557EBA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7A55"/>
                </a:solidFill>
              </a:defRPr>
            </a:pPr>
            <a:r>
              <a:rPr sz="1200" b="1">
                <a:solidFill>
                  <a:srgbClr val="157A55"/>
                </a:solidFill>
              </a:rPr>
              <a:t>BENEFIT</a:t>
            </a:r>
          </a:p>
        </p:txBody>
      </p:sp>
      <p:sp>
        <p:nvSpPr>
          <p:cNvPr id="7" name="text-92-232">
            <a:extLst xmlns:a="http://schemas.openxmlformats.org/drawingml/2006/main">
              <a:ext uri="{FF2B5EF4-FFF2-40B4-BE49-F238E27FC236}">
                <a16:creationId xmlns:a16="http://schemas.microsoft.com/office/drawing/2014/main" id="{A9638F0A-D359-435A-A567-F996F0D2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Evidence-based solutions</a:t>
            </a:r>
          </a:p>
        </p:txBody>
      </p:sp>
      <p:sp>
        <p:nvSpPr>
          <p:cNvPr id="8" name="sentence-1">
            <a:extLst xmlns:a="http://schemas.openxmlformats.org/drawingml/2006/main">
              <a:ext uri="{FF2B5EF4-FFF2-40B4-BE49-F238E27FC236}">
                <a16:creationId xmlns:a16="http://schemas.microsoft.com/office/drawing/2014/main" id="{32013437-6946-4483-8E6B-7753D4A8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05000"/>
            <a:ext cx="8362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Scientific research deserves sustained investment because it generates evidence-based solutions to complex medical, social and environmental problems.</a:t>
            </a:r>
          </a:p>
        </p:txBody>
      </p:sp>
      <p:sp>
        <p:nvSpPr>
          <p:cNvPr id="9" name="sentence-row-2">
            <a:extLst xmlns:a="http://schemas.openxmlformats.org/drawingml/2006/main">
              <a:ext uri="{FF2B5EF4-FFF2-40B4-BE49-F238E27FC236}">
                <a16:creationId xmlns:a16="http://schemas.microsoft.com/office/drawing/2014/main" id="{BC8FDC9C-DADA-494C-865D-62AB2AF13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10382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text-92-350">
            <a:extLst xmlns:a="http://schemas.openxmlformats.org/drawingml/2006/main">
              <a:ext uri="{FF2B5EF4-FFF2-40B4-BE49-F238E27FC236}">
                <a16:creationId xmlns:a16="http://schemas.microsoft.com/office/drawing/2014/main" id="{B4844AC6-041B-41F3-BF44-0B6201B8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3939"/>
                </a:solidFill>
              </a:defRPr>
            </a:pPr>
            <a:r>
              <a:rPr sz="1200" b="1">
                <a:solidFill>
                  <a:srgbClr val="C93939"/>
                </a:solidFill>
              </a:rPr>
              <a:t>LIMITATION</a:t>
            </a:r>
          </a:p>
        </p:txBody>
      </p:sp>
      <p:sp>
        <p:nvSpPr>
          <p:cNvPr id="11" name="text-92-382">
            <a:extLst xmlns:a="http://schemas.openxmlformats.org/drawingml/2006/main">
              <a:ext uri="{FF2B5EF4-FFF2-40B4-BE49-F238E27FC236}">
                <a16:creationId xmlns:a16="http://schemas.microsoft.com/office/drawing/2014/main" id="{973C0716-EC64-4184-B601-CF9138C2D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Ethics and safety</a:t>
            </a:r>
          </a:p>
        </p:txBody>
      </p:sp>
      <p:sp>
        <p:nvSpPr>
          <p:cNvPr id="12" name="sentence-2">
            <a:extLst xmlns:a="http://schemas.openxmlformats.org/drawingml/2006/main">
              <a:ext uri="{FF2B5EF4-FFF2-40B4-BE49-F238E27FC236}">
                <a16:creationId xmlns:a16="http://schemas.microsoft.com/office/drawing/2014/main" id="{E32B7526-81D5-4E91-9C61-016DD551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33750"/>
            <a:ext cx="8362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Nevertheless, scientific progress can create ethical and safety concerns when innovation advances faster than regulation.</a:t>
            </a:r>
          </a:p>
        </p:txBody>
      </p:sp>
      <p:sp>
        <p:nvSpPr>
          <p:cNvPr id="13" name="sentence-row-3">
            <a:extLst xmlns:a="http://schemas.openxmlformats.org/drawingml/2006/main">
              <a:ext uri="{FF2B5EF4-FFF2-40B4-BE49-F238E27FC236}">
                <a16:creationId xmlns:a16="http://schemas.microsoft.com/office/drawing/2014/main" id="{B33C8AB9-9398-450A-842D-9B7BBFA5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10382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text-92-500">
            <a:extLst xmlns:a="http://schemas.openxmlformats.org/drawingml/2006/main">
              <a:ext uri="{FF2B5EF4-FFF2-40B4-BE49-F238E27FC236}">
                <a16:creationId xmlns:a16="http://schemas.microsoft.com/office/drawing/2014/main" id="{E5A41582-4DC3-4A93-990C-D20D2C141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JUDGEMENT</a:t>
            </a:r>
          </a:p>
        </p:txBody>
      </p:sp>
      <p:sp>
        <p:nvSpPr>
          <p:cNvPr id="15" name="text-92-532">
            <a:extLst xmlns:a="http://schemas.openxmlformats.org/drawingml/2006/main">
              <a:ext uri="{FF2B5EF4-FFF2-40B4-BE49-F238E27FC236}">
                <a16:creationId xmlns:a16="http://schemas.microsoft.com/office/drawing/2014/main" id="{F69BB69A-571E-446B-AE7D-52972F2A9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Progress with safeguards</a:t>
            </a:r>
          </a:p>
        </p:txBody>
      </p:sp>
      <p:sp>
        <p:nvSpPr>
          <p:cNvPr id="16" name="sentence-3">
            <a:extLst xmlns:a="http://schemas.openxmlformats.org/drawingml/2006/main">
              <a:ext uri="{FF2B5EF4-FFF2-40B4-BE49-F238E27FC236}">
                <a16:creationId xmlns:a16="http://schemas.microsoft.com/office/drawing/2014/main" id="{0188E545-8992-4E08-970A-21C05736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62500"/>
            <a:ext cx="8362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The most sensible approach is to support valuable research while requiring transparency, independent review and clear ethical standards.</a:t>
            </a:r>
          </a:p>
        </p:txBody>
      </p:sp>
      <p:sp>
        <p:nvSpPr>
          <p:cNvPr id="17" name="text-70-641">
            <a:extLst xmlns:a="http://schemas.openxmlformats.org/drawingml/2006/main">
              <a:ext uri="{FF2B5EF4-FFF2-40B4-BE49-F238E27FC236}">
                <a16:creationId xmlns:a16="http://schemas.microsoft.com/office/drawing/2014/main" id="{66DC8737-0368-4305-B101-2C0244373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05525"/>
            <a:ext cx="838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3"/>
                </a:solidFill>
              </a:defRPr>
            </a:pPr>
            <a:r>
              <a:rPr sz="1350" b="1">
                <a:solidFill>
                  <a:srgbClr val="5E6673"/>
                </a:solidFill>
              </a:rPr>
              <a:t>Use one line only. Then explain it in your own words.</a:t>
            </a:r>
          </a:p>
        </p:txBody>
      </p:sp>
    </p:spTree>
    <p:extLst>
      <p:ext uri="{BB962C8B-B14F-4D97-AF65-F5344CB8AC3E}">
        <p14:creationId xmlns:p14="http://schemas.microsoft.com/office/powerpoint/2010/main" val="177581359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10">
            <a:extLst xmlns:a="http://schemas.openxmlformats.org/drawingml/2006/main">
              <a:ext uri="{FF2B5EF4-FFF2-40B4-BE49-F238E27FC236}">
                <a16:creationId xmlns:a16="http://schemas.microsoft.com/office/drawing/2014/main" id="{333EAE85-DFC0-4553-8918-354F8FE0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CROSS-TOPIC EXAMPLES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7A519386-5CE1-40D4-8D61-298E913A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Science and research: borrow an example</a:t>
            </a:r>
          </a:p>
        </p:txBody>
      </p:sp>
      <p:sp>
        <p:nvSpPr>
          <p:cNvPr id="3" name="rule-10">
            <a:extLst xmlns:a="http://schemas.openxmlformats.org/drawingml/2006/main">
              <a:ext uri="{FF2B5EF4-FFF2-40B4-BE49-F238E27FC236}">
                <a16:creationId xmlns:a16="http://schemas.microsoft.com/office/drawing/2014/main" id="{3A52EE58-0176-4703-8828-2C6EADD3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7577F7DB-2080-4B7F-928B-C6DB9A84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10</a:t>
            </a:r>
          </a:p>
        </p:txBody>
      </p:sp>
      <p:sp>
        <p:nvSpPr>
          <p:cNvPr id="5" name="sentence-row-1">
            <a:extLst xmlns:a="http://schemas.openxmlformats.org/drawingml/2006/main">
              <a:ext uri="{FF2B5EF4-FFF2-40B4-BE49-F238E27FC236}">
                <a16:creationId xmlns:a16="http://schemas.microsoft.com/office/drawing/2014/main" id="{B890265C-59A1-402A-A9CE-F8DAAE2DE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10382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text-92-200">
            <a:extLst xmlns:a="http://schemas.openxmlformats.org/drawingml/2006/main">
              <a:ext uri="{FF2B5EF4-FFF2-40B4-BE49-F238E27FC236}">
                <a16:creationId xmlns:a16="http://schemas.microsoft.com/office/drawing/2014/main" id="{708B074C-2B0A-4D88-8F95-A9365A46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AGRICULTURE</a:t>
            </a:r>
          </a:p>
        </p:txBody>
      </p:sp>
      <p:sp>
        <p:nvSpPr>
          <p:cNvPr id="7" name="text-92-232">
            <a:extLst xmlns:a="http://schemas.openxmlformats.org/drawingml/2006/main">
              <a:ext uri="{FF2B5EF4-FFF2-40B4-BE49-F238E27FC236}">
                <a16:creationId xmlns:a16="http://schemas.microsoft.com/office/drawing/2014/main" id="{6F8C04CA-C0F2-4A32-BB6E-E8FC38F3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Food security</a:t>
            </a:r>
          </a:p>
        </p:txBody>
      </p:sp>
      <p:sp>
        <p:nvSpPr>
          <p:cNvPr id="8" name="sentence-1">
            <a:extLst xmlns:a="http://schemas.openxmlformats.org/drawingml/2006/main">
              <a:ext uri="{FF2B5EF4-FFF2-40B4-BE49-F238E27FC236}">
                <a16:creationId xmlns:a16="http://schemas.microsoft.com/office/drawing/2014/main" id="{73F0BAAD-66F0-47FB-A117-5B4367D8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05000"/>
            <a:ext cx="8362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For instance, research into drought-resistant crops demonstrates how scientific innovation can strengthen food security.</a:t>
            </a:r>
          </a:p>
        </p:txBody>
      </p:sp>
      <p:sp>
        <p:nvSpPr>
          <p:cNvPr id="9" name="sentence-row-2">
            <a:extLst xmlns:a="http://schemas.openxmlformats.org/drawingml/2006/main">
              <a:ext uri="{FF2B5EF4-FFF2-40B4-BE49-F238E27FC236}">
                <a16:creationId xmlns:a16="http://schemas.microsoft.com/office/drawing/2014/main" id="{6B615313-8941-419B-B28A-22A9E782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10382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text-92-350">
            <a:extLst xmlns:a="http://schemas.openxmlformats.org/drawingml/2006/main">
              <a:ext uri="{FF2B5EF4-FFF2-40B4-BE49-F238E27FC236}">
                <a16:creationId xmlns:a16="http://schemas.microsoft.com/office/drawing/2014/main" id="{6055E066-30C5-4104-8C4A-8DB39A5E9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MEDICINE</a:t>
            </a:r>
          </a:p>
        </p:txBody>
      </p:sp>
      <p:sp>
        <p:nvSpPr>
          <p:cNvPr id="11" name="text-92-382">
            <a:extLst xmlns:a="http://schemas.openxmlformats.org/drawingml/2006/main">
              <a:ext uri="{FF2B5EF4-FFF2-40B4-BE49-F238E27FC236}">
                <a16:creationId xmlns:a16="http://schemas.microsoft.com/office/drawing/2014/main" id="{4C65C3EC-8FAF-4497-864C-43B35C9A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Careful testing</a:t>
            </a:r>
          </a:p>
        </p:txBody>
      </p:sp>
      <p:sp>
        <p:nvSpPr>
          <p:cNvPr id="12" name="sentence-2">
            <a:extLst xmlns:a="http://schemas.openxmlformats.org/drawingml/2006/main">
              <a:ext uri="{FF2B5EF4-FFF2-40B4-BE49-F238E27FC236}">
                <a16:creationId xmlns:a16="http://schemas.microsoft.com/office/drawing/2014/main" id="{7D2283BC-FD17-402B-ADE4-2E3C68766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33750"/>
            <a:ext cx="8362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Medical research provides a useful parallel, as promising treatments must undergo careful testing before being introduced on a large scale.</a:t>
            </a:r>
          </a:p>
        </p:txBody>
      </p:sp>
      <p:sp>
        <p:nvSpPr>
          <p:cNvPr id="13" name="sentence-row-3">
            <a:extLst xmlns:a="http://schemas.openxmlformats.org/drawingml/2006/main">
              <a:ext uri="{FF2B5EF4-FFF2-40B4-BE49-F238E27FC236}">
                <a16:creationId xmlns:a16="http://schemas.microsoft.com/office/drawing/2014/main" id="{03F4D956-BA8E-4B6E-9183-5E86158D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10382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text-92-500">
            <a:extLst xmlns:a="http://schemas.openxmlformats.org/drawingml/2006/main">
              <a:ext uri="{FF2B5EF4-FFF2-40B4-BE49-F238E27FC236}">
                <a16:creationId xmlns:a16="http://schemas.microsoft.com/office/drawing/2014/main" id="{150A1CE9-61BA-4322-A02E-C6C081E6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ENERGY</a:t>
            </a:r>
          </a:p>
        </p:txBody>
      </p:sp>
      <p:sp>
        <p:nvSpPr>
          <p:cNvPr id="15" name="text-92-532">
            <a:extLst xmlns:a="http://schemas.openxmlformats.org/drawingml/2006/main">
              <a:ext uri="{FF2B5EF4-FFF2-40B4-BE49-F238E27FC236}">
                <a16:creationId xmlns:a16="http://schemas.microsoft.com/office/drawing/2014/main" id="{71832F8E-28DF-4C8E-9BB2-B1409C6EE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Dual benefits</a:t>
            </a:r>
          </a:p>
        </p:txBody>
      </p:sp>
      <p:sp>
        <p:nvSpPr>
          <p:cNvPr id="16" name="sentence-3">
            <a:extLst xmlns:a="http://schemas.openxmlformats.org/drawingml/2006/main">
              <a:ext uri="{FF2B5EF4-FFF2-40B4-BE49-F238E27FC236}">
                <a16:creationId xmlns:a16="http://schemas.microsoft.com/office/drawing/2014/main" id="{7BFD62F4-EFE3-44EC-B105-BA2E1A2CF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62500"/>
            <a:ext cx="8362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The development of renewable-energy technology illustrates how scientific investment can produce both environmental and economic benefits.</a:t>
            </a:r>
          </a:p>
        </p:txBody>
      </p:sp>
      <p:sp>
        <p:nvSpPr>
          <p:cNvPr id="17" name="rect-70-625">
            <a:extLst xmlns:a="http://schemas.openxmlformats.org/drawingml/2006/main">
              <a:ext uri="{FF2B5EF4-FFF2-40B4-BE49-F238E27FC236}">
                <a16:creationId xmlns:a16="http://schemas.microsoft.com/office/drawing/2014/main" id="{41FDD313-82F4-4CA3-80D3-6981B3DA8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1038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8" name="text-90-630">
            <a:extLst xmlns:a="http://schemas.openxmlformats.org/drawingml/2006/main">
              <a:ext uri="{FF2B5EF4-FFF2-40B4-BE49-F238E27FC236}">
                <a16:creationId xmlns:a16="http://schemas.microsoft.com/office/drawing/2014/main" id="{D8132C9C-6E90-484A-A552-77BC678E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007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Bridge first → give the example → connect it to the main argument</a:t>
            </a:r>
          </a:p>
        </p:txBody>
      </p:sp>
    </p:spTree>
    <p:extLst>
      <p:ext uri="{BB962C8B-B14F-4D97-AF65-F5344CB8AC3E}">
        <p14:creationId xmlns:p14="http://schemas.microsoft.com/office/powerpoint/2010/main" val="88150397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11">
            <a:extLst xmlns:a="http://schemas.openxmlformats.org/drawingml/2006/main">
              <a:ext uri="{FF2B5EF4-FFF2-40B4-BE49-F238E27FC236}">
                <a16:creationId xmlns:a16="http://schemas.microsoft.com/office/drawing/2014/main" id="{4C53CCE8-EECD-4740-9264-7142CD76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MAIN-TOPIC BODY SENTENCES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080E91F5-A7A2-4990-BF40-9A24A2D1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Technology and AI: choose the line that fits</a:t>
            </a:r>
          </a:p>
        </p:txBody>
      </p:sp>
      <p:sp>
        <p:nvSpPr>
          <p:cNvPr id="3" name="rule-11">
            <a:extLst xmlns:a="http://schemas.openxmlformats.org/drawingml/2006/main">
              <a:ext uri="{FF2B5EF4-FFF2-40B4-BE49-F238E27FC236}">
                <a16:creationId xmlns:a16="http://schemas.microsoft.com/office/drawing/2014/main" id="{DB8BF6E7-C38D-48EB-B295-9386D1E3C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11">
            <a:extLst xmlns:a="http://schemas.openxmlformats.org/drawingml/2006/main">
              <a:ext uri="{FF2B5EF4-FFF2-40B4-BE49-F238E27FC236}">
                <a16:creationId xmlns:a16="http://schemas.microsoft.com/office/drawing/2014/main" id="{2A494EBF-8E39-40DB-B35B-71B7454F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11</a:t>
            </a:r>
          </a:p>
        </p:txBody>
      </p:sp>
      <p:sp>
        <p:nvSpPr>
          <p:cNvPr id="5" name="sentence-row-1">
            <a:extLst xmlns:a="http://schemas.openxmlformats.org/drawingml/2006/main">
              <a:ext uri="{FF2B5EF4-FFF2-40B4-BE49-F238E27FC236}">
                <a16:creationId xmlns:a16="http://schemas.microsoft.com/office/drawing/2014/main" id="{30BE18B6-811E-4A62-9495-F196556D0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10382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text-92-200">
            <a:extLst xmlns:a="http://schemas.openxmlformats.org/drawingml/2006/main">
              <a:ext uri="{FF2B5EF4-FFF2-40B4-BE49-F238E27FC236}">
                <a16:creationId xmlns:a16="http://schemas.microsoft.com/office/drawing/2014/main" id="{202BF7A3-341A-4AE1-87BB-580221817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7A55"/>
                </a:solidFill>
              </a:defRPr>
            </a:pPr>
            <a:r>
              <a:rPr sz="1200" b="1">
                <a:solidFill>
                  <a:srgbClr val="157A55"/>
                </a:solidFill>
              </a:rPr>
              <a:t>BENEFIT</a:t>
            </a:r>
          </a:p>
        </p:txBody>
      </p:sp>
      <p:sp>
        <p:nvSpPr>
          <p:cNvPr id="7" name="text-92-232">
            <a:extLst xmlns:a="http://schemas.openxmlformats.org/drawingml/2006/main">
              <a:ext uri="{FF2B5EF4-FFF2-40B4-BE49-F238E27FC236}">
                <a16:creationId xmlns:a16="http://schemas.microsoft.com/office/drawing/2014/main" id="{E65982E6-2EE5-4ECF-BBF5-DDF37935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Efficiency and access</a:t>
            </a:r>
          </a:p>
        </p:txBody>
      </p:sp>
      <p:sp>
        <p:nvSpPr>
          <p:cNvPr id="8" name="sentence-1">
            <a:extLst xmlns:a="http://schemas.openxmlformats.org/drawingml/2006/main">
              <a:ext uri="{FF2B5EF4-FFF2-40B4-BE49-F238E27FC236}">
                <a16:creationId xmlns:a16="http://schemas.microsoft.com/office/drawing/2014/main" id="{EEF9C4A4-8AEB-425D-8AEA-1D17967E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05000"/>
            <a:ext cx="8362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When used responsibly, [technology] can increase efficiency, reduce costs and expand access to information and essential services.</a:t>
            </a:r>
          </a:p>
        </p:txBody>
      </p:sp>
      <p:sp>
        <p:nvSpPr>
          <p:cNvPr id="9" name="sentence-row-2">
            <a:extLst xmlns:a="http://schemas.openxmlformats.org/drawingml/2006/main">
              <a:ext uri="{FF2B5EF4-FFF2-40B4-BE49-F238E27FC236}">
                <a16:creationId xmlns:a16="http://schemas.microsoft.com/office/drawing/2014/main" id="{A7B24275-95C7-490B-951E-21E40DD2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10382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text-92-350">
            <a:extLst xmlns:a="http://schemas.openxmlformats.org/drawingml/2006/main">
              <a:ext uri="{FF2B5EF4-FFF2-40B4-BE49-F238E27FC236}">
                <a16:creationId xmlns:a16="http://schemas.microsoft.com/office/drawing/2014/main" id="{7BEACF77-E8F3-4F99-AC9B-CC1C8DC24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3939"/>
                </a:solidFill>
              </a:defRPr>
            </a:pPr>
            <a:r>
              <a:rPr sz="1200" b="1">
                <a:solidFill>
                  <a:srgbClr val="C93939"/>
                </a:solidFill>
              </a:rPr>
              <a:t>LIMITATION</a:t>
            </a:r>
          </a:p>
        </p:txBody>
      </p:sp>
      <p:sp>
        <p:nvSpPr>
          <p:cNvPr id="11" name="text-92-382">
            <a:extLst xmlns:a="http://schemas.openxmlformats.org/drawingml/2006/main">
              <a:ext uri="{FF2B5EF4-FFF2-40B4-BE49-F238E27FC236}">
                <a16:creationId xmlns:a16="http://schemas.microsoft.com/office/drawing/2014/main" id="{4D9C4572-9E84-42F2-AAEB-2A29EEC15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Privacy and inequality</a:t>
            </a:r>
          </a:p>
        </p:txBody>
      </p:sp>
      <p:sp>
        <p:nvSpPr>
          <p:cNvPr id="12" name="sentence-2">
            <a:extLst xmlns:a="http://schemas.openxmlformats.org/drawingml/2006/main">
              <a:ext uri="{FF2B5EF4-FFF2-40B4-BE49-F238E27FC236}">
                <a16:creationId xmlns:a16="http://schemas.microsoft.com/office/drawing/2014/main" id="{37922C4B-F776-4C60-A43A-AE6B4F30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33750"/>
            <a:ext cx="8362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Excessive dependence on [technology], however, may threaten privacy, replace routine employment and deepen the digital divide.</a:t>
            </a:r>
          </a:p>
        </p:txBody>
      </p:sp>
      <p:sp>
        <p:nvSpPr>
          <p:cNvPr id="13" name="sentence-row-3">
            <a:extLst xmlns:a="http://schemas.openxmlformats.org/drawingml/2006/main">
              <a:ext uri="{FF2B5EF4-FFF2-40B4-BE49-F238E27FC236}">
                <a16:creationId xmlns:a16="http://schemas.microsoft.com/office/drawing/2014/main" id="{EC976713-8176-4DFD-9121-2DE57589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10382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text-92-500">
            <a:extLst xmlns:a="http://schemas.openxmlformats.org/drawingml/2006/main">
              <a:ext uri="{FF2B5EF4-FFF2-40B4-BE49-F238E27FC236}">
                <a16:creationId xmlns:a16="http://schemas.microsoft.com/office/drawing/2014/main" id="{167EDE01-C785-493D-B390-615A57FE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JUDGEMENT</a:t>
            </a:r>
          </a:p>
        </p:txBody>
      </p:sp>
      <p:sp>
        <p:nvSpPr>
          <p:cNvPr id="15" name="text-92-532">
            <a:extLst xmlns:a="http://schemas.openxmlformats.org/drawingml/2006/main">
              <a:ext uri="{FF2B5EF4-FFF2-40B4-BE49-F238E27FC236}">
                <a16:creationId xmlns:a16="http://schemas.microsoft.com/office/drawing/2014/main" id="{AEF57F84-FE8B-425C-845F-88097605E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Regulate and prepare</a:t>
            </a:r>
          </a:p>
        </p:txBody>
      </p:sp>
      <p:sp>
        <p:nvSpPr>
          <p:cNvPr id="16" name="sentence-3">
            <a:extLst xmlns:a="http://schemas.openxmlformats.org/drawingml/2006/main">
              <a:ext uri="{FF2B5EF4-FFF2-40B4-BE49-F238E27FC236}">
                <a16:creationId xmlns:a16="http://schemas.microsoft.com/office/drawing/2014/main" id="{309467AC-6AB7-470E-B5EB-022A3163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62500"/>
            <a:ext cx="8362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Rather than rejecting innovation, governments should regulate its harmful applications while investing in digital literacy and professional retraining.</a:t>
            </a:r>
          </a:p>
        </p:txBody>
      </p:sp>
      <p:sp>
        <p:nvSpPr>
          <p:cNvPr id="17" name="text-70-641">
            <a:extLst xmlns:a="http://schemas.openxmlformats.org/drawingml/2006/main">
              <a:ext uri="{FF2B5EF4-FFF2-40B4-BE49-F238E27FC236}">
                <a16:creationId xmlns:a16="http://schemas.microsoft.com/office/drawing/2014/main" id="{99924279-9DE5-4EFE-AC27-D43E13DD8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05525"/>
            <a:ext cx="838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3"/>
                </a:solidFill>
              </a:defRPr>
            </a:pPr>
            <a:r>
              <a:rPr sz="1350" b="1">
                <a:solidFill>
                  <a:srgbClr val="5E6673"/>
                </a:solidFill>
              </a:rPr>
              <a:t>Use one line only. Then explain it in your own words.</a:t>
            </a:r>
          </a:p>
        </p:txBody>
      </p:sp>
    </p:spTree>
    <p:extLst>
      <p:ext uri="{BB962C8B-B14F-4D97-AF65-F5344CB8AC3E}">
        <p14:creationId xmlns:p14="http://schemas.microsoft.com/office/powerpoint/2010/main" val="2060072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12">
            <a:extLst xmlns:a="http://schemas.openxmlformats.org/drawingml/2006/main">
              <a:ext uri="{FF2B5EF4-FFF2-40B4-BE49-F238E27FC236}">
                <a16:creationId xmlns:a16="http://schemas.microsoft.com/office/drawing/2014/main" id="{2F018A77-C47B-48EA-B131-0FF08B24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CROSS-TOPIC EXAMPLES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FED639DD-C502-46E8-8643-5D0C6C3DD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Technology and AI: borrow an example</a:t>
            </a:r>
          </a:p>
        </p:txBody>
      </p:sp>
      <p:sp>
        <p:nvSpPr>
          <p:cNvPr id="3" name="rule-12">
            <a:extLst xmlns:a="http://schemas.openxmlformats.org/drawingml/2006/main">
              <a:ext uri="{FF2B5EF4-FFF2-40B4-BE49-F238E27FC236}">
                <a16:creationId xmlns:a16="http://schemas.microsoft.com/office/drawing/2014/main" id="{382EED82-0562-4D3C-AC66-B11FF3CA6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12">
            <a:extLst xmlns:a="http://schemas.openxmlformats.org/drawingml/2006/main">
              <a:ext uri="{FF2B5EF4-FFF2-40B4-BE49-F238E27FC236}">
                <a16:creationId xmlns:a16="http://schemas.microsoft.com/office/drawing/2014/main" id="{3B8CD4B6-8D67-49E8-990F-A6660C4E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12</a:t>
            </a:r>
          </a:p>
        </p:txBody>
      </p:sp>
      <p:sp>
        <p:nvSpPr>
          <p:cNvPr id="5" name="sentence-row-1">
            <a:extLst xmlns:a="http://schemas.openxmlformats.org/drawingml/2006/main">
              <a:ext uri="{FF2B5EF4-FFF2-40B4-BE49-F238E27FC236}">
                <a16:creationId xmlns:a16="http://schemas.microsoft.com/office/drawing/2014/main" id="{B08B36F9-246B-4F1C-98C4-1057592A3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10382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text-92-200">
            <a:extLst xmlns:a="http://schemas.openxmlformats.org/drawingml/2006/main">
              <a:ext uri="{FF2B5EF4-FFF2-40B4-BE49-F238E27FC236}">
                <a16:creationId xmlns:a16="http://schemas.microsoft.com/office/drawing/2014/main" id="{2FC7A6B5-3ED2-4505-8472-F673ADBC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HEALTH</a:t>
            </a:r>
          </a:p>
        </p:txBody>
      </p:sp>
      <p:sp>
        <p:nvSpPr>
          <p:cNvPr id="7" name="text-92-232">
            <a:extLst xmlns:a="http://schemas.openxmlformats.org/drawingml/2006/main">
              <a:ext uri="{FF2B5EF4-FFF2-40B4-BE49-F238E27FC236}">
                <a16:creationId xmlns:a16="http://schemas.microsoft.com/office/drawing/2014/main" id="{62C4B4B4-FC12-49BC-9C12-A3AA7316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Telemedicine</a:t>
            </a:r>
          </a:p>
        </p:txBody>
      </p:sp>
      <p:sp>
        <p:nvSpPr>
          <p:cNvPr id="8" name="sentence-1">
            <a:extLst xmlns:a="http://schemas.openxmlformats.org/drawingml/2006/main">
              <a:ext uri="{FF2B5EF4-FFF2-40B4-BE49-F238E27FC236}">
                <a16:creationId xmlns:a16="http://schemas.microsoft.com/office/drawing/2014/main" id="{9E6CCCF3-ED23-493A-BB26-F9D991D7E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05000"/>
            <a:ext cx="8362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Telemedicine provides a clear example, as it allows people in remote communities to receive medical advice without travelling long distances.</a:t>
            </a:r>
          </a:p>
        </p:txBody>
      </p:sp>
      <p:sp>
        <p:nvSpPr>
          <p:cNvPr id="9" name="sentence-row-2">
            <a:extLst xmlns:a="http://schemas.openxmlformats.org/drawingml/2006/main">
              <a:ext uri="{FF2B5EF4-FFF2-40B4-BE49-F238E27FC236}">
                <a16:creationId xmlns:a16="http://schemas.microsoft.com/office/drawing/2014/main" id="{2CB4DB90-D868-4FAD-9DB4-870B6AC5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10382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text-92-350">
            <a:extLst xmlns:a="http://schemas.openxmlformats.org/drawingml/2006/main">
              <a:ext uri="{FF2B5EF4-FFF2-40B4-BE49-F238E27FC236}">
                <a16:creationId xmlns:a16="http://schemas.microsoft.com/office/drawing/2014/main" id="{6852DC85-8D09-407B-9D1E-E8CF6414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EMPLOYMENT</a:t>
            </a:r>
          </a:p>
        </p:txBody>
      </p:sp>
      <p:sp>
        <p:nvSpPr>
          <p:cNvPr id="11" name="text-92-382">
            <a:extLst xmlns:a="http://schemas.openxmlformats.org/drawingml/2006/main">
              <a:ext uri="{FF2B5EF4-FFF2-40B4-BE49-F238E27FC236}">
                <a16:creationId xmlns:a16="http://schemas.microsoft.com/office/drawing/2014/main" id="{9465CD4A-246B-49BE-943A-2E85D7BE0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Banking automation</a:t>
            </a:r>
          </a:p>
        </p:txBody>
      </p:sp>
      <p:sp>
        <p:nvSpPr>
          <p:cNvPr id="12" name="sentence-2">
            <a:extLst xmlns:a="http://schemas.openxmlformats.org/drawingml/2006/main">
              <a:ext uri="{FF2B5EF4-FFF2-40B4-BE49-F238E27FC236}">
                <a16:creationId xmlns:a16="http://schemas.microsoft.com/office/drawing/2014/main" id="{85130611-3DDD-47A1-AA41-816C72C7D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33750"/>
            <a:ext cx="8362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Automation in banking demonstrates how technology can complete routine tasks efficiently while allowing employees to concentrate on complex decisions.</a:t>
            </a:r>
          </a:p>
        </p:txBody>
      </p:sp>
      <p:sp>
        <p:nvSpPr>
          <p:cNvPr id="13" name="sentence-row-3">
            <a:extLst xmlns:a="http://schemas.openxmlformats.org/drawingml/2006/main">
              <a:ext uri="{FF2B5EF4-FFF2-40B4-BE49-F238E27FC236}">
                <a16:creationId xmlns:a16="http://schemas.microsoft.com/office/drawing/2014/main" id="{AA306E25-1095-4E00-98FF-5E3C8719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10382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text-92-500">
            <a:extLst xmlns:a="http://schemas.openxmlformats.org/drawingml/2006/main">
              <a:ext uri="{FF2B5EF4-FFF2-40B4-BE49-F238E27FC236}">
                <a16:creationId xmlns:a16="http://schemas.microsoft.com/office/drawing/2014/main" id="{271004CD-7E30-4158-8D89-05CD4C29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EDUCATION</a:t>
            </a:r>
          </a:p>
        </p:txBody>
      </p:sp>
      <p:sp>
        <p:nvSpPr>
          <p:cNvPr id="15" name="text-92-532">
            <a:extLst xmlns:a="http://schemas.openxmlformats.org/drawingml/2006/main">
              <a:ext uri="{FF2B5EF4-FFF2-40B4-BE49-F238E27FC236}">
                <a16:creationId xmlns:a16="http://schemas.microsoft.com/office/drawing/2014/main" id="{64192C23-4E59-46BA-AC83-7A56CFEF7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Human guidance</a:t>
            </a:r>
          </a:p>
        </p:txBody>
      </p:sp>
      <p:sp>
        <p:nvSpPr>
          <p:cNvPr id="16" name="sentence-3">
            <a:extLst xmlns:a="http://schemas.openxmlformats.org/drawingml/2006/main">
              <a:ext uri="{FF2B5EF4-FFF2-40B4-BE49-F238E27FC236}">
                <a16:creationId xmlns:a16="http://schemas.microsoft.com/office/drawing/2014/main" id="{C1C40DD3-D8FA-432D-A827-2E9814375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62500"/>
            <a:ext cx="8362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Online learning illustrates that technology is most effective when digital access is supported by appropriate human guidance.</a:t>
            </a:r>
          </a:p>
        </p:txBody>
      </p:sp>
      <p:sp>
        <p:nvSpPr>
          <p:cNvPr id="17" name="rect-70-625">
            <a:extLst xmlns:a="http://schemas.openxmlformats.org/drawingml/2006/main">
              <a:ext uri="{FF2B5EF4-FFF2-40B4-BE49-F238E27FC236}">
                <a16:creationId xmlns:a16="http://schemas.microsoft.com/office/drawing/2014/main" id="{4FBD8131-6313-4E9B-9FAE-6A08D85AB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1038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8" name="text-90-630">
            <a:extLst xmlns:a="http://schemas.openxmlformats.org/drawingml/2006/main">
              <a:ext uri="{FF2B5EF4-FFF2-40B4-BE49-F238E27FC236}">
                <a16:creationId xmlns:a16="http://schemas.microsoft.com/office/drawing/2014/main" id="{E944218D-F7B0-43AF-811F-C3ED73C27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007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Bridge first → give the example → connect it to the main argument</a:t>
            </a:r>
          </a:p>
        </p:txBody>
      </p:sp>
    </p:spTree>
    <p:extLst>
      <p:ext uri="{BB962C8B-B14F-4D97-AF65-F5344CB8AC3E}">
        <p14:creationId xmlns:p14="http://schemas.microsoft.com/office/powerpoint/2010/main" val="125179210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13">
            <a:extLst xmlns:a="http://schemas.openxmlformats.org/drawingml/2006/main">
              <a:ext uri="{FF2B5EF4-FFF2-40B4-BE49-F238E27FC236}">
                <a16:creationId xmlns:a16="http://schemas.microsoft.com/office/drawing/2014/main" id="{D55D5089-449E-4477-AE47-ACD8492C3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MAIN-TOPIC BODY SENTENCES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F55844DE-3170-49E0-8139-AA12DEBD2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Health: choose the line that fits</a:t>
            </a:r>
          </a:p>
        </p:txBody>
      </p:sp>
      <p:sp>
        <p:nvSpPr>
          <p:cNvPr id="3" name="rule-13">
            <a:extLst xmlns:a="http://schemas.openxmlformats.org/drawingml/2006/main">
              <a:ext uri="{FF2B5EF4-FFF2-40B4-BE49-F238E27FC236}">
                <a16:creationId xmlns:a16="http://schemas.microsoft.com/office/drawing/2014/main" id="{A5933F86-6643-47B6-A799-42B8712AE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13">
            <a:extLst xmlns:a="http://schemas.openxmlformats.org/drawingml/2006/main">
              <a:ext uri="{FF2B5EF4-FFF2-40B4-BE49-F238E27FC236}">
                <a16:creationId xmlns:a16="http://schemas.microsoft.com/office/drawing/2014/main" id="{1BC6DB1F-D9DC-4982-9367-326B30AE0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13</a:t>
            </a:r>
          </a:p>
        </p:txBody>
      </p:sp>
      <p:sp>
        <p:nvSpPr>
          <p:cNvPr id="5" name="sentence-row-1">
            <a:extLst xmlns:a="http://schemas.openxmlformats.org/drawingml/2006/main">
              <a:ext uri="{FF2B5EF4-FFF2-40B4-BE49-F238E27FC236}">
                <a16:creationId xmlns:a16="http://schemas.microsoft.com/office/drawing/2014/main" id="{7B5B1C27-161A-4002-B9A5-D3B35FE9F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10382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text-92-200">
            <a:extLst xmlns:a="http://schemas.openxmlformats.org/drawingml/2006/main">
              <a:ext uri="{FF2B5EF4-FFF2-40B4-BE49-F238E27FC236}">
                <a16:creationId xmlns:a16="http://schemas.microsoft.com/office/drawing/2014/main" id="{B0FBDF95-8D72-4FE4-8D5A-74530025D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7A55"/>
                </a:solidFill>
              </a:defRPr>
            </a:pPr>
            <a:r>
              <a:rPr sz="1200" b="1">
                <a:solidFill>
                  <a:srgbClr val="157A55"/>
                </a:solidFill>
              </a:rPr>
              <a:t>BENEFIT</a:t>
            </a:r>
          </a:p>
        </p:txBody>
      </p:sp>
      <p:sp>
        <p:nvSpPr>
          <p:cNvPr id="7" name="text-92-232">
            <a:extLst xmlns:a="http://schemas.openxmlformats.org/drawingml/2006/main">
              <a:ext uri="{FF2B5EF4-FFF2-40B4-BE49-F238E27FC236}">
                <a16:creationId xmlns:a16="http://schemas.microsoft.com/office/drawing/2014/main" id="{8C65B7E0-D11B-4F98-A327-40EF8B6D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Prevention saves resources</a:t>
            </a:r>
          </a:p>
        </p:txBody>
      </p:sp>
      <p:sp>
        <p:nvSpPr>
          <p:cNvPr id="8" name="sentence-1">
            <a:extLst xmlns:a="http://schemas.openxmlformats.org/drawingml/2006/main">
              <a:ext uri="{FF2B5EF4-FFF2-40B4-BE49-F238E27FC236}">
                <a16:creationId xmlns:a16="http://schemas.microsoft.com/office/drawing/2014/main" id="{00EF2A6F-DA3F-4E26-A04C-6F59688E4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05000"/>
            <a:ext cx="8362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Preventive healthcare is generally more sustainable than treating illnesses after they become severe because it reduces both human suffering and public expenditure.</a:t>
            </a:r>
          </a:p>
        </p:txBody>
      </p:sp>
      <p:sp>
        <p:nvSpPr>
          <p:cNvPr id="9" name="sentence-row-2">
            <a:extLst xmlns:a="http://schemas.openxmlformats.org/drawingml/2006/main">
              <a:ext uri="{FF2B5EF4-FFF2-40B4-BE49-F238E27FC236}">
                <a16:creationId xmlns:a16="http://schemas.microsoft.com/office/drawing/2014/main" id="{46256BFA-C379-4256-9DF6-2E2AA4DB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10382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text-92-350">
            <a:extLst xmlns:a="http://schemas.openxmlformats.org/drawingml/2006/main">
              <a:ext uri="{FF2B5EF4-FFF2-40B4-BE49-F238E27FC236}">
                <a16:creationId xmlns:a16="http://schemas.microsoft.com/office/drawing/2014/main" id="{EF2CBBF6-05C9-47F2-BA25-33FEA593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3939"/>
                </a:solidFill>
              </a:defRPr>
            </a:pPr>
            <a:r>
              <a:rPr sz="1200" b="1">
                <a:solidFill>
                  <a:srgbClr val="C93939"/>
                </a:solidFill>
              </a:rPr>
              <a:t>LIMITATION</a:t>
            </a:r>
          </a:p>
        </p:txBody>
      </p:sp>
      <p:sp>
        <p:nvSpPr>
          <p:cNvPr id="11" name="text-92-382">
            <a:extLst xmlns:a="http://schemas.openxmlformats.org/drawingml/2006/main">
              <a:ext uri="{FF2B5EF4-FFF2-40B4-BE49-F238E27FC236}">
                <a16:creationId xmlns:a16="http://schemas.microsoft.com/office/drawing/2014/main" id="{0930C98E-7FE3-4FB1-A7C9-1E98C81C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Choices are shaped</a:t>
            </a:r>
          </a:p>
        </p:txBody>
      </p:sp>
      <p:sp>
        <p:nvSpPr>
          <p:cNvPr id="12" name="sentence-2">
            <a:extLst xmlns:a="http://schemas.openxmlformats.org/drawingml/2006/main">
              <a:ext uri="{FF2B5EF4-FFF2-40B4-BE49-F238E27FC236}">
                <a16:creationId xmlns:a16="http://schemas.microsoft.com/office/drawing/2014/main" id="{5E371491-0D3C-4241-A9A3-18C0D0A4A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33750"/>
            <a:ext cx="8362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Although individuals are responsible for their habits, their choices are also shaped by income, education, food prices and their surrounding environment.</a:t>
            </a:r>
          </a:p>
        </p:txBody>
      </p:sp>
      <p:sp>
        <p:nvSpPr>
          <p:cNvPr id="13" name="sentence-row-3">
            <a:extLst xmlns:a="http://schemas.openxmlformats.org/drawingml/2006/main">
              <a:ext uri="{FF2B5EF4-FFF2-40B4-BE49-F238E27FC236}">
                <a16:creationId xmlns:a16="http://schemas.microsoft.com/office/drawing/2014/main" id="{7DD9AF5C-DE36-4BB3-A1A7-CD4C2BC5F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10382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text-92-500">
            <a:extLst xmlns:a="http://schemas.openxmlformats.org/drawingml/2006/main">
              <a:ext uri="{FF2B5EF4-FFF2-40B4-BE49-F238E27FC236}">
                <a16:creationId xmlns:a16="http://schemas.microsoft.com/office/drawing/2014/main" id="{E08C435E-5A0B-4397-880D-BAA6E614E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JUDGEMENT</a:t>
            </a:r>
          </a:p>
        </p:txBody>
      </p:sp>
      <p:sp>
        <p:nvSpPr>
          <p:cNvPr id="15" name="text-92-532">
            <a:extLst xmlns:a="http://schemas.openxmlformats.org/drawingml/2006/main">
              <a:ext uri="{FF2B5EF4-FFF2-40B4-BE49-F238E27FC236}">
                <a16:creationId xmlns:a16="http://schemas.microsoft.com/office/drawing/2014/main" id="{126A9B7C-DAD4-40B9-A2AD-5C1475D12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Shared responsibility</a:t>
            </a:r>
          </a:p>
        </p:txBody>
      </p:sp>
      <p:sp>
        <p:nvSpPr>
          <p:cNvPr id="16" name="sentence-3">
            <a:extLst xmlns:a="http://schemas.openxmlformats.org/drawingml/2006/main">
              <a:ext uri="{FF2B5EF4-FFF2-40B4-BE49-F238E27FC236}">
                <a16:creationId xmlns:a16="http://schemas.microsoft.com/office/drawing/2014/main" id="{B6D23CAF-8C4A-49F1-9213-AE611EDE8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62500"/>
            <a:ext cx="8362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Lasting health improvements therefore require personal responsibility alongside accessible healthcare and supportive public policies.</a:t>
            </a:r>
          </a:p>
        </p:txBody>
      </p:sp>
      <p:sp>
        <p:nvSpPr>
          <p:cNvPr id="17" name="text-70-641">
            <a:extLst xmlns:a="http://schemas.openxmlformats.org/drawingml/2006/main">
              <a:ext uri="{FF2B5EF4-FFF2-40B4-BE49-F238E27FC236}">
                <a16:creationId xmlns:a16="http://schemas.microsoft.com/office/drawing/2014/main" id="{33E3624F-CC9B-49AE-95ED-8243552FA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05525"/>
            <a:ext cx="838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3"/>
                </a:solidFill>
              </a:defRPr>
            </a:pPr>
            <a:r>
              <a:rPr sz="1350" b="1">
                <a:solidFill>
                  <a:srgbClr val="5E6673"/>
                </a:solidFill>
              </a:rPr>
              <a:t>Use one line only. Then explain it in your own words.</a:t>
            </a:r>
          </a:p>
        </p:txBody>
      </p:sp>
    </p:spTree>
    <p:extLst>
      <p:ext uri="{BB962C8B-B14F-4D97-AF65-F5344CB8AC3E}">
        <p14:creationId xmlns:p14="http://schemas.microsoft.com/office/powerpoint/2010/main" val="142559977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14">
            <a:extLst xmlns:a="http://schemas.openxmlformats.org/drawingml/2006/main">
              <a:ext uri="{FF2B5EF4-FFF2-40B4-BE49-F238E27FC236}">
                <a16:creationId xmlns:a16="http://schemas.microsoft.com/office/drawing/2014/main" id="{53658FC5-3B1D-4315-9692-875DB2312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CROSS-TOPIC EXAMPLES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9E5C6D78-1A74-4605-9B6B-0F645CEB7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Health: borrow an example</a:t>
            </a:r>
          </a:p>
        </p:txBody>
      </p:sp>
      <p:sp>
        <p:nvSpPr>
          <p:cNvPr id="3" name="rule-14">
            <a:extLst xmlns:a="http://schemas.openxmlformats.org/drawingml/2006/main">
              <a:ext uri="{FF2B5EF4-FFF2-40B4-BE49-F238E27FC236}">
                <a16:creationId xmlns:a16="http://schemas.microsoft.com/office/drawing/2014/main" id="{BEBAE19B-0FA0-46DC-AD8A-3A41DD1D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14">
            <a:extLst xmlns:a="http://schemas.openxmlformats.org/drawingml/2006/main">
              <a:ext uri="{FF2B5EF4-FFF2-40B4-BE49-F238E27FC236}">
                <a16:creationId xmlns:a16="http://schemas.microsoft.com/office/drawing/2014/main" id="{1ACB8CA7-9696-4E05-AC27-F577D8A4D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14</a:t>
            </a:r>
          </a:p>
        </p:txBody>
      </p:sp>
      <p:sp>
        <p:nvSpPr>
          <p:cNvPr id="5" name="sentence-row-1">
            <a:extLst xmlns:a="http://schemas.openxmlformats.org/drawingml/2006/main">
              <a:ext uri="{FF2B5EF4-FFF2-40B4-BE49-F238E27FC236}">
                <a16:creationId xmlns:a16="http://schemas.microsoft.com/office/drawing/2014/main" id="{FE4D9F84-3036-4E80-905E-BD19FEF2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10382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text-92-200">
            <a:extLst xmlns:a="http://schemas.openxmlformats.org/drawingml/2006/main">
              <a:ext uri="{FF2B5EF4-FFF2-40B4-BE49-F238E27FC236}">
                <a16:creationId xmlns:a16="http://schemas.microsoft.com/office/drawing/2014/main" id="{32593A68-1B33-43E2-B401-48907823C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BEHAVIOUR</a:t>
            </a:r>
          </a:p>
        </p:txBody>
      </p:sp>
      <p:sp>
        <p:nvSpPr>
          <p:cNvPr id="7" name="text-92-232">
            <a:extLst xmlns:a="http://schemas.openxmlformats.org/drawingml/2006/main">
              <a:ext uri="{FF2B5EF4-FFF2-40B4-BE49-F238E27FC236}">
                <a16:creationId xmlns:a16="http://schemas.microsoft.com/office/drawing/2014/main" id="{782C2FF4-A392-4800-B4A0-F798F2C2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Anti-smoking policy</a:t>
            </a:r>
          </a:p>
        </p:txBody>
      </p:sp>
      <p:sp>
        <p:nvSpPr>
          <p:cNvPr id="8" name="sentence-1">
            <a:extLst xmlns:a="http://schemas.openxmlformats.org/drawingml/2006/main">
              <a:ext uri="{FF2B5EF4-FFF2-40B4-BE49-F238E27FC236}">
                <a16:creationId xmlns:a16="http://schemas.microsoft.com/office/drawing/2014/main" id="{629682EE-EA82-4546-A68B-B1B26F02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05000"/>
            <a:ext cx="8362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Public campaigns against smoking demonstrate how education and reasonable regulation can gradually change individual behaviour.</a:t>
            </a:r>
          </a:p>
        </p:txBody>
      </p:sp>
      <p:sp>
        <p:nvSpPr>
          <p:cNvPr id="9" name="sentence-row-2">
            <a:extLst xmlns:a="http://schemas.openxmlformats.org/drawingml/2006/main">
              <a:ext uri="{FF2B5EF4-FFF2-40B4-BE49-F238E27FC236}">
                <a16:creationId xmlns:a16="http://schemas.microsoft.com/office/drawing/2014/main" id="{2003CC5B-D562-4F12-91F4-BA1EA7C65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10382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text-92-350">
            <a:extLst xmlns:a="http://schemas.openxmlformats.org/drawingml/2006/main">
              <a:ext uri="{FF2B5EF4-FFF2-40B4-BE49-F238E27FC236}">
                <a16:creationId xmlns:a16="http://schemas.microsoft.com/office/drawing/2014/main" id="{7C7D12C5-42BF-4BB9-AE99-E993D048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EDUCATION</a:t>
            </a:r>
          </a:p>
        </p:txBody>
      </p:sp>
      <p:sp>
        <p:nvSpPr>
          <p:cNvPr id="11" name="text-92-382">
            <a:extLst xmlns:a="http://schemas.openxmlformats.org/drawingml/2006/main">
              <a:ext uri="{FF2B5EF4-FFF2-40B4-BE49-F238E27FC236}">
                <a16:creationId xmlns:a16="http://schemas.microsoft.com/office/drawing/2014/main" id="{BCAB93D9-D7EF-4323-9509-E36FA147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Early intervention</a:t>
            </a:r>
          </a:p>
        </p:txBody>
      </p:sp>
      <p:sp>
        <p:nvSpPr>
          <p:cNvPr id="12" name="sentence-2">
            <a:extLst xmlns:a="http://schemas.openxmlformats.org/drawingml/2006/main">
              <a:ext uri="{FF2B5EF4-FFF2-40B4-BE49-F238E27FC236}">
                <a16:creationId xmlns:a16="http://schemas.microsoft.com/office/drawing/2014/main" id="{3DEAA760-448D-49AA-91BC-9845CA44E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33750"/>
            <a:ext cx="8362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School nutrition programmes provide a useful example of how early intervention can prevent more serious and expensive problems in the future.</a:t>
            </a:r>
          </a:p>
        </p:txBody>
      </p:sp>
      <p:sp>
        <p:nvSpPr>
          <p:cNvPr id="13" name="sentence-row-3">
            <a:extLst xmlns:a="http://schemas.openxmlformats.org/drawingml/2006/main">
              <a:ext uri="{FF2B5EF4-FFF2-40B4-BE49-F238E27FC236}">
                <a16:creationId xmlns:a16="http://schemas.microsoft.com/office/drawing/2014/main" id="{8757C6D6-B8AC-4E08-9B47-4B241CACB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10382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text-92-500">
            <a:extLst xmlns:a="http://schemas.openxmlformats.org/drawingml/2006/main">
              <a:ext uri="{FF2B5EF4-FFF2-40B4-BE49-F238E27FC236}">
                <a16:creationId xmlns:a16="http://schemas.microsoft.com/office/drawing/2014/main" id="{D5943133-78B9-4152-A3BA-AAC20437E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EMPLOYMENT</a:t>
            </a:r>
          </a:p>
        </p:txBody>
      </p:sp>
      <p:sp>
        <p:nvSpPr>
          <p:cNvPr id="15" name="text-92-532">
            <a:extLst xmlns:a="http://schemas.openxmlformats.org/drawingml/2006/main">
              <a:ext uri="{FF2B5EF4-FFF2-40B4-BE49-F238E27FC236}">
                <a16:creationId xmlns:a16="http://schemas.microsoft.com/office/drawing/2014/main" id="{10E4BF45-D3EA-4E55-92D4-E3295724D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Wellbeing at work</a:t>
            </a:r>
          </a:p>
        </p:txBody>
      </p:sp>
      <p:sp>
        <p:nvSpPr>
          <p:cNvPr id="16" name="sentence-3">
            <a:extLst xmlns:a="http://schemas.openxmlformats.org/drawingml/2006/main">
              <a:ext uri="{FF2B5EF4-FFF2-40B4-BE49-F238E27FC236}">
                <a16:creationId xmlns:a16="http://schemas.microsoft.com/office/drawing/2014/main" id="{28A1C736-209D-44A4-B0C2-2FEA7E06C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62500"/>
            <a:ext cx="8362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Mental-health support in workplaces illustrates that productivity and personal wellbeing should not be treated as competing priorities.</a:t>
            </a:r>
          </a:p>
        </p:txBody>
      </p:sp>
      <p:sp>
        <p:nvSpPr>
          <p:cNvPr id="17" name="rect-70-625">
            <a:extLst xmlns:a="http://schemas.openxmlformats.org/drawingml/2006/main">
              <a:ext uri="{FF2B5EF4-FFF2-40B4-BE49-F238E27FC236}">
                <a16:creationId xmlns:a16="http://schemas.microsoft.com/office/drawing/2014/main" id="{E09EF33D-CF9E-47B9-8BCE-1B0084731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1038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8" name="text-90-630">
            <a:extLst xmlns:a="http://schemas.openxmlformats.org/drawingml/2006/main">
              <a:ext uri="{FF2B5EF4-FFF2-40B4-BE49-F238E27FC236}">
                <a16:creationId xmlns:a16="http://schemas.microsoft.com/office/drawing/2014/main" id="{078369FF-DDCF-47DA-9A09-43361023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007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Bridge first → give the example → connect it to the main argument</a:t>
            </a:r>
          </a:p>
        </p:txBody>
      </p:sp>
    </p:spTree>
    <p:extLst>
      <p:ext uri="{BB962C8B-B14F-4D97-AF65-F5344CB8AC3E}">
        <p14:creationId xmlns:p14="http://schemas.microsoft.com/office/powerpoint/2010/main" val="76085207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15">
            <a:extLst xmlns:a="http://schemas.openxmlformats.org/drawingml/2006/main">
              <a:ext uri="{FF2B5EF4-FFF2-40B4-BE49-F238E27FC236}">
                <a16:creationId xmlns:a16="http://schemas.microsoft.com/office/drawing/2014/main" id="{ABD0A3A9-9A23-46FA-821C-8CE98ABE5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MAIN-TOPIC BODY SENTENCES</a:t>
            </a:r>
          </a:p>
        </p:txBody>
      </p:sp>
      <p:sp>
        <p:nvSpPr>
          <p:cNvPr id="2" name="title-15">
            <a:extLst xmlns:a="http://schemas.openxmlformats.org/drawingml/2006/main">
              <a:ext uri="{FF2B5EF4-FFF2-40B4-BE49-F238E27FC236}">
                <a16:creationId xmlns:a16="http://schemas.microsoft.com/office/drawing/2014/main" id="{A7925569-B459-4BB2-9A7E-73AB3CED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Environment: choose the line that fits</a:t>
            </a:r>
          </a:p>
        </p:txBody>
      </p:sp>
      <p:sp>
        <p:nvSpPr>
          <p:cNvPr id="3" name="rule-15">
            <a:extLst xmlns:a="http://schemas.openxmlformats.org/drawingml/2006/main">
              <a:ext uri="{FF2B5EF4-FFF2-40B4-BE49-F238E27FC236}">
                <a16:creationId xmlns:a16="http://schemas.microsoft.com/office/drawing/2014/main" id="{3CDB1737-634A-48CE-AED0-921A8938D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BFEE057D-21F0-44AD-A02D-941B0F1A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15</a:t>
            </a:r>
          </a:p>
        </p:txBody>
      </p:sp>
      <p:sp>
        <p:nvSpPr>
          <p:cNvPr id="5" name="sentence-row-1">
            <a:extLst xmlns:a="http://schemas.openxmlformats.org/drawingml/2006/main">
              <a:ext uri="{FF2B5EF4-FFF2-40B4-BE49-F238E27FC236}">
                <a16:creationId xmlns:a16="http://schemas.microsoft.com/office/drawing/2014/main" id="{C1E0FAF1-5B1D-475C-A859-7CE7F97B5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10382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text-92-200">
            <a:extLst xmlns:a="http://schemas.openxmlformats.org/drawingml/2006/main">
              <a:ext uri="{FF2B5EF4-FFF2-40B4-BE49-F238E27FC236}">
                <a16:creationId xmlns:a16="http://schemas.microsoft.com/office/drawing/2014/main" id="{2A2E72AF-8210-4406-B1AE-179BE2DF3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7A55"/>
                </a:solidFill>
              </a:defRPr>
            </a:pPr>
            <a:r>
              <a:rPr sz="1200" b="1">
                <a:solidFill>
                  <a:srgbClr val="157A55"/>
                </a:solidFill>
              </a:rPr>
              <a:t>BENEFIT</a:t>
            </a:r>
          </a:p>
        </p:txBody>
      </p:sp>
      <p:sp>
        <p:nvSpPr>
          <p:cNvPr id="7" name="text-92-232">
            <a:extLst xmlns:a="http://schemas.openxmlformats.org/drawingml/2006/main">
              <a:ext uri="{FF2B5EF4-FFF2-40B4-BE49-F238E27FC236}">
                <a16:creationId xmlns:a16="http://schemas.microsoft.com/office/drawing/2014/main" id="{1A2DBCA8-731C-4155-8300-7AED7805E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Health and economic value</a:t>
            </a:r>
          </a:p>
        </p:txBody>
      </p:sp>
      <p:sp>
        <p:nvSpPr>
          <p:cNvPr id="8" name="sentence-1">
            <a:extLst xmlns:a="http://schemas.openxmlformats.org/drawingml/2006/main">
              <a:ext uri="{FF2B5EF4-FFF2-40B4-BE49-F238E27FC236}">
                <a16:creationId xmlns:a16="http://schemas.microsoft.com/office/drawing/2014/main" id="{21A6658E-3F67-4425-97A9-FED38A29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05000"/>
            <a:ext cx="8362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Environmental protection is not merely an ecological concern; it is also a public-health and economic necessity.</a:t>
            </a:r>
          </a:p>
        </p:txBody>
      </p:sp>
      <p:sp>
        <p:nvSpPr>
          <p:cNvPr id="9" name="sentence-row-2">
            <a:extLst xmlns:a="http://schemas.openxmlformats.org/drawingml/2006/main">
              <a:ext uri="{FF2B5EF4-FFF2-40B4-BE49-F238E27FC236}">
                <a16:creationId xmlns:a16="http://schemas.microsoft.com/office/drawing/2014/main" id="{E42ABCA8-5AE6-469E-A57A-BA6CDAD1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10382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text-92-350">
            <a:extLst xmlns:a="http://schemas.openxmlformats.org/drawingml/2006/main">
              <a:ext uri="{FF2B5EF4-FFF2-40B4-BE49-F238E27FC236}">
                <a16:creationId xmlns:a16="http://schemas.microsoft.com/office/drawing/2014/main" id="{104291EA-B6EB-4758-B598-35637A6F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3939"/>
                </a:solidFill>
              </a:defRPr>
            </a:pPr>
            <a:r>
              <a:rPr sz="1200" b="1">
                <a:solidFill>
                  <a:srgbClr val="C93939"/>
                </a:solidFill>
              </a:rPr>
              <a:t>LIMITATION</a:t>
            </a:r>
          </a:p>
        </p:txBody>
      </p:sp>
      <p:sp>
        <p:nvSpPr>
          <p:cNvPr id="11" name="text-92-382">
            <a:extLst xmlns:a="http://schemas.openxmlformats.org/drawingml/2006/main">
              <a:ext uri="{FF2B5EF4-FFF2-40B4-BE49-F238E27FC236}">
                <a16:creationId xmlns:a16="http://schemas.microsoft.com/office/drawing/2014/main" id="{EA2A2A39-9B23-4E2C-99A6-7DA15FBB7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Delay raises the cost</a:t>
            </a:r>
          </a:p>
        </p:txBody>
      </p:sp>
      <p:sp>
        <p:nvSpPr>
          <p:cNvPr id="12" name="sentence-2">
            <a:extLst xmlns:a="http://schemas.openxmlformats.org/drawingml/2006/main">
              <a:ext uri="{FF2B5EF4-FFF2-40B4-BE49-F238E27FC236}">
                <a16:creationId xmlns:a16="http://schemas.microsoft.com/office/drawing/2014/main" id="{374805BC-B2A3-417F-A1B0-4B9FE0A07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33750"/>
            <a:ext cx="8362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Although environmental regulations may involve short-term expenses, delaying action usually transfers much greater costs to future generations.</a:t>
            </a:r>
          </a:p>
        </p:txBody>
      </p:sp>
      <p:sp>
        <p:nvSpPr>
          <p:cNvPr id="13" name="sentence-row-3">
            <a:extLst xmlns:a="http://schemas.openxmlformats.org/drawingml/2006/main">
              <a:ext uri="{FF2B5EF4-FFF2-40B4-BE49-F238E27FC236}">
                <a16:creationId xmlns:a16="http://schemas.microsoft.com/office/drawing/2014/main" id="{A2BA0E7F-0296-444C-B1F2-6CFF72E8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10382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text-92-500">
            <a:extLst xmlns:a="http://schemas.openxmlformats.org/drawingml/2006/main">
              <a:ext uri="{FF2B5EF4-FFF2-40B4-BE49-F238E27FC236}">
                <a16:creationId xmlns:a16="http://schemas.microsoft.com/office/drawing/2014/main" id="{E26E7483-7CA0-473D-ABC3-5F2F7227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JUDGEMENT</a:t>
            </a:r>
          </a:p>
        </p:txBody>
      </p:sp>
      <p:sp>
        <p:nvSpPr>
          <p:cNvPr id="15" name="text-92-532">
            <a:extLst xmlns:a="http://schemas.openxmlformats.org/drawingml/2006/main">
              <a:ext uri="{FF2B5EF4-FFF2-40B4-BE49-F238E27FC236}">
                <a16:creationId xmlns:a16="http://schemas.microsoft.com/office/drawing/2014/main" id="{491F9AE8-2AB1-4A7D-A130-D3A5A7F1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Responsibility is shared</a:t>
            </a:r>
          </a:p>
        </p:txBody>
      </p:sp>
      <p:sp>
        <p:nvSpPr>
          <p:cNvPr id="16" name="sentence-3">
            <a:extLst xmlns:a="http://schemas.openxmlformats.org/drawingml/2006/main">
              <a:ext uri="{FF2B5EF4-FFF2-40B4-BE49-F238E27FC236}">
                <a16:creationId xmlns:a16="http://schemas.microsoft.com/office/drawing/2014/main" id="{7F09BF24-9754-4A36-BB49-FEFDECF2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62500"/>
            <a:ext cx="8362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Meaningful environmental progress requires shared responsibility among governments, businesses and individual consumers.</a:t>
            </a:r>
          </a:p>
        </p:txBody>
      </p:sp>
      <p:sp>
        <p:nvSpPr>
          <p:cNvPr id="17" name="text-70-641">
            <a:extLst xmlns:a="http://schemas.openxmlformats.org/drawingml/2006/main">
              <a:ext uri="{FF2B5EF4-FFF2-40B4-BE49-F238E27FC236}">
                <a16:creationId xmlns:a16="http://schemas.microsoft.com/office/drawing/2014/main" id="{887B7A45-4A72-4DAC-9B8B-44DCE675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05525"/>
            <a:ext cx="838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3"/>
                </a:solidFill>
              </a:defRPr>
            </a:pPr>
            <a:r>
              <a:rPr sz="1350" b="1">
                <a:solidFill>
                  <a:srgbClr val="5E6673"/>
                </a:solidFill>
              </a:rPr>
              <a:t>Use one line only. Then explain it in your own words.</a:t>
            </a:r>
          </a:p>
        </p:txBody>
      </p:sp>
    </p:spTree>
    <p:extLst>
      <p:ext uri="{BB962C8B-B14F-4D97-AF65-F5344CB8AC3E}">
        <p14:creationId xmlns:p14="http://schemas.microsoft.com/office/powerpoint/2010/main" val="66564242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16">
            <a:extLst xmlns:a="http://schemas.openxmlformats.org/drawingml/2006/main">
              <a:ext uri="{FF2B5EF4-FFF2-40B4-BE49-F238E27FC236}">
                <a16:creationId xmlns:a16="http://schemas.microsoft.com/office/drawing/2014/main" id="{45EC65BD-3B18-42DE-B394-5AA4D039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CROSS-TOPIC EXAMPLES</a:t>
            </a:r>
          </a:p>
        </p:txBody>
      </p:sp>
      <p:sp>
        <p:nvSpPr>
          <p:cNvPr id="2" name="title-16">
            <a:extLst xmlns:a="http://schemas.openxmlformats.org/drawingml/2006/main">
              <a:ext uri="{FF2B5EF4-FFF2-40B4-BE49-F238E27FC236}">
                <a16:creationId xmlns:a16="http://schemas.microsoft.com/office/drawing/2014/main" id="{5852DC5D-D5AE-4ABB-96DA-7E214FB8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Environment: borrow an example</a:t>
            </a:r>
          </a:p>
        </p:txBody>
      </p:sp>
      <p:sp>
        <p:nvSpPr>
          <p:cNvPr id="3" name="rule-16">
            <a:extLst xmlns:a="http://schemas.openxmlformats.org/drawingml/2006/main">
              <a:ext uri="{FF2B5EF4-FFF2-40B4-BE49-F238E27FC236}">
                <a16:creationId xmlns:a16="http://schemas.microsoft.com/office/drawing/2014/main" id="{43914517-7850-4120-B29F-02B1FE2A7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16">
            <a:extLst xmlns:a="http://schemas.openxmlformats.org/drawingml/2006/main">
              <a:ext uri="{FF2B5EF4-FFF2-40B4-BE49-F238E27FC236}">
                <a16:creationId xmlns:a16="http://schemas.microsoft.com/office/drawing/2014/main" id="{5B86391E-EAB4-4858-B912-34A906C3D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16</a:t>
            </a:r>
          </a:p>
        </p:txBody>
      </p:sp>
      <p:sp>
        <p:nvSpPr>
          <p:cNvPr id="5" name="sentence-row-1">
            <a:extLst xmlns:a="http://schemas.openxmlformats.org/drawingml/2006/main">
              <a:ext uri="{FF2B5EF4-FFF2-40B4-BE49-F238E27FC236}">
                <a16:creationId xmlns:a16="http://schemas.microsoft.com/office/drawing/2014/main" id="{2EC5830E-4B94-4D0F-B102-CBFDDCE1F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10382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text-92-200">
            <a:extLst xmlns:a="http://schemas.openxmlformats.org/drawingml/2006/main">
              <a:ext uri="{FF2B5EF4-FFF2-40B4-BE49-F238E27FC236}">
                <a16:creationId xmlns:a16="http://schemas.microsoft.com/office/drawing/2014/main" id="{3E871794-75C1-45FE-A085-DD5F482F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TRANSPORT</a:t>
            </a:r>
          </a:p>
        </p:txBody>
      </p:sp>
      <p:sp>
        <p:nvSpPr>
          <p:cNvPr id="7" name="text-92-232">
            <a:extLst xmlns:a="http://schemas.openxmlformats.org/drawingml/2006/main">
              <a:ext uri="{FF2B5EF4-FFF2-40B4-BE49-F238E27FC236}">
                <a16:creationId xmlns:a16="http://schemas.microsoft.com/office/drawing/2014/main" id="{F77B3EA0-DB03-4D53-B50D-BD5EEAC2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Multiple gains</a:t>
            </a:r>
          </a:p>
        </p:txBody>
      </p:sp>
      <p:sp>
        <p:nvSpPr>
          <p:cNvPr id="8" name="sentence-1">
            <a:extLst xmlns:a="http://schemas.openxmlformats.org/drawingml/2006/main">
              <a:ext uri="{FF2B5EF4-FFF2-40B4-BE49-F238E27FC236}">
                <a16:creationId xmlns:a16="http://schemas.microsoft.com/office/drawing/2014/main" id="{107A2E59-F5F6-45FF-8507-B1E38871A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05000"/>
            <a:ext cx="8362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Investment in public transportation demonstrates how one policy can reduce pollution, traffic congestion and household transportation costs simultaneously.</a:t>
            </a:r>
          </a:p>
        </p:txBody>
      </p:sp>
      <p:sp>
        <p:nvSpPr>
          <p:cNvPr id="9" name="sentence-row-2">
            <a:extLst xmlns:a="http://schemas.openxmlformats.org/drawingml/2006/main">
              <a:ext uri="{FF2B5EF4-FFF2-40B4-BE49-F238E27FC236}">
                <a16:creationId xmlns:a16="http://schemas.microsoft.com/office/drawing/2014/main" id="{381979F5-FEB7-4880-8C30-09777C85E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10382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text-92-350">
            <a:extLst xmlns:a="http://schemas.openxmlformats.org/drawingml/2006/main">
              <a:ext uri="{FF2B5EF4-FFF2-40B4-BE49-F238E27FC236}">
                <a16:creationId xmlns:a16="http://schemas.microsoft.com/office/drawing/2014/main" id="{8ED63F82-E27C-45FD-BEA9-DCD33A8F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ENERGY</a:t>
            </a:r>
          </a:p>
        </p:txBody>
      </p:sp>
      <p:sp>
        <p:nvSpPr>
          <p:cNvPr id="11" name="text-92-382">
            <a:extLst xmlns:a="http://schemas.openxmlformats.org/drawingml/2006/main">
              <a:ext uri="{FF2B5EF4-FFF2-40B4-BE49-F238E27FC236}">
                <a16:creationId xmlns:a16="http://schemas.microsoft.com/office/drawing/2014/main" id="{A207F3A4-AA64-49A0-B1C7-9E665C29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Long-term return</a:t>
            </a:r>
          </a:p>
        </p:txBody>
      </p:sp>
      <p:sp>
        <p:nvSpPr>
          <p:cNvPr id="12" name="sentence-2">
            <a:extLst xmlns:a="http://schemas.openxmlformats.org/drawingml/2006/main">
              <a:ext uri="{FF2B5EF4-FFF2-40B4-BE49-F238E27FC236}">
                <a16:creationId xmlns:a16="http://schemas.microsoft.com/office/drawing/2014/main" id="{010810E2-A797-41B4-BDE6-BC35E46A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33750"/>
            <a:ext cx="8362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Renewable energy provides a relevant example because an initial financial investment can produce substantial long-term social and economic benefits.</a:t>
            </a:r>
          </a:p>
        </p:txBody>
      </p:sp>
      <p:sp>
        <p:nvSpPr>
          <p:cNvPr id="13" name="sentence-row-3">
            <a:extLst xmlns:a="http://schemas.openxmlformats.org/drawingml/2006/main">
              <a:ext uri="{FF2B5EF4-FFF2-40B4-BE49-F238E27FC236}">
                <a16:creationId xmlns:a16="http://schemas.microsoft.com/office/drawing/2014/main" id="{89476E90-96F7-4FC7-94A2-D96DA98A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10382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text-92-500">
            <a:extLst xmlns:a="http://schemas.openxmlformats.org/drawingml/2006/main">
              <a:ext uri="{FF2B5EF4-FFF2-40B4-BE49-F238E27FC236}">
                <a16:creationId xmlns:a16="http://schemas.microsoft.com/office/drawing/2014/main" id="{099B5DAC-E1A0-449D-B95E-A4D181C7B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CONSUMPTION</a:t>
            </a:r>
          </a:p>
        </p:txBody>
      </p:sp>
      <p:sp>
        <p:nvSpPr>
          <p:cNvPr id="15" name="text-92-532">
            <a:extLst xmlns:a="http://schemas.openxmlformats.org/drawingml/2006/main">
              <a:ext uri="{FF2B5EF4-FFF2-40B4-BE49-F238E27FC236}">
                <a16:creationId xmlns:a16="http://schemas.microsoft.com/office/drawing/2014/main" id="{793DABC4-86E9-4D2F-8EBE-173281E6C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Combined action</a:t>
            </a:r>
          </a:p>
        </p:txBody>
      </p:sp>
      <p:sp>
        <p:nvSpPr>
          <p:cNvPr id="16" name="sentence-3">
            <a:extLst xmlns:a="http://schemas.openxmlformats.org/drawingml/2006/main">
              <a:ext uri="{FF2B5EF4-FFF2-40B4-BE49-F238E27FC236}">
                <a16:creationId xmlns:a16="http://schemas.microsoft.com/office/drawing/2014/main" id="{6385E1D5-922B-49E7-9E74-5ECE32851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62500"/>
            <a:ext cx="8362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Restrictions on single-use plastics illustrate how government regulation and changes in consumer behaviour can work together.</a:t>
            </a:r>
          </a:p>
        </p:txBody>
      </p:sp>
      <p:sp>
        <p:nvSpPr>
          <p:cNvPr id="17" name="rect-70-625">
            <a:extLst xmlns:a="http://schemas.openxmlformats.org/drawingml/2006/main">
              <a:ext uri="{FF2B5EF4-FFF2-40B4-BE49-F238E27FC236}">
                <a16:creationId xmlns:a16="http://schemas.microsoft.com/office/drawing/2014/main" id="{6C9CE3AB-38D9-45F3-B9A3-F773A3D34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1038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8" name="text-90-630">
            <a:extLst xmlns:a="http://schemas.openxmlformats.org/drawingml/2006/main">
              <a:ext uri="{FF2B5EF4-FFF2-40B4-BE49-F238E27FC236}">
                <a16:creationId xmlns:a16="http://schemas.microsoft.com/office/drawing/2014/main" id="{90F546EA-E7F5-4634-A740-42BE73CB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007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Bridge first → give the example → connect it to the main argument</a:t>
            </a:r>
          </a:p>
        </p:txBody>
      </p:sp>
    </p:spTree>
    <p:extLst>
      <p:ext uri="{BB962C8B-B14F-4D97-AF65-F5344CB8AC3E}">
        <p14:creationId xmlns:p14="http://schemas.microsoft.com/office/powerpoint/2010/main" val="86688060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17">
            <a:extLst xmlns:a="http://schemas.openxmlformats.org/drawingml/2006/main">
              <a:ext uri="{FF2B5EF4-FFF2-40B4-BE49-F238E27FC236}">
                <a16:creationId xmlns:a16="http://schemas.microsoft.com/office/drawing/2014/main" id="{74265976-E265-4DB4-8461-4D77C323B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MAIN-TOPIC BODY SENTENCES</a:t>
            </a:r>
          </a:p>
        </p:txBody>
      </p:sp>
      <p:sp>
        <p:nvSpPr>
          <p:cNvPr id="2" name="title-17">
            <a:extLst xmlns:a="http://schemas.openxmlformats.org/drawingml/2006/main">
              <a:ext uri="{FF2B5EF4-FFF2-40B4-BE49-F238E27FC236}">
                <a16:creationId xmlns:a16="http://schemas.microsoft.com/office/drawing/2014/main" id="{5D873392-B28A-4649-8282-B5F112DC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Society and government: choose the line that fits</a:t>
            </a:r>
          </a:p>
        </p:txBody>
      </p:sp>
      <p:sp>
        <p:nvSpPr>
          <p:cNvPr id="3" name="rule-17">
            <a:extLst xmlns:a="http://schemas.openxmlformats.org/drawingml/2006/main">
              <a:ext uri="{FF2B5EF4-FFF2-40B4-BE49-F238E27FC236}">
                <a16:creationId xmlns:a16="http://schemas.microsoft.com/office/drawing/2014/main" id="{362711DA-EAFE-45F9-8ED1-41A24729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17">
            <a:extLst xmlns:a="http://schemas.openxmlformats.org/drawingml/2006/main">
              <a:ext uri="{FF2B5EF4-FFF2-40B4-BE49-F238E27FC236}">
                <a16:creationId xmlns:a16="http://schemas.microsoft.com/office/drawing/2014/main" id="{1C802E82-8FE7-4470-AE4D-704FE8411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17</a:t>
            </a:r>
          </a:p>
        </p:txBody>
      </p:sp>
      <p:sp>
        <p:nvSpPr>
          <p:cNvPr id="5" name="sentence-row-1">
            <a:extLst xmlns:a="http://schemas.openxmlformats.org/drawingml/2006/main">
              <a:ext uri="{FF2B5EF4-FFF2-40B4-BE49-F238E27FC236}">
                <a16:creationId xmlns:a16="http://schemas.microsoft.com/office/drawing/2014/main" id="{B9CFAFD2-564E-4D5D-8904-E7431CF5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10382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text-92-200">
            <a:extLst xmlns:a="http://schemas.openxmlformats.org/drawingml/2006/main">
              <a:ext uri="{FF2B5EF4-FFF2-40B4-BE49-F238E27FC236}">
                <a16:creationId xmlns:a16="http://schemas.microsoft.com/office/drawing/2014/main" id="{2267A89C-F446-48A7-9D3E-317F8D012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7A55"/>
                </a:solidFill>
              </a:defRPr>
            </a:pPr>
            <a:r>
              <a:rPr sz="1200" b="1">
                <a:solidFill>
                  <a:srgbClr val="157A55"/>
                </a:solidFill>
              </a:rPr>
              <a:t>PRINCIPLE</a:t>
            </a:r>
          </a:p>
        </p:txBody>
      </p:sp>
      <p:sp>
        <p:nvSpPr>
          <p:cNvPr id="7" name="text-92-232">
            <a:extLst xmlns:a="http://schemas.openxmlformats.org/drawingml/2006/main">
              <a:ext uri="{FF2B5EF4-FFF2-40B4-BE49-F238E27FC236}">
                <a16:creationId xmlns:a16="http://schemas.microsoft.com/office/drawing/2014/main" id="{DA388271-E3FB-4F1C-817C-25B89FF76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Freedom and responsibility</a:t>
            </a:r>
          </a:p>
        </p:txBody>
      </p:sp>
      <p:sp>
        <p:nvSpPr>
          <p:cNvPr id="8" name="sentence-1">
            <a:extLst xmlns:a="http://schemas.openxmlformats.org/drawingml/2006/main">
              <a:ext uri="{FF2B5EF4-FFF2-40B4-BE49-F238E27FC236}">
                <a16:creationId xmlns:a16="http://schemas.microsoft.com/office/drawing/2014/main" id="{A152FB4B-A52A-4674-9DA7-2219A316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05000"/>
            <a:ext cx="8362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A stable society depends on a fair balance between individual freedom and collective responsibility.</a:t>
            </a:r>
          </a:p>
        </p:txBody>
      </p:sp>
      <p:sp>
        <p:nvSpPr>
          <p:cNvPr id="9" name="sentence-row-2">
            <a:extLst xmlns:a="http://schemas.openxmlformats.org/drawingml/2006/main">
              <a:ext uri="{FF2B5EF4-FFF2-40B4-BE49-F238E27FC236}">
                <a16:creationId xmlns:a16="http://schemas.microsoft.com/office/drawing/2014/main" id="{3C6C13DD-D46F-439C-B8E5-8C1E4E2D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10382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text-92-350">
            <a:extLst xmlns:a="http://schemas.openxmlformats.org/drawingml/2006/main">
              <a:ext uri="{FF2B5EF4-FFF2-40B4-BE49-F238E27FC236}">
                <a16:creationId xmlns:a16="http://schemas.microsoft.com/office/drawing/2014/main" id="{D805F944-61A0-48DE-90A7-18A09BDF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3939"/>
                </a:solidFill>
              </a:defRPr>
            </a:pPr>
            <a:r>
              <a:rPr sz="1200" b="1">
                <a:solidFill>
                  <a:srgbClr val="C93939"/>
                </a:solidFill>
              </a:rPr>
              <a:t>LIMITATION</a:t>
            </a:r>
          </a:p>
        </p:txBody>
      </p:sp>
      <p:sp>
        <p:nvSpPr>
          <p:cNvPr id="11" name="text-92-382">
            <a:extLst xmlns:a="http://schemas.openxmlformats.org/drawingml/2006/main">
              <a:ext uri="{FF2B5EF4-FFF2-40B4-BE49-F238E27FC236}">
                <a16:creationId xmlns:a16="http://schemas.microsoft.com/office/drawing/2014/main" id="{7A370BF2-5EA9-478E-A824-57B2EE84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Intervention needs limits</a:t>
            </a:r>
          </a:p>
        </p:txBody>
      </p:sp>
      <p:sp>
        <p:nvSpPr>
          <p:cNvPr id="12" name="sentence-2">
            <a:extLst xmlns:a="http://schemas.openxmlformats.org/drawingml/2006/main">
              <a:ext uri="{FF2B5EF4-FFF2-40B4-BE49-F238E27FC236}">
                <a16:creationId xmlns:a16="http://schemas.microsoft.com/office/drawing/2014/main" id="{A797D6F0-5F2C-455A-AF41-8D708B30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33750"/>
            <a:ext cx="8362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Government intervention is justified when private behaviour causes significant public harm; however, such policies should be proportionate, evidence-based and fairly enforced.</a:t>
            </a:r>
          </a:p>
        </p:txBody>
      </p:sp>
      <p:sp>
        <p:nvSpPr>
          <p:cNvPr id="13" name="sentence-row-3">
            <a:extLst xmlns:a="http://schemas.openxmlformats.org/drawingml/2006/main">
              <a:ext uri="{FF2B5EF4-FFF2-40B4-BE49-F238E27FC236}">
                <a16:creationId xmlns:a16="http://schemas.microsoft.com/office/drawing/2014/main" id="{28F6AEFE-7E25-4624-A0E5-7D92D767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10382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text-92-500">
            <a:extLst xmlns:a="http://schemas.openxmlformats.org/drawingml/2006/main">
              <a:ext uri="{FF2B5EF4-FFF2-40B4-BE49-F238E27FC236}">
                <a16:creationId xmlns:a16="http://schemas.microsoft.com/office/drawing/2014/main" id="{5B3BFB3B-BF9E-40BC-B852-1F81BE1D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JUDGEMENT</a:t>
            </a:r>
          </a:p>
        </p:txBody>
      </p:sp>
      <p:sp>
        <p:nvSpPr>
          <p:cNvPr id="15" name="text-92-532">
            <a:extLst xmlns:a="http://schemas.openxmlformats.org/drawingml/2006/main">
              <a:ext uri="{FF2B5EF4-FFF2-40B4-BE49-F238E27FC236}">
                <a16:creationId xmlns:a16="http://schemas.microsoft.com/office/drawing/2014/main" id="{E39B1796-5798-4E1C-B3D0-642365F77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Progress must be inclusive</a:t>
            </a:r>
          </a:p>
        </p:txBody>
      </p:sp>
      <p:sp>
        <p:nvSpPr>
          <p:cNvPr id="16" name="sentence-3">
            <a:extLst xmlns:a="http://schemas.openxmlformats.org/drawingml/2006/main">
              <a:ext uri="{FF2B5EF4-FFF2-40B4-BE49-F238E27FC236}">
                <a16:creationId xmlns:a16="http://schemas.microsoft.com/office/drawing/2014/main" id="{07EAECBB-AF95-412E-9A53-C46E8C8F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62500"/>
            <a:ext cx="8362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Long-term social progress is most likely when economic development is accompanied by equal opportunity and protection for vulnerable groups.</a:t>
            </a:r>
          </a:p>
        </p:txBody>
      </p:sp>
      <p:sp>
        <p:nvSpPr>
          <p:cNvPr id="17" name="text-70-641">
            <a:extLst xmlns:a="http://schemas.openxmlformats.org/drawingml/2006/main">
              <a:ext uri="{FF2B5EF4-FFF2-40B4-BE49-F238E27FC236}">
                <a16:creationId xmlns:a16="http://schemas.microsoft.com/office/drawing/2014/main" id="{2F4C4129-6D58-48F1-A2CF-CCBB077A5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05525"/>
            <a:ext cx="838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3"/>
                </a:solidFill>
              </a:defRPr>
            </a:pPr>
            <a:r>
              <a:rPr sz="1350" b="1">
                <a:solidFill>
                  <a:srgbClr val="5E6673"/>
                </a:solidFill>
              </a:rPr>
              <a:t>Use one line only. Then explain it in your own words.</a:t>
            </a:r>
          </a:p>
        </p:txBody>
      </p:sp>
    </p:spTree>
    <p:extLst>
      <p:ext uri="{BB962C8B-B14F-4D97-AF65-F5344CB8AC3E}">
        <p14:creationId xmlns:p14="http://schemas.microsoft.com/office/powerpoint/2010/main" val="114837466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18">
            <a:extLst xmlns:a="http://schemas.openxmlformats.org/drawingml/2006/main">
              <a:ext uri="{FF2B5EF4-FFF2-40B4-BE49-F238E27FC236}">
                <a16:creationId xmlns:a16="http://schemas.microsoft.com/office/drawing/2014/main" id="{0887F68E-2436-470D-B30A-7A3198EDC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CROSS-TOPIC EXAMPLES</a:t>
            </a:r>
          </a:p>
        </p:txBody>
      </p:sp>
      <p:sp>
        <p:nvSpPr>
          <p:cNvPr id="2" name="title-18">
            <a:extLst xmlns:a="http://schemas.openxmlformats.org/drawingml/2006/main">
              <a:ext uri="{FF2B5EF4-FFF2-40B4-BE49-F238E27FC236}">
                <a16:creationId xmlns:a16="http://schemas.microsoft.com/office/drawing/2014/main" id="{FC6D3377-BCA3-43A4-AD4A-36229DFD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Society and government: borrow an example</a:t>
            </a:r>
          </a:p>
        </p:txBody>
      </p:sp>
      <p:sp>
        <p:nvSpPr>
          <p:cNvPr id="3" name="rule-18">
            <a:extLst xmlns:a="http://schemas.openxmlformats.org/drawingml/2006/main">
              <a:ext uri="{FF2B5EF4-FFF2-40B4-BE49-F238E27FC236}">
                <a16:creationId xmlns:a16="http://schemas.microsoft.com/office/drawing/2014/main" id="{16B89321-A6DC-4C62-B110-20EEEA02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18">
            <a:extLst xmlns:a="http://schemas.openxmlformats.org/drawingml/2006/main">
              <a:ext uri="{FF2B5EF4-FFF2-40B4-BE49-F238E27FC236}">
                <a16:creationId xmlns:a16="http://schemas.microsoft.com/office/drawing/2014/main" id="{CE0BEDCC-0B7A-440C-8BFB-9B1107C2C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18</a:t>
            </a:r>
          </a:p>
        </p:txBody>
      </p:sp>
      <p:sp>
        <p:nvSpPr>
          <p:cNvPr id="5" name="sentence-row-1">
            <a:extLst xmlns:a="http://schemas.openxmlformats.org/drawingml/2006/main">
              <a:ext uri="{FF2B5EF4-FFF2-40B4-BE49-F238E27FC236}">
                <a16:creationId xmlns:a16="http://schemas.microsoft.com/office/drawing/2014/main" id="{D6C880CD-4ECC-4E4B-A1FA-F7F362E1E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10382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text-92-200">
            <a:extLst xmlns:a="http://schemas.openxmlformats.org/drawingml/2006/main">
              <a:ext uri="{FF2B5EF4-FFF2-40B4-BE49-F238E27FC236}">
                <a16:creationId xmlns:a16="http://schemas.microsoft.com/office/drawing/2014/main" id="{B6449D1A-44B6-4C2F-8DEB-0723DBCC3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CHILDREN</a:t>
            </a:r>
          </a:p>
        </p:txBody>
      </p:sp>
      <p:sp>
        <p:nvSpPr>
          <p:cNvPr id="7" name="text-92-232">
            <a:extLst xmlns:a="http://schemas.openxmlformats.org/drawingml/2006/main">
              <a:ext uri="{FF2B5EF4-FFF2-40B4-BE49-F238E27FC236}">
                <a16:creationId xmlns:a16="http://schemas.microsoft.com/office/drawing/2014/main" id="{949FFE15-D9EF-4C81-AF8F-29191181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Protecting the vulnerable</a:t>
            </a:r>
          </a:p>
        </p:txBody>
      </p:sp>
      <p:sp>
        <p:nvSpPr>
          <p:cNvPr id="8" name="sentence-1">
            <a:extLst xmlns:a="http://schemas.openxmlformats.org/drawingml/2006/main">
              <a:ext uri="{FF2B5EF4-FFF2-40B4-BE49-F238E27FC236}">
                <a16:creationId xmlns:a16="http://schemas.microsoft.com/office/drawing/2014/main" id="{73E8EC38-133D-4B2F-BEB7-C9D9470B1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05000"/>
            <a:ext cx="8362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Restrictions on harmful advertisements aimed at children illustrate how proportionate regulation can protect vulnerable groups without completely removing individual choice.</a:t>
            </a:r>
          </a:p>
        </p:txBody>
      </p:sp>
      <p:sp>
        <p:nvSpPr>
          <p:cNvPr id="9" name="sentence-row-2">
            <a:extLst xmlns:a="http://schemas.openxmlformats.org/drawingml/2006/main">
              <a:ext uri="{FF2B5EF4-FFF2-40B4-BE49-F238E27FC236}">
                <a16:creationId xmlns:a16="http://schemas.microsoft.com/office/drawing/2014/main" id="{B9B6661A-69A4-4306-8A95-312DF9322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10382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text-92-350">
            <a:extLst xmlns:a="http://schemas.openxmlformats.org/drawingml/2006/main">
              <a:ext uri="{FF2B5EF4-FFF2-40B4-BE49-F238E27FC236}">
                <a16:creationId xmlns:a16="http://schemas.microsoft.com/office/drawing/2014/main" id="{53380ECC-4910-47C1-AEE7-2859AF8B4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CULTURE</a:t>
            </a:r>
          </a:p>
        </p:txBody>
      </p:sp>
      <p:sp>
        <p:nvSpPr>
          <p:cNvPr id="11" name="text-92-382">
            <a:extLst xmlns:a="http://schemas.openxmlformats.org/drawingml/2006/main">
              <a:ext uri="{FF2B5EF4-FFF2-40B4-BE49-F238E27FC236}">
                <a16:creationId xmlns:a16="http://schemas.microsoft.com/office/drawing/2014/main" id="{8EA85873-991F-45B0-A677-8E5F47BD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Shared identity</a:t>
            </a:r>
          </a:p>
        </p:txBody>
      </p:sp>
      <p:sp>
        <p:nvSpPr>
          <p:cNvPr id="12" name="sentence-2">
            <a:extLst xmlns:a="http://schemas.openxmlformats.org/drawingml/2006/main">
              <a:ext uri="{FF2B5EF4-FFF2-40B4-BE49-F238E27FC236}">
                <a16:creationId xmlns:a16="http://schemas.microsoft.com/office/drawing/2014/main" id="{1AE7A5DF-397A-4839-A5CE-456CD4CAE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33750"/>
            <a:ext cx="8362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Community festivals demonstrate how cultural traditions can preserve social identity while encouraging understanding among different groups.</a:t>
            </a:r>
          </a:p>
        </p:txBody>
      </p:sp>
      <p:sp>
        <p:nvSpPr>
          <p:cNvPr id="13" name="sentence-row-3">
            <a:extLst xmlns:a="http://schemas.openxmlformats.org/drawingml/2006/main">
              <a:ext uri="{FF2B5EF4-FFF2-40B4-BE49-F238E27FC236}">
                <a16:creationId xmlns:a16="http://schemas.microsoft.com/office/drawing/2014/main" id="{373E4C85-ED5F-478F-B8A6-B0346867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10382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text-92-500">
            <a:extLst xmlns:a="http://schemas.openxmlformats.org/drawingml/2006/main">
              <a:ext uri="{FF2B5EF4-FFF2-40B4-BE49-F238E27FC236}">
                <a16:creationId xmlns:a16="http://schemas.microsoft.com/office/drawing/2014/main" id="{A0527930-52F3-4707-967A-8053164D6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EMPLOYMENT</a:t>
            </a:r>
          </a:p>
        </p:txBody>
      </p:sp>
      <p:sp>
        <p:nvSpPr>
          <p:cNvPr id="15" name="text-92-532">
            <a:extLst xmlns:a="http://schemas.openxmlformats.org/drawingml/2006/main">
              <a:ext uri="{FF2B5EF4-FFF2-40B4-BE49-F238E27FC236}">
                <a16:creationId xmlns:a16="http://schemas.microsoft.com/office/drawing/2014/main" id="{EFE17D24-2B9C-4436-9702-7B0B2C43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Public investment</a:t>
            </a:r>
          </a:p>
        </p:txBody>
      </p:sp>
      <p:sp>
        <p:nvSpPr>
          <p:cNvPr id="16" name="sentence-3">
            <a:extLst xmlns:a="http://schemas.openxmlformats.org/drawingml/2006/main">
              <a:ext uri="{FF2B5EF4-FFF2-40B4-BE49-F238E27FC236}">
                <a16:creationId xmlns:a16="http://schemas.microsoft.com/office/drawing/2014/main" id="{DB88F8A7-CD81-4F61-8047-AC35C695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62500"/>
            <a:ext cx="8362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Public vocational programmes provide an example of how government investment can reduce unemployment while addressing national skill shortages.</a:t>
            </a:r>
          </a:p>
        </p:txBody>
      </p:sp>
      <p:sp>
        <p:nvSpPr>
          <p:cNvPr id="17" name="rect-70-625">
            <a:extLst xmlns:a="http://schemas.openxmlformats.org/drawingml/2006/main">
              <a:ext uri="{FF2B5EF4-FFF2-40B4-BE49-F238E27FC236}">
                <a16:creationId xmlns:a16="http://schemas.microsoft.com/office/drawing/2014/main" id="{EF849D5D-80D3-46FF-A766-AED8857BD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1038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8" name="text-90-630">
            <a:extLst xmlns:a="http://schemas.openxmlformats.org/drawingml/2006/main">
              <a:ext uri="{FF2B5EF4-FFF2-40B4-BE49-F238E27FC236}">
                <a16:creationId xmlns:a16="http://schemas.microsoft.com/office/drawing/2014/main" id="{160B4D20-8DF2-48BD-BD2D-1D2767095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007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Bridge first → give the example → connect it to the main argument</a:t>
            </a:r>
          </a:p>
        </p:txBody>
      </p:sp>
    </p:spTree>
    <p:extLst>
      <p:ext uri="{BB962C8B-B14F-4D97-AF65-F5344CB8AC3E}">
        <p14:creationId xmlns:p14="http://schemas.microsoft.com/office/powerpoint/2010/main" val="90922662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19">
            <a:extLst xmlns:a="http://schemas.openxmlformats.org/drawingml/2006/main">
              <a:ext uri="{FF2B5EF4-FFF2-40B4-BE49-F238E27FC236}">
                <a16:creationId xmlns:a16="http://schemas.microsoft.com/office/drawing/2014/main" id="{1D790FC5-7D42-43C9-909E-1B9FA5472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MAIN-TOPIC BODY SENTENCES</a:t>
            </a:r>
          </a:p>
        </p:txBody>
      </p:sp>
      <p:sp>
        <p:nvSpPr>
          <p:cNvPr id="2" name="title-19">
            <a:extLst xmlns:a="http://schemas.openxmlformats.org/drawingml/2006/main">
              <a:ext uri="{FF2B5EF4-FFF2-40B4-BE49-F238E27FC236}">
                <a16:creationId xmlns:a16="http://schemas.microsoft.com/office/drawing/2014/main" id="{98989750-DB7D-4771-95B6-0F47CF777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Individuals and employment: choose the line that fits</a:t>
            </a:r>
          </a:p>
        </p:txBody>
      </p:sp>
      <p:sp>
        <p:nvSpPr>
          <p:cNvPr id="3" name="rule-19">
            <a:extLst xmlns:a="http://schemas.openxmlformats.org/drawingml/2006/main">
              <a:ext uri="{FF2B5EF4-FFF2-40B4-BE49-F238E27FC236}">
                <a16:creationId xmlns:a16="http://schemas.microsoft.com/office/drawing/2014/main" id="{E0B2C8F5-7997-44A0-AD74-18B6C6BE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19">
            <a:extLst xmlns:a="http://schemas.openxmlformats.org/drawingml/2006/main">
              <a:ext uri="{FF2B5EF4-FFF2-40B4-BE49-F238E27FC236}">
                <a16:creationId xmlns:a16="http://schemas.microsoft.com/office/drawing/2014/main" id="{31DDFB24-1B2C-468E-ACF6-3DEC240F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19</a:t>
            </a:r>
          </a:p>
        </p:txBody>
      </p:sp>
      <p:sp>
        <p:nvSpPr>
          <p:cNvPr id="5" name="sentence-row-1">
            <a:extLst xmlns:a="http://schemas.openxmlformats.org/drawingml/2006/main">
              <a:ext uri="{FF2B5EF4-FFF2-40B4-BE49-F238E27FC236}">
                <a16:creationId xmlns:a16="http://schemas.microsoft.com/office/drawing/2014/main" id="{B577619D-38C8-4C48-B605-D183867BF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10382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text-92-200">
            <a:extLst xmlns:a="http://schemas.openxmlformats.org/drawingml/2006/main">
              <a:ext uri="{FF2B5EF4-FFF2-40B4-BE49-F238E27FC236}">
                <a16:creationId xmlns:a16="http://schemas.microsoft.com/office/drawing/2014/main" id="{56441410-73DA-49E5-80BD-55595012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57A55"/>
                </a:solidFill>
              </a:defRPr>
            </a:pPr>
            <a:r>
              <a:rPr sz="1200" b="1">
                <a:solidFill>
                  <a:srgbClr val="157A55"/>
                </a:solidFill>
              </a:rPr>
              <a:t>PRINCIPLE</a:t>
            </a:r>
          </a:p>
        </p:txBody>
      </p:sp>
      <p:sp>
        <p:nvSpPr>
          <p:cNvPr id="7" name="text-92-232">
            <a:extLst xmlns:a="http://schemas.openxmlformats.org/drawingml/2006/main">
              <a:ext uri="{FF2B5EF4-FFF2-40B4-BE49-F238E27FC236}">
                <a16:creationId xmlns:a16="http://schemas.microsoft.com/office/drawing/2014/main" id="{2C37A11A-6DF5-4A4B-AF82-E4550CD2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Effort plus opportunity</a:t>
            </a:r>
          </a:p>
        </p:txBody>
      </p:sp>
      <p:sp>
        <p:nvSpPr>
          <p:cNvPr id="8" name="sentence-1">
            <a:extLst xmlns:a="http://schemas.openxmlformats.org/drawingml/2006/main">
              <a:ext uri="{FF2B5EF4-FFF2-40B4-BE49-F238E27FC236}">
                <a16:creationId xmlns:a16="http://schemas.microsoft.com/office/drawing/2014/main" id="{FD5C8A09-5793-4621-A34E-21650C33D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05000"/>
            <a:ext cx="8362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Personal achievement is influenced by determination and self-discipline, but it is also shaped by access to opportunity and supportive social conditions.</a:t>
            </a:r>
          </a:p>
        </p:txBody>
      </p:sp>
      <p:sp>
        <p:nvSpPr>
          <p:cNvPr id="9" name="sentence-row-2">
            <a:extLst xmlns:a="http://schemas.openxmlformats.org/drawingml/2006/main">
              <a:ext uri="{FF2B5EF4-FFF2-40B4-BE49-F238E27FC236}">
                <a16:creationId xmlns:a16="http://schemas.microsoft.com/office/drawing/2014/main" id="{A15AC0D8-2085-4459-90DC-C49442A0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10382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text-92-350">
            <a:extLst xmlns:a="http://schemas.openxmlformats.org/drawingml/2006/main">
              <a:ext uri="{FF2B5EF4-FFF2-40B4-BE49-F238E27FC236}">
                <a16:creationId xmlns:a16="http://schemas.microsoft.com/office/drawing/2014/main" id="{4D4F560D-62DE-4AB5-A8A3-E3ED37AF2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3939"/>
                </a:solidFill>
              </a:defRPr>
            </a:pPr>
            <a:r>
              <a:rPr sz="1200" b="1">
                <a:solidFill>
                  <a:srgbClr val="C93939"/>
                </a:solidFill>
              </a:rPr>
              <a:t>LIMITATION</a:t>
            </a:r>
          </a:p>
        </p:txBody>
      </p:sp>
      <p:sp>
        <p:nvSpPr>
          <p:cNvPr id="11" name="text-92-382">
            <a:extLst xmlns:a="http://schemas.openxmlformats.org/drawingml/2006/main">
              <a:ext uri="{FF2B5EF4-FFF2-40B4-BE49-F238E27FC236}">
                <a16:creationId xmlns:a16="http://schemas.microsoft.com/office/drawing/2014/main" id="{3F4DD98B-BDF7-45C9-88BB-1E5662FD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Short-term choices cost</a:t>
            </a:r>
          </a:p>
        </p:txBody>
      </p:sp>
      <p:sp>
        <p:nvSpPr>
          <p:cNvPr id="12" name="sentence-2">
            <a:extLst xmlns:a="http://schemas.openxmlformats.org/drawingml/2006/main">
              <a:ext uri="{FF2B5EF4-FFF2-40B4-BE49-F238E27FC236}">
                <a16:creationId xmlns:a16="http://schemas.microsoft.com/office/drawing/2014/main" id="{BF7869C3-1BF1-4558-90E4-6CBE9FD2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33750"/>
            <a:ext cx="8362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Decisions that offer immediate convenience or financial reward may produce long-term costs for health, relationships and personal development.</a:t>
            </a:r>
          </a:p>
        </p:txBody>
      </p:sp>
      <p:sp>
        <p:nvSpPr>
          <p:cNvPr id="13" name="sentence-row-3">
            <a:extLst xmlns:a="http://schemas.openxmlformats.org/drawingml/2006/main">
              <a:ext uri="{FF2B5EF4-FFF2-40B4-BE49-F238E27FC236}">
                <a16:creationId xmlns:a16="http://schemas.microsoft.com/office/drawing/2014/main" id="{BACB45B2-C75F-4E60-94EF-6777202D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10382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text-92-500">
            <a:extLst xmlns:a="http://schemas.openxmlformats.org/drawingml/2006/main">
              <a:ext uri="{FF2B5EF4-FFF2-40B4-BE49-F238E27FC236}">
                <a16:creationId xmlns:a16="http://schemas.microsoft.com/office/drawing/2014/main" id="{75DE5931-655C-4352-8E36-41101568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JUDGEMENT</a:t>
            </a:r>
          </a:p>
        </p:txBody>
      </p:sp>
      <p:sp>
        <p:nvSpPr>
          <p:cNvPr id="15" name="text-92-532">
            <a:extLst xmlns:a="http://schemas.openxmlformats.org/drawingml/2006/main">
              <a:ext uri="{FF2B5EF4-FFF2-40B4-BE49-F238E27FC236}">
                <a16:creationId xmlns:a16="http://schemas.microsoft.com/office/drawing/2014/main" id="{179C3A77-E0B6-413D-9FC0-1388726E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Consider lasting effects</a:t>
            </a:r>
          </a:p>
        </p:txBody>
      </p:sp>
      <p:sp>
        <p:nvSpPr>
          <p:cNvPr id="16" name="sentence-3">
            <a:extLst xmlns:a="http://schemas.openxmlformats.org/drawingml/2006/main">
              <a:ext uri="{FF2B5EF4-FFF2-40B4-BE49-F238E27FC236}">
                <a16:creationId xmlns:a16="http://schemas.microsoft.com/office/drawing/2014/main" id="{B5A71B41-EFCD-4188-BB07-A3ED1FBB0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62500"/>
            <a:ext cx="8362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Individuals should therefore evaluate important choices according to both their immediate benefits and their lasting consequences.</a:t>
            </a:r>
          </a:p>
        </p:txBody>
      </p:sp>
      <p:sp>
        <p:nvSpPr>
          <p:cNvPr id="17" name="text-70-641">
            <a:extLst xmlns:a="http://schemas.openxmlformats.org/drawingml/2006/main">
              <a:ext uri="{FF2B5EF4-FFF2-40B4-BE49-F238E27FC236}">
                <a16:creationId xmlns:a16="http://schemas.microsoft.com/office/drawing/2014/main" id="{85F56765-38D3-4378-8222-765C2C3BC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105525"/>
            <a:ext cx="838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E6673"/>
                </a:solidFill>
              </a:defRPr>
            </a:pPr>
            <a:r>
              <a:rPr sz="1350" b="1">
                <a:solidFill>
                  <a:srgbClr val="5E6673"/>
                </a:solidFill>
              </a:rPr>
              <a:t>Use one line only. Then explain it in your own words.</a:t>
            </a:r>
          </a:p>
        </p:txBody>
      </p:sp>
    </p:spTree>
    <p:extLst>
      <p:ext uri="{BB962C8B-B14F-4D97-AF65-F5344CB8AC3E}">
        <p14:creationId xmlns:p14="http://schemas.microsoft.com/office/powerpoint/2010/main" val="143491284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20">
            <a:extLst xmlns:a="http://schemas.openxmlformats.org/drawingml/2006/main">
              <a:ext uri="{FF2B5EF4-FFF2-40B4-BE49-F238E27FC236}">
                <a16:creationId xmlns:a16="http://schemas.microsoft.com/office/drawing/2014/main" id="{B3410462-454C-4CB8-8041-43546EE5C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CROSS-TOPIC EXAMPLES</a:t>
            </a:r>
          </a:p>
        </p:txBody>
      </p:sp>
      <p:sp>
        <p:nvSpPr>
          <p:cNvPr id="2" name="title-20">
            <a:extLst xmlns:a="http://schemas.openxmlformats.org/drawingml/2006/main">
              <a:ext uri="{FF2B5EF4-FFF2-40B4-BE49-F238E27FC236}">
                <a16:creationId xmlns:a16="http://schemas.microsoft.com/office/drawing/2014/main" id="{D286FA2F-DAF5-43AE-A175-2D94A56E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Individuals and employment: borrow an example</a:t>
            </a:r>
          </a:p>
        </p:txBody>
      </p:sp>
      <p:sp>
        <p:nvSpPr>
          <p:cNvPr id="3" name="rule-20">
            <a:extLst xmlns:a="http://schemas.openxmlformats.org/drawingml/2006/main">
              <a:ext uri="{FF2B5EF4-FFF2-40B4-BE49-F238E27FC236}">
                <a16:creationId xmlns:a16="http://schemas.microsoft.com/office/drawing/2014/main" id="{2BEC0F85-C92E-4F3B-8861-074647CFC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20">
            <a:extLst xmlns:a="http://schemas.openxmlformats.org/drawingml/2006/main">
              <a:ext uri="{FF2B5EF4-FFF2-40B4-BE49-F238E27FC236}">
                <a16:creationId xmlns:a16="http://schemas.microsoft.com/office/drawing/2014/main" id="{799311DA-A3C3-4B89-9EB9-052F2E08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20</a:t>
            </a:r>
          </a:p>
        </p:txBody>
      </p:sp>
      <p:sp>
        <p:nvSpPr>
          <p:cNvPr id="5" name="sentence-row-1">
            <a:extLst xmlns:a="http://schemas.openxmlformats.org/drawingml/2006/main">
              <a:ext uri="{FF2B5EF4-FFF2-40B4-BE49-F238E27FC236}">
                <a16:creationId xmlns:a16="http://schemas.microsoft.com/office/drawing/2014/main" id="{B0940878-6B2C-46D2-8D7A-3A8403FAB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10382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6" name="text-92-200">
            <a:extLst xmlns:a="http://schemas.openxmlformats.org/drawingml/2006/main">
              <a:ext uri="{FF2B5EF4-FFF2-40B4-BE49-F238E27FC236}">
                <a16:creationId xmlns:a16="http://schemas.microsoft.com/office/drawing/2014/main" id="{B16D6763-B96F-41FB-BF11-29FE85E3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050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SKILLS</a:t>
            </a:r>
          </a:p>
        </p:txBody>
      </p:sp>
      <p:sp>
        <p:nvSpPr>
          <p:cNvPr id="7" name="text-92-232">
            <a:extLst xmlns:a="http://schemas.openxmlformats.org/drawingml/2006/main">
              <a:ext uri="{FF2B5EF4-FFF2-40B4-BE49-F238E27FC236}">
                <a16:creationId xmlns:a16="http://schemas.microsoft.com/office/drawing/2014/main" id="{59F617CC-7BAF-40AE-B944-3F65990C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Adaptability</a:t>
            </a:r>
          </a:p>
        </p:txBody>
      </p:sp>
      <p:sp>
        <p:nvSpPr>
          <p:cNvPr id="8" name="sentence-1">
            <a:extLst xmlns:a="http://schemas.openxmlformats.org/drawingml/2006/main">
              <a:ext uri="{FF2B5EF4-FFF2-40B4-BE49-F238E27FC236}">
                <a16:creationId xmlns:a16="http://schemas.microsoft.com/office/drawing/2014/main" id="{1B324481-711B-4305-9A44-0BDDD7AA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05000"/>
            <a:ext cx="8362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For example, an employee who continually develops new skills is more likely to remain employable when technology changes the nature of work.</a:t>
            </a:r>
          </a:p>
        </p:txBody>
      </p:sp>
      <p:sp>
        <p:nvSpPr>
          <p:cNvPr id="9" name="sentence-row-2">
            <a:extLst xmlns:a="http://schemas.openxmlformats.org/drawingml/2006/main">
              <a:ext uri="{FF2B5EF4-FFF2-40B4-BE49-F238E27FC236}">
                <a16:creationId xmlns:a16="http://schemas.microsoft.com/office/drawing/2014/main" id="{D1799AE7-14CA-4C38-AB39-6F2FD720B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10382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0" name="text-92-350">
            <a:extLst xmlns:a="http://schemas.openxmlformats.org/drawingml/2006/main">
              <a:ext uri="{FF2B5EF4-FFF2-40B4-BE49-F238E27FC236}">
                <a16:creationId xmlns:a16="http://schemas.microsoft.com/office/drawing/2014/main" id="{DCB6FFDF-FB2F-4DE3-BD10-44666E12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LIFESTYLE</a:t>
            </a:r>
          </a:p>
        </p:txBody>
      </p:sp>
      <p:sp>
        <p:nvSpPr>
          <p:cNvPr id="11" name="text-92-382">
            <a:extLst xmlns:a="http://schemas.openxmlformats.org/drawingml/2006/main">
              <a:ext uri="{FF2B5EF4-FFF2-40B4-BE49-F238E27FC236}">
                <a16:creationId xmlns:a16="http://schemas.microsoft.com/office/drawing/2014/main" id="{EC0B6BCF-2FFC-457E-9D26-932D9CD66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Work-life balance</a:t>
            </a:r>
          </a:p>
        </p:txBody>
      </p:sp>
      <p:sp>
        <p:nvSpPr>
          <p:cNvPr id="12" name="sentence-2">
            <a:extLst xmlns:a="http://schemas.openxmlformats.org/drawingml/2006/main">
              <a:ext uri="{FF2B5EF4-FFF2-40B4-BE49-F238E27FC236}">
                <a16:creationId xmlns:a16="http://schemas.microsoft.com/office/drawing/2014/main" id="{092DDA26-4599-43BA-BC3F-5236F042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333750"/>
            <a:ext cx="8362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A person who regularly works excessive hours may earn more money, but the resulting stress can damage health and family relationships.</a:t>
            </a:r>
          </a:p>
        </p:txBody>
      </p:sp>
      <p:sp>
        <p:nvSpPr>
          <p:cNvPr id="13" name="sentence-row-3">
            <a:extLst xmlns:a="http://schemas.openxmlformats.org/drawingml/2006/main">
              <a:ext uri="{FF2B5EF4-FFF2-40B4-BE49-F238E27FC236}">
                <a16:creationId xmlns:a16="http://schemas.microsoft.com/office/drawing/2014/main" id="{55D403E4-4D7E-4C25-90EA-1A8D2DF5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103822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9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4" name="text-92-500">
            <a:extLst xmlns:a="http://schemas.openxmlformats.org/drawingml/2006/main">
              <a:ext uri="{FF2B5EF4-FFF2-40B4-BE49-F238E27FC236}">
                <a16:creationId xmlns:a16="http://schemas.microsoft.com/office/drawing/2014/main" id="{9BF08437-65E6-4A6A-8797-4776487C3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1600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ENVIRONMENT</a:t>
            </a:r>
          </a:p>
        </p:txBody>
      </p:sp>
      <p:sp>
        <p:nvSpPr>
          <p:cNvPr id="15" name="text-92-532">
            <a:extLst xmlns:a="http://schemas.openxmlformats.org/drawingml/2006/main">
              <a:ext uri="{FF2B5EF4-FFF2-40B4-BE49-F238E27FC236}">
                <a16:creationId xmlns:a16="http://schemas.microsoft.com/office/drawing/2014/main" id="{DC311126-3F00-4214-BA4E-0A57F361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16002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6673"/>
                </a:solidFill>
              </a:defRPr>
            </a:pPr>
            <a:r>
              <a:rPr sz="1350" b="0">
                <a:solidFill>
                  <a:srgbClr val="5E6673"/>
                </a:solidFill>
              </a:rPr>
              <a:t>Collective effect</a:t>
            </a:r>
          </a:p>
        </p:txBody>
      </p:sp>
      <p:sp>
        <p:nvSpPr>
          <p:cNvPr id="16" name="sentence-3">
            <a:extLst xmlns:a="http://schemas.openxmlformats.org/drawingml/2006/main">
              <a:ext uri="{FF2B5EF4-FFF2-40B4-BE49-F238E27FC236}">
                <a16:creationId xmlns:a16="http://schemas.microsoft.com/office/drawing/2014/main" id="{678B2869-5499-42B8-A301-D26DB25BC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762500"/>
            <a:ext cx="83629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Individual recycling habits provide a useful example of how small personal actions can create a significant collective effect when adopted widely.</a:t>
            </a:r>
          </a:p>
        </p:txBody>
      </p:sp>
      <p:sp>
        <p:nvSpPr>
          <p:cNvPr id="17" name="rect-70-625">
            <a:extLst xmlns:a="http://schemas.openxmlformats.org/drawingml/2006/main">
              <a:ext uri="{FF2B5EF4-FFF2-40B4-BE49-F238E27FC236}">
                <a16:creationId xmlns:a16="http://schemas.microsoft.com/office/drawing/2014/main" id="{5F41EB1F-0693-417C-99C0-DFE4DF15D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1038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8" name="text-90-630">
            <a:extLst xmlns:a="http://schemas.openxmlformats.org/drawingml/2006/main">
              <a:ext uri="{FF2B5EF4-FFF2-40B4-BE49-F238E27FC236}">
                <a16:creationId xmlns:a16="http://schemas.microsoft.com/office/drawing/2014/main" id="{2D34B3FA-965B-4BD7-B802-02F930EAB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0075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Bridge first → give the example → connect it to the main argument</a:t>
            </a:r>
          </a:p>
        </p:txBody>
      </p:sp>
    </p:spTree>
    <p:extLst>
      <p:ext uri="{BB962C8B-B14F-4D97-AF65-F5344CB8AC3E}">
        <p14:creationId xmlns:p14="http://schemas.microsoft.com/office/powerpoint/2010/main" val="123761774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21">
            <a:extLst xmlns:a="http://schemas.openxmlformats.org/drawingml/2006/main">
              <a:ext uri="{FF2B5EF4-FFF2-40B4-BE49-F238E27FC236}">
                <a16:creationId xmlns:a16="http://schemas.microsoft.com/office/drawing/2014/main" id="{462AE2ED-1BCE-4B5B-8F65-583326EA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UNIVERSAL PLUG-INS · POINT</a:t>
            </a:r>
          </a:p>
        </p:txBody>
      </p:sp>
      <p:sp>
        <p:nvSpPr>
          <p:cNvPr id="2" name="title-21">
            <a:extLst xmlns:a="http://schemas.openxmlformats.org/drawingml/2006/main">
              <a:ext uri="{FF2B5EF4-FFF2-40B4-BE49-F238E27FC236}">
                <a16:creationId xmlns:a16="http://schemas.microsoft.com/office/drawing/2014/main" id="{0E4C12DE-FE3F-4402-A1C8-30725D4E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Start the paragraph with one precise claim</a:t>
            </a:r>
          </a:p>
        </p:txBody>
      </p:sp>
      <p:sp>
        <p:nvSpPr>
          <p:cNvPr id="3" name="rule-21">
            <a:extLst xmlns:a="http://schemas.openxmlformats.org/drawingml/2006/main">
              <a:ext uri="{FF2B5EF4-FFF2-40B4-BE49-F238E27FC236}">
                <a16:creationId xmlns:a16="http://schemas.microsoft.com/office/drawing/2014/main" id="{6CB5295F-DBEE-4F93-A0AF-D780F365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21">
            <a:extLst xmlns:a="http://schemas.openxmlformats.org/drawingml/2006/main">
              <a:ext uri="{FF2B5EF4-FFF2-40B4-BE49-F238E27FC236}">
                <a16:creationId xmlns:a16="http://schemas.microsoft.com/office/drawing/2014/main" id="{CF9510DA-FF3F-4369-9512-0E6E0E015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21</a:t>
            </a:r>
          </a:p>
        </p:txBody>
      </p:sp>
      <p:sp>
        <p:nvSpPr>
          <p:cNvPr id="5" name="step-box-1-70-194">
            <a:extLst xmlns:a="http://schemas.openxmlformats.org/drawingml/2006/main">
              <a:ext uri="{FF2B5EF4-FFF2-40B4-BE49-F238E27FC236}">
                <a16:creationId xmlns:a16="http://schemas.microsoft.com/office/drawing/2014/main" id="{43F2CFFC-E273-469E-8591-5B590032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step-1-70-194">
            <a:extLst xmlns:a="http://schemas.openxmlformats.org/drawingml/2006/main">
              <a:ext uri="{FF2B5EF4-FFF2-40B4-BE49-F238E27FC236}">
                <a16:creationId xmlns:a16="http://schemas.microsoft.com/office/drawing/2014/main" id="{74448522-A930-49C9-B935-4E5D4D255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plugin-21-1">
            <a:extLst xmlns:a="http://schemas.openxmlformats.org/drawingml/2006/main">
              <a:ext uri="{FF2B5EF4-FFF2-40B4-BE49-F238E27FC236}">
                <a16:creationId xmlns:a16="http://schemas.microsoft.com/office/drawing/2014/main" id="{7A9499A7-C082-4E00-99B0-9478B6FE3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733550"/>
            <a:ext cx="9410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One compelling reason to support [topic] is that it can [benefit].</a:t>
            </a:r>
          </a:p>
        </p:txBody>
      </p:sp>
      <p:sp>
        <p:nvSpPr>
          <p:cNvPr id="8" name="rect-162-276">
            <a:extLst xmlns:a="http://schemas.openxmlformats.org/drawingml/2006/main">
              <a:ext uri="{FF2B5EF4-FFF2-40B4-BE49-F238E27FC236}">
                <a16:creationId xmlns:a16="http://schemas.microsoft.com/office/drawing/2014/main" id="{3017B427-BB51-48A6-A2ED-D8B9F89B2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28900"/>
            <a:ext cx="941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step-box-2-70-306">
            <a:extLst xmlns:a="http://schemas.openxmlformats.org/drawingml/2006/main">
              <a:ext uri="{FF2B5EF4-FFF2-40B4-BE49-F238E27FC236}">
                <a16:creationId xmlns:a16="http://schemas.microsoft.com/office/drawing/2014/main" id="{1E691DC3-7612-4794-81FA-1A151E329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step-2-70-306">
            <a:extLst xmlns:a="http://schemas.openxmlformats.org/drawingml/2006/main">
              <a:ext uri="{FF2B5EF4-FFF2-40B4-BE49-F238E27FC236}">
                <a16:creationId xmlns:a16="http://schemas.microsoft.com/office/drawing/2014/main" id="{C757109B-06A3-4298-8AE5-392E4A11C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1" name="plugin-21-2">
            <a:extLst xmlns:a="http://schemas.openxmlformats.org/drawingml/2006/main">
              <a:ext uri="{FF2B5EF4-FFF2-40B4-BE49-F238E27FC236}">
                <a16:creationId xmlns:a16="http://schemas.microsoft.com/office/drawing/2014/main" id="{630EE300-4649-4780-92AB-E4D44C1D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800350"/>
            <a:ext cx="9410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A major concern surrounding [topic] is its potential to [negative effect].</a:t>
            </a:r>
          </a:p>
        </p:txBody>
      </p:sp>
      <p:sp>
        <p:nvSpPr>
          <p:cNvPr id="12" name="rect-162-388">
            <a:extLst xmlns:a="http://schemas.openxmlformats.org/drawingml/2006/main">
              <a:ext uri="{FF2B5EF4-FFF2-40B4-BE49-F238E27FC236}">
                <a16:creationId xmlns:a16="http://schemas.microsoft.com/office/drawing/2014/main" id="{C5F35904-2BF0-44B9-B27F-B9566E29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695700"/>
            <a:ext cx="941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3" name="step-box-3-70-418">
            <a:extLst xmlns:a="http://schemas.openxmlformats.org/drawingml/2006/main">
              <a:ext uri="{FF2B5EF4-FFF2-40B4-BE49-F238E27FC236}">
                <a16:creationId xmlns:a16="http://schemas.microsoft.com/office/drawing/2014/main" id="{F000A802-D0B1-4DAB-9FF0-2F566F98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step-3-70-418">
            <a:extLst xmlns:a="http://schemas.openxmlformats.org/drawingml/2006/main">
              <a:ext uri="{FF2B5EF4-FFF2-40B4-BE49-F238E27FC236}">
                <a16:creationId xmlns:a16="http://schemas.microsoft.com/office/drawing/2014/main" id="{AB6207B1-CD60-4DDF-B60F-FFFEE861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plugin-21-3">
            <a:extLst xmlns:a="http://schemas.openxmlformats.org/drawingml/2006/main">
              <a:ext uri="{FF2B5EF4-FFF2-40B4-BE49-F238E27FC236}">
                <a16:creationId xmlns:a16="http://schemas.microsoft.com/office/drawing/2014/main" id="{8EEEF642-21B0-4C6B-8BB3-E5CEDD7E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867150"/>
            <a:ext cx="9410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The significance of [topic] lies primarily in its ability to [result].</a:t>
            </a:r>
          </a:p>
        </p:txBody>
      </p:sp>
      <p:sp>
        <p:nvSpPr>
          <p:cNvPr id="16" name="rect-162-500">
            <a:extLst xmlns:a="http://schemas.openxmlformats.org/drawingml/2006/main">
              <a:ext uri="{FF2B5EF4-FFF2-40B4-BE49-F238E27FC236}">
                <a16:creationId xmlns:a16="http://schemas.microsoft.com/office/drawing/2014/main" id="{ECAECFBE-3B48-4A3A-B6C0-00DBD567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762500"/>
            <a:ext cx="941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step-box-4-70-530">
            <a:extLst xmlns:a="http://schemas.openxmlformats.org/drawingml/2006/main">
              <a:ext uri="{FF2B5EF4-FFF2-40B4-BE49-F238E27FC236}">
                <a16:creationId xmlns:a16="http://schemas.microsoft.com/office/drawing/2014/main" id="{2AD42623-F4FE-4580-9BD7-9FF08FDF1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8" name="step-4-70-530">
            <a:extLst xmlns:a="http://schemas.openxmlformats.org/drawingml/2006/main">
              <a:ext uri="{FF2B5EF4-FFF2-40B4-BE49-F238E27FC236}">
                <a16:creationId xmlns:a16="http://schemas.microsoft.com/office/drawing/2014/main" id="{9094874E-4A49-4CBB-B961-37A72567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9" name="plugin-21-4">
            <a:extLst xmlns:a="http://schemas.openxmlformats.org/drawingml/2006/main">
              <a:ext uri="{FF2B5EF4-FFF2-40B4-BE49-F238E27FC236}">
                <a16:creationId xmlns:a16="http://schemas.microsoft.com/office/drawing/2014/main" id="{49A53280-5E2C-467A-9B87-64317BFB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33950"/>
            <a:ext cx="9410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Another important consideration is the effect of [topic] on [group or area].</a:t>
            </a:r>
          </a:p>
        </p:txBody>
      </p:sp>
    </p:spTree>
    <p:extLst>
      <p:ext uri="{BB962C8B-B14F-4D97-AF65-F5344CB8AC3E}">
        <p14:creationId xmlns:p14="http://schemas.microsoft.com/office/powerpoint/2010/main" val="123821149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22">
            <a:extLst xmlns:a="http://schemas.openxmlformats.org/drawingml/2006/main">
              <a:ext uri="{FF2B5EF4-FFF2-40B4-BE49-F238E27FC236}">
                <a16:creationId xmlns:a16="http://schemas.microsoft.com/office/drawing/2014/main" id="{6E7C7BBF-2C0B-4969-B65F-A8633A65B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UNIVERSAL PLUG-INS · EXPLAIN</a:t>
            </a:r>
          </a:p>
        </p:txBody>
      </p:sp>
      <p:sp>
        <p:nvSpPr>
          <p:cNvPr id="2" name="title-22">
            <a:extLst xmlns:a="http://schemas.openxmlformats.org/drawingml/2006/main">
              <a:ext uri="{FF2B5EF4-FFF2-40B4-BE49-F238E27FC236}">
                <a16:creationId xmlns:a16="http://schemas.microsoft.com/office/drawing/2014/main" id="{E87D397E-9973-4203-8E99-EC90797A9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Explain the cause before adding an example</a:t>
            </a:r>
          </a:p>
        </p:txBody>
      </p:sp>
      <p:sp>
        <p:nvSpPr>
          <p:cNvPr id="3" name="rule-22">
            <a:extLst xmlns:a="http://schemas.openxmlformats.org/drawingml/2006/main">
              <a:ext uri="{FF2B5EF4-FFF2-40B4-BE49-F238E27FC236}">
                <a16:creationId xmlns:a16="http://schemas.microsoft.com/office/drawing/2014/main" id="{17D2C27F-61D8-4CA2-9801-2BB9D5894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22">
            <a:extLst xmlns:a="http://schemas.openxmlformats.org/drawingml/2006/main">
              <a:ext uri="{FF2B5EF4-FFF2-40B4-BE49-F238E27FC236}">
                <a16:creationId xmlns:a16="http://schemas.microsoft.com/office/drawing/2014/main" id="{D15E0B67-9F2C-4B33-B445-6C482BDB2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22</a:t>
            </a:r>
          </a:p>
        </p:txBody>
      </p:sp>
      <p:sp>
        <p:nvSpPr>
          <p:cNvPr id="5" name="step-box-1-70-194">
            <a:extLst xmlns:a="http://schemas.openxmlformats.org/drawingml/2006/main">
              <a:ext uri="{FF2B5EF4-FFF2-40B4-BE49-F238E27FC236}">
                <a16:creationId xmlns:a16="http://schemas.microsoft.com/office/drawing/2014/main" id="{C32D9579-4F05-42DB-8C4D-14755DC83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step-1-70-194">
            <a:extLst xmlns:a="http://schemas.openxmlformats.org/drawingml/2006/main">
              <a:ext uri="{FF2B5EF4-FFF2-40B4-BE49-F238E27FC236}">
                <a16:creationId xmlns:a16="http://schemas.microsoft.com/office/drawing/2014/main" id="{FC26FC62-FE80-4485-8EEE-2C7AD4D00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plugin-22-1">
            <a:extLst xmlns:a="http://schemas.openxmlformats.org/drawingml/2006/main">
              <a:ext uri="{FF2B5EF4-FFF2-40B4-BE49-F238E27FC236}">
                <a16:creationId xmlns:a16="http://schemas.microsoft.com/office/drawing/2014/main" id="{84BDEC54-992D-4021-8188-D3E8105A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733550"/>
            <a:ext cx="9410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This is primarily because [cause], which in turn leads to [effect].</a:t>
            </a:r>
          </a:p>
        </p:txBody>
      </p:sp>
      <p:sp>
        <p:nvSpPr>
          <p:cNvPr id="8" name="rect-162-276">
            <a:extLst xmlns:a="http://schemas.openxmlformats.org/drawingml/2006/main">
              <a:ext uri="{FF2B5EF4-FFF2-40B4-BE49-F238E27FC236}">
                <a16:creationId xmlns:a16="http://schemas.microsoft.com/office/drawing/2014/main" id="{3C62E162-9B56-44AA-927A-7BC73B58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28900"/>
            <a:ext cx="941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step-box-2-70-306">
            <a:extLst xmlns:a="http://schemas.openxmlformats.org/drawingml/2006/main">
              <a:ext uri="{FF2B5EF4-FFF2-40B4-BE49-F238E27FC236}">
                <a16:creationId xmlns:a16="http://schemas.microsoft.com/office/drawing/2014/main" id="{68A4B927-A20A-4924-ADB8-01AD032A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step-2-70-306">
            <a:extLst xmlns:a="http://schemas.openxmlformats.org/drawingml/2006/main">
              <a:ext uri="{FF2B5EF4-FFF2-40B4-BE49-F238E27FC236}">
                <a16:creationId xmlns:a16="http://schemas.microsoft.com/office/drawing/2014/main" id="{05D252AE-8EC1-48FB-AE1E-46F5E72F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1" name="plugin-22-2">
            <a:extLst xmlns:a="http://schemas.openxmlformats.org/drawingml/2006/main">
              <a:ext uri="{FF2B5EF4-FFF2-40B4-BE49-F238E27FC236}">
                <a16:creationId xmlns:a16="http://schemas.microsoft.com/office/drawing/2014/main" id="{52F53909-824B-43BB-ACB9-19D6FBD9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800350"/>
            <a:ext cx="9410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In practical terms, this means that [explanation].</a:t>
            </a:r>
          </a:p>
        </p:txBody>
      </p:sp>
      <p:sp>
        <p:nvSpPr>
          <p:cNvPr id="12" name="rect-162-388">
            <a:extLst xmlns:a="http://schemas.openxmlformats.org/drawingml/2006/main">
              <a:ext uri="{FF2B5EF4-FFF2-40B4-BE49-F238E27FC236}">
                <a16:creationId xmlns:a16="http://schemas.microsoft.com/office/drawing/2014/main" id="{8DE1EF19-E7DC-4A30-8525-94F50B4FF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695700"/>
            <a:ext cx="941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3" name="step-box-3-70-418">
            <a:extLst xmlns:a="http://schemas.openxmlformats.org/drawingml/2006/main">
              <a:ext uri="{FF2B5EF4-FFF2-40B4-BE49-F238E27FC236}">
                <a16:creationId xmlns:a16="http://schemas.microsoft.com/office/drawing/2014/main" id="{EBF4423D-7801-48BD-A878-34B86514D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step-3-70-418">
            <a:extLst xmlns:a="http://schemas.openxmlformats.org/drawingml/2006/main">
              <a:ext uri="{FF2B5EF4-FFF2-40B4-BE49-F238E27FC236}">
                <a16:creationId xmlns:a16="http://schemas.microsoft.com/office/drawing/2014/main" id="{867D2DED-45C6-494D-8835-8FC93135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plugin-22-3">
            <a:extLst xmlns:a="http://schemas.openxmlformats.org/drawingml/2006/main">
              <a:ext uri="{FF2B5EF4-FFF2-40B4-BE49-F238E27FC236}">
                <a16:creationId xmlns:a16="http://schemas.microsoft.com/office/drawing/2014/main" id="{EA661CAD-E0C5-4038-90A9-DC46BEEA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867150"/>
            <a:ext cx="9410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This issue is particularly important for [group] because [reason].</a:t>
            </a:r>
          </a:p>
        </p:txBody>
      </p:sp>
      <p:sp>
        <p:nvSpPr>
          <p:cNvPr id="16" name="rect-162-500">
            <a:extLst xmlns:a="http://schemas.openxmlformats.org/drawingml/2006/main">
              <a:ext uri="{FF2B5EF4-FFF2-40B4-BE49-F238E27FC236}">
                <a16:creationId xmlns:a16="http://schemas.microsoft.com/office/drawing/2014/main" id="{136EC36C-749D-4318-9524-29EFB41FC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762500"/>
            <a:ext cx="941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step-box-4-70-530">
            <a:extLst xmlns:a="http://schemas.openxmlformats.org/drawingml/2006/main">
              <a:ext uri="{FF2B5EF4-FFF2-40B4-BE49-F238E27FC236}">
                <a16:creationId xmlns:a16="http://schemas.microsoft.com/office/drawing/2014/main" id="{0B10334C-6BA8-4DBD-8228-D69B55BBE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8" name="step-4-70-530">
            <a:extLst xmlns:a="http://schemas.openxmlformats.org/drawingml/2006/main">
              <a:ext uri="{FF2B5EF4-FFF2-40B4-BE49-F238E27FC236}">
                <a16:creationId xmlns:a16="http://schemas.microsoft.com/office/drawing/2014/main" id="{5362577E-A596-4B6E-8DD4-C39685EE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9" name="plugin-22-4">
            <a:extLst xmlns:a="http://schemas.openxmlformats.org/drawingml/2006/main">
              <a:ext uri="{FF2B5EF4-FFF2-40B4-BE49-F238E27FC236}">
                <a16:creationId xmlns:a16="http://schemas.microsoft.com/office/drawing/2014/main" id="{4DB2CD07-160F-41E6-892C-F8767A9E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33950"/>
            <a:ext cx="9410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If this situation continues, it may eventually result in [consequence].</a:t>
            </a:r>
          </a:p>
        </p:txBody>
      </p:sp>
    </p:spTree>
    <p:extLst>
      <p:ext uri="{BB962C8B-B14F-4D97-AF65-F5344CB8AC3E}">
        <p14:creationId xmlns:p14="http://schemas.microsoft.com/office/powerpoint/2010/main" val="7559783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23">
            <a:extLst xmlns:a="http://schemas.openxmlformats.org/drawingml/2006/main">
              <a:ext uri="{FF2B5EF4-FFF2-40B4-BE49-F238E27FC236}">
                <a16:creationId xmlns:a16="http://schemas.microsoft.com/office/drawing/2014/main" id="{6A3FDD4A-79BE-4DCD-89E9-6357CB918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UNIVERSAL PLUG-INS · EXAMPLE</a:t>
            </a:r>
          </a:p>
        </p:txBody>
      </p:sp>
      <p:sp>
        <p:nvSpPr>
          <p:cNvPr id="2" name="title-23">
            <a:extLst xmlns:a="http://schemas.openxmlformats.org/drawingml/2006/main">
              <a:ext uri="{FF2B5EF4-FFF2-40B4-BE49-F238E27FC236}">
                <a16:creationId xmlns:a16="http://schemas.microsoft.com/office/drawing/2014/main" id="{788FCA10-4F1F-47EA-89B8-1983567EB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Introduce evidence that directly supports the point</a:t>
            </a:r>
          </a:p>
        </p:txBody>
      </p:sp>
      <p:sp>
        <p:nvSpPr>
          <p:cNvPr id="3" name="rule-23">
            <a:extLst xmlns:a="http://schemas.openxmlformats.org/drawingml/2006/main">
              <a:ext uri="{FF2B5EF4-FFF2-40B4-BE49-F238E27FC236}">
                <a16:creationId xmlns:a16="http://schemas.microsoft.com/office/drawing/2014/main" id="{DA39E87A-6C25-451F-96E8-312B0D84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23">
            <a:extLst xmlns:a="http://schemas.openxmlformats.org/drawingml/2006/main">
              <a:ext uri="{FF2B5EF4-FFF2-40B4-BE49-F238E27FC236}">
                <a16:creationId xmlns:a16="http://schemas.microsoft.com/office/drawing/2014/main" id="{DE646364-DFB7-451C-855B-A871A4CC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23</a:t>
            </a:r>
          </a:p>
        </p:txBody>
      </p:sp>
      <p:sp>
        <p:nvSpPr>
          <p:cNvPr id="5" name="step-box-1-70-194">
            <a:extLst xmlns:a="http://schemas.openxmlformats.org/drawingml/2006/main">
              <a:ext uri="{FF2B5EF4-FFF2-40B4-BE49-F238E27FC236}">
                <a16:creationId xmlns:a16="http://schemas.microsoft.com/office/drawing/2014/main" id="{E90A812C-AF8F-48E0-8A96-FDB5AB38A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step-1-70-194">
            <a:extLst xmlns:a="http://schemas.openxmlformats.org/drawingml/2006/main">
              <a:ext uri="{FF2B5EF4-FFF2-40B4-BE49-F238E27FC236}">
                <a16:creationId xmlns:a16="http://schemas.microsoft.com/office/drawing/2014/main" id="{CB1F5A57-E64C-4742-A4DA-19A2D92A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plugin-23-1">
            <a:extLst xmlns:a="http://schemas.openxmlformats.org/drawingml/2006/main">
              <a:ext uri="{FF2B5EF4-FFF2-40B4-BE49-F238E27FC236}">
                <a16:creationId xmlns:a16="http://schemas.microsoft.com/office/drawing/2014/main" id="{9B372991-A1C5-45F5-AA03-0D8A6471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733550"/>
            <a:ext cx="9410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A clear example of this can be observed in [place, field or situation], where [case].</a:t>
            </a:r>
          </a:p>
        </p:txBody>
      </p:sp>
      <p:sp>
        <p:nvSpPr>
          <p:cNvPr id="8" name="rect-162-276">
            <a:extLst xmlns:a="http://schemas.openxmlformats.org/drawingml/2006/main">
              <a:ext uri="{FF2B5EF4-FFF2-40B4-BE49-F238E27FC236}">
                <a16:creationId xmlns:a16="http://schemas.microsoft.com/office/drawing/2014/main" id="{3BF810F0-675E-4EC5-80F6-FF9D9608B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28900"/>
            <a:ext cx="941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step-box-2-70-306">
            <a:extLst xmlns:a="http://schemas.openxmlformats.org/drawingml/2006/main">
              <a:ext uri="{FF2B5EF4-FFF2-40B4-BE49-F238E27FC236}">
                <a16:creationId xmlns:a16="http://schemas.microsoft.com/office/drawing/2014/main" id="{9D8B4800-1A44-48E6-8AF9-4CB6D2DE5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step-2-70-306">
            <a:extLst xmlns:a="http://schemas.openxmlformats.org/drawingml/2006/main">
              <a:ext uri="{FF2B5EF4-FFF2-40B4-BE49-F238E27FC236}">
                <a16:creationId xmlns:a16="http://schemas.microsoft.com/office/drawing/2014/main" id="{86ABC499-1F66-448C-BB53-48F0A125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1" name="plugin-23-2">
            <a:extLst xmlns:a="http://schemas.openxmlformats.org/drawingml/2006/main">
              <a:ext uri="{FF2B5EF4-FFF2-40B4-BE49-F238E27FC236}">
                <a16:creationId xmlns:a16="http://schemas.microsoft.com/office/drawing/2014/main" id="{3C60AA2B-E107-48B6-82B1-2113C5EB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800350"/>
            <a:ext cx="9410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This is evident in the case of [example], which demonstrates that [lesson].</a:t>
            </a:r>
          </a:p>
        </p:txBody>
      </p:sp>
      <p:sp>
        <p:nvSpPr>
          <p:cNvPr id="12" name="rect-162-388">
            <a:extLst xmlns:a="http://schemas.openxmlformats.org/drawingml/2006/main">
              <a:ext uri="{FF2B5EF4-FFF2-40B4-BE49-F238E27FC236}">
                <a16:creationId xmlns:a16="http://schemas.microsoft.com/office/drawing/2014/main" id="{AAB58B26-4369-45F5-B15A-71E97C926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695700"/>
            <a:ext cx="941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3" name="step-box-3-70-418">
            <a:extLst xmlns:a="http://schemas.openxmlformats.org/drawingml/2006/main">
              <a:ext uri="{FF2B5EF4-FFF2-40B4-BE49-F238E27FC236}">
                <a16:creationId xmlns:a16="http://schemas.microsoft.com/office/drawing/2014/main" id="{3A7678F2-D05A-492C-BA71-DCE49365F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step-3-70-418">
            <a:extLst xmlns:a="http://schemas.openxmlformats.org/drawingml/2006/main">
              <a:ext uri="{FF2B5EF4-FFF2-40B4-BE49-F238E27FC236}">
                <a16:creationId xmlns:a16="http://schemas.microsoft.com/office/drawing/2014/main" id="{DE817CDF-B028-43CC-8C43-53153F77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plugin-23-3">
            <a:extLst xmlns:a="http://schemas.openxmlformats.org/drawingml/2006/main">
              <a:ext uri="{FF2B5EF4-FFF2-40B4-BE49-F238E27FC236}">
                <a16:creationId xmlns:a16="http://schemas.microsoft.com/office/drawing/2014/main" id="{1FB735D0-8B9A-4361-A2A2-F324D5B8B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867150"/>
            <a:ext cx="9410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Consider, for instance, [example]; this shows how [connection].</a:t>
            </a:r>
          </a:p>
        </p:txBody>
      </p:sp>
      <p:sp>
        <p:nvSpPr>
          <p:cNvPr id="16" name="rect-162-500">
            <a:extLst xmlns:a="http://schemas.openxmlformats.org/drawingml/2006/main">
              <a:ext uri="{FF2B5EF4-FFF2-40B4-BE49-F238E27FC236}">
                <a16:creationId xmlns:a16="http://schemas.microsoft.com/office/drawing/2014/main" id="{BB8C6B7F-56BF-4C09-A18C-C8074BF5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762500"/>
            <a:ext cx="941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step-box-4-70-530">
            <a:extLst xmlns:a="http://schemas.openxmlformats.org/drawingml/2006/main">
              <a:ext uri="{FF2B5EF4-FFF2-40B4-BE49-F238E27FC236}">
                <a16:creationId xmlns:a16="http://schemas.microsoft.com/office/drawing/2014/main" id="{F44E53CC-7659-473E-92BF-4A4DD461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8" name="step-4-70-530">
            <a:extLst xmlns:a="http://schemas.openxmlformats.org/drawingml/2006/main">
              <a:ext uri="{FF2B5EF4-FFF2-40B4-BE49-F238E27FC236}">
                <a16:creationId xmlns:a16="http://schemas.microsoft.com/office/drawing/2014/main" id="{6833DD06-4165-4E16-8D72-9F89DCC9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9" name="plugin-23-4">
            <a:extLst xmlns:a="http://schemas.openxmlformats.org/drawingml/2006/main">
              <a:ext uri="{FF2B5EF4-FFF2-40B4-BE49-F238E27FC236}">
                <a16:creationId xmlns:a16="http://schemas.microsoft.com/office/drawing/2014/main" id="{0695E175-417A-4D41-91DD-0DAEF46B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33950"/>
            <a:ext cx="9410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A practical illustration is [example], through which [result].</a:t>
            </a:r>
          </a:p>
        </p:txBody>
      </p:sp>
    </p:spTree>
    <p:extLst>
      <p:ext uri="{BB962C8B-B14F-4D97-AF65-F5344CB8AC3E}">
        <p14:creationId xmlns:p14="http://schemas.microsoft.com/office/powerpoint/2010/main" val="1481886505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24">
            <a:extLst xmlns:a="http://schemas.openxmlformats.org/drawingml/2006/main">
              <a:ext uri="{FF2B5EF4-FFF2-40B4-BE49-F238E27FC236}">
                <a16:creationId xmlns:a16="http://schemas.microsoft.com/office/drawing/2014/main" id="{FAF1481F-2642-4449-8E66-0285744CF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UNIVERSAL PLUG-INS · LINK</a:t>
            </a:r>
          </a:p>
        </p:txBody>
      </p:sp>
      <p:sp>
        <p:nvSpPr>
          <p:cNvPr id="2" name="title-24">
            <a:extLst xmlns:a="http://schemas.openxmlformats.org/drawingml/2006/main">
              <a:ext uri="{FF2B5EF4-FFF2-40B4-BE49-F238E27FC236}">
                <a16:creationId xmlns:a16="http://schemas.microsoft.com/office/drawing/2014/main" id="{61014E42-C292-405A-B676-C08C1AD2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Finish by stating what the evidence proves</a:t>
            </a:r>
          </a:p>
        </p:txBody>
      </p:sp>
      <p:sp>
        <p:nvSpPr>
          <p:cNvPr id="3" name="rule-24">
            <a:extLst xmlns:a="http://schemas.openxmlformats.org/drawingml/2006/main">
              <a:ext uri="{FF2B5EF4-FFF2-40B4-BE49-F238E27FC236}">
                <a16:creationId xmlns:a16="http://schemas.microsoft.com/office/drawing/2014/main" id="{8B706F78-95CE-4FB9-9CA4-E5C68CC1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24">
            <a:extLst xmlns:a="http://schemas.openxmlformats.org/drawingml/2006/main">
              <a:ext uri="{FF2B5EF4-FFF2-40B4-BE49-F238E27FC236}">
                <a16:creationId xmlns:a16="http://schemas.microsoft.com/office/drawing/2014/main" id="{B99D5B58-D823-4E32-AE2E-320DA96A1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24</a:t>
            </a:r>
          </a:p>
        </p:txBody>
      </p:sp>
      <p:sp>
        <p:nvSpPr>
          <p:cNvPr id="5" name="step-box-1-70-194">
            <a:extLst xmlns:a="http://schemas.openxmlformats.org/drawingml/2006/main">
              <a:ext uri="{FF2B5EF4-FFF2-40B4-BE49-F238E27FC236}">
                <a16:creationId xmlns:a16="http://schemas.microsoft.com/office/drawing/2014/main" id="{134B8937-C240-4CD7-8DB1-175070480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478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step-1-70-194">
            <a:extLst xmlns:a="http://schemas.openxmlformats.org/drawingml/2006/main">
              <a:ext uri="{FF2B5EF4-FFF2-40B4-BE49-F238E27FC236}">
                <a16:creationId xmlns:a16="http://schemas.microsoft.com/office/drawing/2014/main" id="{AEF9DD62-FD87-4D0E-9B3D-D224090F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plugin-24-1">
            <a:extLst xmlns:a="http://schemas.openxmlformats.org/drawingml/2006/main">
              <a:ext uri="{FF2B5EF4-FFF2-40B4-BE49-F238E27FC236}">
                <a16:creationId xmlns:a16="http://schemas.microsoft.com/office/drawing/2014/main" id="{FF2E79E5-6A7D-41D7-ACE5-CC4FFB360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733550"/>
            <a:ext cx="9410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Consequently, [topic] can produce benefits that extend beyond [immediate result].</a:t>
            </a:r>
          </a:p>
        </p:txBody>
      </p:sp>
      <p:sp>
        <p:nvSpPr>
          <p:cNvPr id="8" name="rect-162-276">
            <a:extLst xmlns:a="http://schemas.openxmlformats.org/drawingml/2006/main">
              <a:ext uri="{FF2B5EF4-FFF2-40B4-BE49-F238E27FC236}">
                <a16:creationId xmlns:a16="http://schemas.microsoft.com/office/drawing/2014/main" id="{858D0E0A-76F0-4957-AEEC-EECF90FA2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628900"/>
            <a:ext cx="941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9" name="step-box-2-70-306">
            <a:extLst xmlns:a="http://schemas.openxmlformats.org/drawingml/2006/main">
              <a:ext uri="{FF2B5EF4-FFF2-40B4-BE49-F238E27FC236}">
                <a16:creationId xmlns:a16="http://schemas.microsoft.com/office/drawing/2014/main" id="{9A6401C7-FBCA-40AA-9FA0-3F15AFD8A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0" name="step-2-70-306">
            <a:extLst xmlns:a="http://schemas.openxmlformats.org/drawingml/2006/main">
              <a:ext uri="{FF2B5EF4-FFF2-40B4-BE49-F238E27FC236}">
                <a16:creationId xmlns:a16="http://schemas.microsoft.com/office/drawing/2014/main" id="{7576B489-84ED-4056-95D5-941A0BF5B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527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1" name="plugin-24-2">
            <a:extLst xmlns:a="http://schemas.openxmlformats.org/drawingml/2006/main">
              <a:ext uri="{FF2B5EF4-FFF2-40B4-BE49-F238E27FC236}">
                <a16:creationId xmlns:a16="http://schemas.microsoft.com/office/drawing/2014/main" id="{FAC2D9CA-8845-4C76-9480-5D31EDEA7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800350"/>
            <a:ext cx="9410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This example demonstrates that [main point].</a:t>
            </a:r>
          </a:p>
        </p:txBody>
      </p:sp>
      <p:sp>
        <p:nvSpPr>
          <p:cNvPr id="12" name="rect-162-388">
            <a:extLst xmlns:a="http://schemas.openxmlformats.org/drawingml/2006/main">
              <a:ext uri="{FF2B5EF4-FFF2-40B4-BE49-F238E27FC236}">
                <a16:creationId xmlns:a16="http://schemas.microsoft.com/office/drawing/2014/main" id="{67D39CF9-F71E-4AAF-A284-0C26277EB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695700"/>
            <a:ext cx="941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3" name="step-box-3-70-418">
            <a:extLst xmlns:a="http://schemas.openxmlformats.org/drawingml/2006/main">
              <a:ext uri="{FF2B5EF4-FFF2-40B4-BE49-F238E27FC236}">
                <a16:creationId xmlns:a16="http://schemas.microsoft.com/office/drawing/2014/main" id="{E61D69D7-69C2-48AE-8AD8-3EE5C4B4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4" name="step-3-70-418">
            <a:extLst xmlns:a="http://schemas.openxmlformats.org/drawingml/2006/main">
              <a:ext uri="{FF2B5EF4-FFF2-40B4-BE49-F238E27FC236}">
                <a16:creationId xmlns:a16="http://schemas.microsoft.com/office/drawing/2014/main" id="{9A9E4E61-F507-49C8-868B-41CF2505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5" name="plugin-24-3">
            <a:extLst xmlns:a="http://schemas.openxmlformats.org/drawingml/2006/main">
              <a:ext uri="{FF2B5EF4-FFF2-40B4-BE49-F238E27FC236}">
                <a16:creationId xmlns:a16="http://schemas.microsoft.com/office/drawing/2014/main" id="{33B28B38-F1C5-42DE-A21F-F1FCC273C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867150"/>
            <a:ext cx="9410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Therefore, the success of [topic] depends largely on [condition].</a:t>
            </a:r>
          </a:p>
        </p:txBody>
      </p:sp>
      <p:sp>
        <p:nvSpPr>
          <p:cNvPr id="16" name="rect-162-500">
            <a:extLst xmlns:a="http://schemas.openxmlformats.org/drawingml/2006/main">
              <a:ext uri="{FF2B5EF4-FFF2-40B4-BE49-F238E27FC236}">
                <a16:creationId xmlns:a16="http://schemas.microsoft.com/office/drawing/2014/main" id="{F61FED56-9484-4433-8F74-8DDE0F93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762500"/>
            <a:ext cx="9410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7" name="step-box-4-70-530">
            <a:extLst xmlns:a="http://schemas.openxmlformats.org/drawingml/2006/main">
              <a:ext uri="{FF2B5EF4-FFF2-40B4-BE49-F238E27FC236}">
                <a16:creationId xmlns:a16="http://schemas.microsoft.com/office/drawing/2014/main" id="{02FF01CC-9814-4806-85D8-36082DD9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482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8" name="step-4-70-530">
            <a:extLst xmlns:a="http://schemas.openxmlformats.org/drawingml/2006/main">
              <a:ext uri="{FF2B5EF4-FFF2-40B4-BE49-F238E27FC236}">
                <a16:creationId xmlns:a16="http://schemas.microsoft.com/office/drawing/2014/main" id="{26650207-5309-4F13-8EA9-B9225BE1F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863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9" name="plugin-24-4">
            <a:extLst xmlns:a="http://schemas.openxmlformats.org/drawingml/2006/main">
              <a:ext uri="{FF2B5EF4-FFF2-40B4-BE49-F238E27FC236}">
                <a16:creationId xmlns:a16="http://schemas.microsoft.com/office/drawing/2014/main" id="{87131258-F58D-4D9A-A744-005CF418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933950"/>
            <a:ext cx="94107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Thus, a balanced approach is necessary to maximise the benefits while minimising the risks.</a:t>
            </a:r>
          </a:p>
        </p:txBody>
      </p:sp>
    </p:spTree>
    <p:extLst>
      <p:ext uri="{BB962C8B-B14F-4D97-AF65-F5344CB8AC3E}">
        <p14:creationId xmlns:p14="http://schemas.microsoft.com/office/powerpoint/2010/main" val="644408053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25">
            <a:extLst xmlns:a="http://schemas.openxmlformats.org/drawingml/2006/main">
              <a:ext uri="{FF2B5EF4-FFF2-40B4-BE49-F238E27FC236}">
                <a16:creationId xmlns:a16="http://schemas.microsoft.com/office/drawing/2014/main" id="{756DF2EA-E968-48A9-A7DA-B0BEDA0C6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WORKED EXAMPLE</a:t>
            </a:r>
          </a:p>
        </p:txBody>
      </p:sp>
      <p:sp>
        <p:nvSpPr>
          <p:cNvPr id="2" name="title-25">
            <a:extLst xmlns:a="http://schemas.openxmlformats.org/drawingml/2006/main">
              <a:ext uri="{FF2B5EF4-FFF2-40B4-BE49-F238E27FC236}">
                <a16:creationId xmlns:a16="http://schemas.microsoft.com/office/drawing/2014/main" id="{5DC897CC-F961-4321-8F82-2A27090E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Four plug-ins become one coherent paragraph</a:t>
            </a:r>
          </a:p>
        </p:txBody>
      </p:sp>
      <p:sp>
        <p:nvSpPr>
          <p:cNvPr id="3" name="rule-25">
            <a:extLst xmlns:a="http://schemas.openxmlformats.org/drawingml/2006/main">
              <a:ext uri="{FF2B5EF4-FFF2-40B4-BE49-F238E27FC236}">
                <a16:creationId xmlns:a16="http://schemas.microsoft.com/office/drawing/2014/main" id="{A8E750BA-8354-404D-A46B-77119A25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25">
            <a:extLst xmlns:a="http://schemas.openxmlformats.org/drawingml/2006/main">
              <a:ext uri="{FF2B5EF4-FFF2-40B4-BE49-F238E27FC236}">
                <a16:creationId xmlns:a16="http://schemas.microsoft.com/office/drawing/2014/main" id="{B0DD8ACC-25CE-4C7B-B040-0E2E59321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25</a:t>
            </a:r>
          </a:p>
        </p:txBody>
      </p:sp>
      <p:sp>
        <p:nvSpPr>
          <p:cNvPr id="5" name="text-70-184">
            <a:extLst xmlns:a="http://schemas.openxmlformats.org/drawingml/2006/main">
              <a:ext uri="{FF2B5EF4-FFF2-40B4-BE49-F238E27FC236}">
                <a16:creationId xmlns:a16="http://schemas.microsoft.com/office/drawing/2014/main" id="{D60118AA-374F-49DB-9484-760BFD6B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D8DFF"/>
                </a:solidFill>
              </a:defRPr>
            </a:pPr>
            <a:r>
              <a:rPr sz="1125" b="1">
                <a:solidFill>
                  <a:srgbClr val="3D8DFF"/>
                </a:solidFill>
              </a:rPr>
              <a:t>PROMPT</a:t>
            </a:r>
          </a:p>
        </p:txBody>
      </p:sp>
      <p:sp>
        <p:nvSpPr>
          <p:cNvPr id="6" name="text-70-216">
            <a:extLst xmlns:a="http://schemas.openxmlformats.org/drawingml/2006/main">
              <a:ext uri="{FF2B5EF4-FFF2-40B4-BE49-F238E27FC236}">
                <a16:creationId xmlns:a16="http://schemas.microsoft.com/office/drawing/2014/main" id="{00A4B76D-33C8-4E8F-AF33-235B1968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57400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</a:defRPr>
            </a:pPr>
            <a:r>
              <a:rPr sz="1875" b="1">
                <a:solidFill>
                  <a:srgbClr val="111111"/>
                </a:solidFill>
              </a:rPr>
              <a:t>Artificial intelligence should play a greater role in classroom teaching. Do you agree?</a:t>
            </a:r>
          </a:p>
        </p:txBody>
      </p:sp>
      <p:sp>
        <p:nvSpPr>
          <p:cNvPr id="7" name="text-70-295">
            <a:extLst xmlns:a="http://schemas.openxmlformats.org/drawingml/2006/main">
              <a:ext uri="{FF2B5EF4-FFF2-40B4-BE49-F238E27FC236}">
                <a16:creationId xmlns:a16="http://schemas.microsoft.com/office/drawing/2014/main" id="{D77BF540-9AA7-44B7-BA0D-F9FA4CD51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POINT</a:t>
            </a:r>
          </a:p>
        </p:txBody>
      </p:sp>
      <p:sp>
        <p:nvSpPr>
          <p:cNvPr id="8" name="text-196-288">
            <a:extLst xmlns:a="http://schemas.openxmlformats.org/drawingml/2006/main">
              <a:ext uri="{FF2B5EF4-FFF2-40B4-BE49-F238E27FC236}">
                <a16:creationId xmlns:a16="http://schemas.microsoft.com/office/drawing/2014/main" id="{EC9FCDCC-9C99-4479-887D-CBFF0ED9F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743200"/>
            <a:ext cx="9182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When used responsibly, artificial intelligence can increase efficiency and give learners faster access to personalised support.</a:t>
            </a:r>
          </a:p>
        </p:txBody>
      </p:sp>
      <p:sp>
        <p:nvSpPr>
          <p:cNvPr id="9" name="rect-196-356">
            <a:extLst xmlns:a="http://schemas.openxmlformats.org/drawingml/2006/main">
              <a:ext uri="{FF2B5EF4-FFF2-40B4-BE49-F238E27FC236}">
                <a16:creationId xmlns:a16="http://schemas.microsoft.com/office/drawing/2014/main" id="{72063B78-C241-49E5-8A66-927700AB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390900"/>
            <a:ext cx="918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text-70-374">
            <a:extLst xmlns:a="http://schemas.openxmlformats.org/drawingml/2006/main">
              <a:ext uri="{FF2B5EF4-FFF2-40B4-BE49-F238E27FC236}">
                <a16:creationId xmlns:a16="http://schemas.microsoft.com/office/drawing/2014/main" id="{B821D706-2EF7-461B-86AA-210CA3CB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623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EXPLAIN</a:t>
            </a:r>
          </a:p>
        </p:txBody>
      </p:sp>
      <p:sp>
        <p:nvSpPr>
          <p:cNvPr id="11" name="text-196-367">
            <a:extLst xmlns:a="http://schemas.openxmlformats.org/drawingml/2006/main">
              <a:ext uri="{FF2B5EF4-FFF2-40B4-BE49-F238E27FC236}">
                <a16:creationId xmlns:a16="http://schemas.microsoft.com/office/drawing/2014/main" id="{F8BC302E-13E6-41CB-9C32-96F73ED3F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495675"/>
            <a:ext cx="9182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This is primarily because adaptive systems can identify common errors immediately, which in turn allows students to practise more effectively.</a:t>
            </a:r>
          </a:p>
        </p:txBody>
      </p:sp>
      <p:sp>
        <p:nvSpPr>
          <p:cNvPr id="12" name="rect-196-435">
            <a:extLst xmlns:a="http://schemas.openxmlformats.org/drawingml/2006/main">
              <a:ext uri="{FF2B5EF4-FFF2-40B4-BE49-F238E27FC236}">
                <a16:creationId xmlns:a16="http://schemas.microsoft.com/office/drawing/2014/main" id="{EBD2B10F-B3D2-4F73-AB85-79D5E0915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143375"/>
            <a:ext cx="918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3" name="text-70-453">
            <a:extLst xmlns:a="http://schemas.openxmlformats.org/drawingml/2006/main">
              <a:ext uri="{FF2B5EF4-FFF2-40B4-BE49-F238E27FC236}">
                <a16:creationId xmlns:a16="http://schemas.microsoft.com/office/drawing/2014/main" id="{346B57EC-56E6-4D43-9992-9A23C063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14825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EXAMPLE</a:t>
            </a:r>
          </a:p>
        </p:txBody>
      </p:sp>
      <p:sp>
        <p:nvSpPr>
          <p:cNvPr id="14" name="text-196-446">
            <a:extLst xmlns:a="http://schemas.openxmlformats.org/drawingml/2006/main">
              <a:ext uri="{FF2B5EF4-FFF2-40B4-BE49-F238E27FC236}">
                <a16:creationId xmlns:a16="http://schemas.microsoft.com/office/drawing/2014/main" id="{40BD4C2B-87EE-4588-BB19-36DFDB03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248150"/>
            <a:ext cx="9182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Online learning provides a relevant example, as digital tools are most effective when access is supported by appropriate teacher guidance.</a:t>
            </a:r>
          </a:p>
        </p:txBody>
      </p:sp>
      <p:sp>
        <p:nvSpPr>
          <p:cNvPr id="15" name="rect-196-514">
            <a:extLst xmlns:a="http://schemas.openxmlformats.org/drawingml/2006/main">
              <a:ext uri="{FF2B5EF4-FFF2-40B4-BE49-F238E27FC236}">
                <a16:creationId xmlns:a16="http://schemas.microsoft.com/office/drawing/2014/main" id="{783B3682-D698-4EC7-8723-1037CE99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895850"/>
            <a:ext cx="9182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6" name="text-70-532">
            <a:extLst xmlns:a="http://schemas.openxmlformats.org/drawingml/2006/main">
              <a:ext uri="{FF2B5EF4-FFF2-40B4-BE49-F238E27FC236}">
                <a16:creationId xmlns:a16="http://schemas.microsoft.com/office/drawing/2014/main" id="{9DB92B80-6BC5-49E6-BC5F-E5875E82E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6730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LINK</a:t>
            </a:r>
          </a:p>
        </p:txBody>
      </p:sp>
      <p:sp>
        <p:nvSpPr>
          <p:cNvPr id="17" name="text-196-525">
            <a:extLst xmlns:a="http://schemas.openxmlformats.org/drawingml/2006/main">
              <a:ext uri="{FF2B5EF4-FFF2-40B4-BE49-F238E27FC236}">
                <a16:creationId xmlns:a16="http://schemas.microsoft.com/office/drawing/2014/main" id="{2D014DD5-296F-4E93-829C-A9B6AFBC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000625"/>
            <a:ext cx="9182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111"/>
                </a:solidFill>
              </a:defRPr>
            </a:pPr>
            <a:r>
              <a:rPr sz="1575" b="0">
                <a:solidFill>
                  <a:srgbClr val="111111"/>
                </a:solidFill>
              </a:rPr>
              <a:t>Therefore, the success of classroom AI depends largely on combining technological assistance with professional supervision.</a:t>
            </a:r>
          </a:p>
        </p:txBody>
      </p:sp>
      <p:sp>
        <p:nvSpPr>
          <p:cNvPr id="18" name="rect-70-620">
            <a:extLst xmlns:a="http://schemas.openxmlformats.org/drawingml/2006/main">
              <a:ext uri="{FF2B5EF4-FFF2-40B4-BE49-F238E27FC236}">
                <a16:creationId xmlns:a16="http://schemas.microsoft.com/office/drawing/2014/main" id="{3EB95A31-894E-4C7E-874F-97BC8D929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382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19" name="text-90-625">
            <a:extLst xmlns:a="http://schemas.openxmlformats.org/drawingml/2006/main">
              <a:ext uri="{FF2B5EF4-FFF2-40B4-BE49-F238E27FC236}">
                <a16:creationId xmlns:a16="http://schemas.microsoft.com/office/drawing/2014/main" id="{F021975D-5792-4309-8F72-1CA4E88D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5312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</a:defRPr>
            </a:pPr>
            <a:r>
              <a:rPr sz="1425" b="1">
                <a:solidFill>
                  <a:srgbClr val="111111"/>
                </a:solidFill>
              </a:rPr>
              <a:t>One idea developed logically is stronger than several disconnected ideas.</a:t>
            </a:r>
          </a:p>
        </p:txBody>
      </p:sp>
    </p:spTree>
    <p:extLst>
      <p:ext uri="{BB962C8B-B14F-4D97-AF65-F5344CB8AC3E}">
        <p14:creationId xmlns:p14="http://schemas.microsoft.com/office/powerpoint/2010/main" val="47910342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eyebrow-26">
            <a:extLst xmlns:a="http://schemas.openxmlformats.org/drawingml/2006/main">
              <a:ext uri="{FF2B5EF4-FFF2-40B4-BE49-F238E27FC236}">
                <a16:creationId xmlns:a16="http://schemas.microsoft.com/office/drawing/2014/main" id="{BA2629E6-DD91-4B53-B108-68C1A78FC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GUIDED PRACTICE</a:t>
            </a:r>
          </a:p>
        </p:txBody>
      </p:sp>
      <p:sp>
        <p:nvSpPr>
          <p:cNvPr id="2" name="title-26">
            <a:extLst xmlns:a="http://schemas.openxmlformats.org/drawingml/2006/main">
              <a:ext uri="{FF2B5EF4-FFF2-40B4-BE49-F238E27FC236}">
                <a16:creationId xmlns:a16="http://schemas.microsoft.com/office/drawing/2014/main" id="{D32C847E-6185-4985-B454-A93D7F51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Your turn: select, develop, prove and connect</a:t>
            </a:r>
          </a:p>
        </p:txBody>
      </p:sp>
      <p:sp>
        <p:nvSpPr>
          <p:cNvPr id="3" name="rule-26">
            <a:extLst xmlns:a="http://schemas.openxmlformats.org/drawingml/2006/main">
              <a:ext uri="{FF2B5EF4-FFF2-40B4-BE49-F238E27FC236}">
                <a16:creationId xmlns:a16="http://schemas.microsoft.com/office/drawing/2014/main" id="{D239585B-817B-4CA2-841A-D7F83D70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26">
            <a:extLst xmlns:a="http://schemas.openxmlformats.org/drawingml/2006/main">
              <a:ext uri="{FF2B5EF4-FFF2-40B4-BE49-F238E27FC236}">
                <a16:creationId xmlns:a16="http://schemas.microsoft.com/office/drawing/2014/main" id="{FAB1FA68-5A07-4868-A0E9-9FA454C79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26</a:t>
            </a:r>
          </a:p>
        </p:txBody>
      </p:sp>
      <p:sp>
        <p:nvSpPr>
          <p:cNvPr id="5" name="text-70-188">
            <a:extLst xmlns:a="http://schemas.openxmlformats.org/drawingml/2006/main">
              <a:ext uri="{FF2B5EF4-FFF2-40B4-BE49-F238E27FC236}">
                <a16:creationId xmlns:a16="http://schemas.microsoft.com/office/drawing/2014/main" id="{767DB3BF-5452-49DC-91BF-D5222AC32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A</a:t>
            </a:r>
          </a:p>
        </p:txBody>
      </p:sp>
      <p:sp>
        <p:nvSpPr>
          <p:cNvPr id="6" name="text-146-188">
            <a:extLst xmlns:a="http://schemas.openxmlformats.org/drawingml/2006/main">
              <a:ext uri="{FF2B5EF4-FFF2-40B4-BE49-F238E27FC236}">
                <a16:creationId xmlns:a16="http://schemas.microsoft.com/office/drawing/2014/main" id="{D39415EE-ACF0-4A55-BD40-D14C57EB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7907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Governments should make public transport free.</a:t>
            </a:r>
          </a:p>
        </p:txBody>
      </p:sp>
      <p:sp>
        <p:nvSpPr>
          <p:cNvPr id="7" name="text-146-248">
            <a:extLst xmlns:a="http://schemas.openxmlformats.org/drawingml/2006/main">
              <a:ext uri="{FF2B5EF4-FFF2-40B4-BE49-F238E27FC236}">
                <a16:creationId xmlns:a16="http://schemas.microsoft.com/office/drawing/2014/main" id="{E4C47E30-F0EC-4D72-84D3-9B9CE8CF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6220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673"/>
                </a:solidFill>
              </a:defRPr>
            </a:pPr>
            <a:r>
              <a:rPr sz="1425" b="0">
                <a:solidFill>
                  <a:srgbClr val="5E6673"/>
                </a:solidFill>
              </a:rPr>
              <a:t>Category: __________   Point line: __________</a:t>
            </a:r>
          </a:p>
        </p:txBody>
      </p:sp>
      <p:sp>
        <p:nvSpPr>
          <p:cNvPr id="8" name="text-930-190">
            <a:extLst xmlns:a="http://schemas.openxmlformats.org/drawingml/2006/main">
              <a:ext uri="{FF2B5EF4-FFF2-40B4-BE49-F238E27FC236}">
                <a16:creationId xmlns:a16="http://schemas.microsoft.com/office/drawing/2014/main" id="{87F8B12A-D5D0-43FE-B867-6745AC4B6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809750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673"/>
                </a:solidFill>
              </a:defRPr>
            </a:pPr>
            <a:r>
              <a:rPr sz="1275" b="0">
                <a:solidFill>
                  <a:srgbClr val="5E6673"/>
                </a:solidFill>
              </a:rPr>
              <a:t>Example: ______________________________</a:t>
            </a:r>
          </a:p>
        </p:txBody>
      </p:sp>
      <p:sp>
        <p:nvSpPr>
          <p:cNvPr id="9" name="rect-70-298">
            <a:extLst xmlns:a="http://schemas.openxmlformats.org/drawingml/2006/main">
              <a:ext uri="{FF2B5EF4-FFF2-40B4-BE49-F238E27FC236}">
                <a16:creationId xmlns:a16="http://schemas.microsoft.com/office/drawing/2014/main" id="{577B4468-738F-4A9B-85F5-C135973C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384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0" name="text-70-320">
            <a:extLst xmlns:a="http://schemas.openxmlformats.org/drawingml/2006/main">
              <a:ext uri="{FF2B5EF4-FFF2-40B4-BE49-F238E27FC236}">
                <a16:creationId xmlns:a16="http://schemas.microsoft.com/office/drawing/2014/main" id="{CCD7EDE7-30EC-4CB0-AF4D-7E877488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B</a:t>
            </a:r>
          </a:p>
        </p:txBody>
      </p:sp>
      <p:sp>
        <p:nvSpPr>
          <p:cNvPr id="11" name="text-146-320">
            <a:extLst xmlns:a="http://schemas.openxmlformats.org/drawingml/2006/main">
              <a:ext uri="{FF2B5EF4-FFF2-40B4-BE49-F238E27FC236}">
                <a16:creationId xmlns:a16="http://schemas.microsoft.com/office/drawing/2014/main" id="{F76AE611-0DE4-40EC-8E82-28B2DB3E3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480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Scientific research should receive more public funding.</a:t>
            </a:r>
          </a:p>
        </p:txBody>
      </p:sp>
      <p:sp>
        <p:nvSpPr>
          <p:cNvPr id="12" name="text-146-380">
            <a:extLst xmlns:a="http://schemas.openxmlformats.org/drawingml/2006/main">
              <a:ext uri="{FF2B5EF4-FFF2-40B4-BE49-F238E27FC236}">
                <a16:creationId xmlns:a16="http://schemas.microsoft.com/office/drawing/2014/main" id="{C8AA2201-5B8C-4214-80CA-87C51EF0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1950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673"/>
                </a:solidFill>
              </a:defRPr>
            </a:pPr>
            <a:r>
              <a:rPr sz="1425" b="0">
                <a:solidFill>
                  <a:srgbClr val="5E6673"/>
                </a:solidFill>
              </a:rPr>
              <a:t>Category: __________   Point line: __________</a:t>
            </a:r>
          </a:p>
        </p:txBody>
      </p:sp>
      <p:sp>
        <p:nvSpPr>
          <p:cNvPr id="13" name="text-930-322">
            <a:extLst xmlns:a="http://schemas.openxmlformats.org/drawingml/2006/main">
              <a:ext uri="{FF2B5EF4-FFF2-40B4-BE49-F238E27FC236}">
                <a16:creationId xmlns:a16="http://schemas.microsoft.com/office/drawing/2014/main" id="{8E0554FD-19EC-47FF-A531-CB6DA9C9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67050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673"/>
                </a:solidFill>
              </a:defRPr>
            </a:pPr>
            <a:r>
              <a:rPr sz="1275" b="0">
                <a:solidFill>
                  <a:srgbClr val="5E6673"/>
                </a:solidFill>
              </a:rPr>
              <a:t>Example: ______________________________</a:t>
            </a:r>
          </a:p>
        </p:txBody>
      </p:sp>
      <p:sp>
        <p:nvSpPr>
          <p:cNvPr id="14" name="rect-70-430">
            <a:extLst xmlns:a="http://schemas.openxmlformats.org/drawingml/2006/main">
              <a:ext uri="{FF2B5EF4-FFF2-40B4-BE49-F238E27FC236}">
                <a16:creationId xmlns:a16="http://schemas.microsoft.com/office/drawing/2014/main" id="{C1CBE56C-00C1-45F7-8BE5-F977191A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5" name="text-70-452">
            <a:extLst xmlns:a="http://schemas.openxmlformats.org/drawingml/2006/main">
              <a:ext uri="{FF2B5EF4-FFF2-40B4-BE49-F238E27FC236}">
                <a16:creationId xmlns:a16="http://schemas.microsoft.com/office/drawing/2014/main" id="{AAE59209-0D81-44C1-BC90-445E68A0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57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8DFF"/>
                </a:solidFill>
              </a:defRPr>
            </a:pPr>
            <a:r>
              <a:rPr sz="2250" b="1">
                <a:solidFill>
                  <a:srgbClr val="3D8DFF"/>
                </a:solidFill>
              </a:rPr>
              <a:t>C</a:t>
            </a:r>
          </a:p>
        </p:txBody>
      </p:sp>
      <p:sp>
        <p:nvSpPr>
          <p:cNvPr id="16" name="text-146-452">
            <a:extLst xmlns:a="http://schemas.openxmlformats.org/drawingml/2006/main">
              <a:ext uri="{FF2B5EF4-FFF2-40B4-BE49-F238E27FC236}">
                <a16:creationId xmlns:a16="http://schemas.microsoft.com/office/drawing/2014/main" id="{2264FFBE-09A4-43CB-847B-98A376A3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0530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</a:defRPr>
            </a:pPr>
            <a:r>
              <a:rPr sz="1800" b="1">
                <a:solidFill>
                  <a:srgbClr val="111111"/>
                </a:solidFill>
              </a:rPr>
              <a:t>Long working hours do more harm than good.</a:t>
            </a:r>
          </a:p>
        </p:txBody>
      </p:sp>
      <p:sp>
        <p:nvSpPr>
          <p:cNvPr id="17" name="text-146-512">
            <a:extLst xmlns:a="http://schemas.openxmlformats.org/drawingml/2006/main">
              <a:ext uri="{FF2B5EF4-FFF2-40B4-BE49-F238E27FC236}">
                <a16:creationId xmlns:a16="http://schemas.microsoft.com/office/drawing/2014/main" id="{479590D7-ECA2-4D50-BBA3-055EBDDDE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876800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6673"/>
                </a:solidFill>
              </a:defRPr>
            </a:pPr>
            <a:r>
              <a:rPr sz="1425" b="0">
                <a:solidFill>
                  <a:srgbClr val="5E6673"/>
                </a:solidFill>
              </a:rPr>
              <a:t>Category: __________   Point line: __________</a:t>
            </a:r>
          </a:p>
        </p:txBody>
      </p:sp>
      <p:sp>
        <p:nvSpPr>
          <p:cNvPr id="18" name="text-930-454">
            <a:extLst xmlns:a="http://schemas.openxmlformats.org/drawingml/2006/main">
              <a:ext uri="{FF2B5EF4-FFF2-40B4-BE49-F238E27FC236}">
                <a16:creationId xmlns:a16="http://schemas.microsoft.com/office/drawing/2014/main" id="{471A5A61-E4C1-4C0E-BA35-88CD7028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324350"/>
            <a:ext cx="219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E6673"/>
                </a:solidFill>
              </a:defRPr>
            </a:pPr>
            <a:r>
              <a:rPr sz="1275" b="0">
                <a:solidFill>
                  <a:srgbClr val="5E6673"/>
                </a:solidFill>
              </a:rPr>
              <a:t>Example: ______________________________</a:t>
            </a:r>
          </a:p>
        </p:txBody>
      </p:sp>
      <p:sp>
        <p:nvSpPr>
          <p:cNvPr id="19" name="rect-70-595">
            <a:extLst xmlns:a="http://schemas.openxmlformats.org/drawingml/2006/main">
              <a:ext uri="{FF2B5EF4-FFF2-40B4-BE49-F238E27FC236}">
                <a16:creationId xmlns:a16="http://schemas.microsoft.com/office/drawing/2014/main" id="{301147F3-9E05-4433-9A3B-EF07575CA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67375"/>
            <a:ext cx="10382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0EDFA"/>
          </a:solidFill>
          <a:ln xmlns:a="http://schemas.openxmlformats.org/drawingml/2006/main" w="0">
            <a:solidFill>
              <a:srgbClr val="D0EDFA"/>
            </a:solidFill>
            <a:prstDash val="solid"/>
          </a:ln>
        </p:spPr>
      </p:sp>
      <p:sp>
        <p:nvSpPr>
          <p:cNvPr id="20" name="text-90-609">
            <a:extLst xmlns:a="http://schemas.openxmlformats.org/drawingml/2006/main">
              <a:ext uri="{FF2B5EF4-FFF2-40B4-BE49-F238E27FC236}">
                <a16:creationId xmlns:a16="http://schemas.microsoft.com/office/drawing/2014/main" id="{A49C3522-A3AA-461A-B351-3DCD51AC4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0072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</a:defRPr>
            </a:pPr>
            <a:r>
              <a:rPr sz="1575" b="1">
                <a:solidFill>
                  <a:srgbClr val="111111"/>
                </a:solidFill>
              </a:rPr>
              <a:t>Write four sentences: point + explanation + example + link.</a:t>
            </a:r>
          </a:p>
        </p:txBody>
      </p:sp>
    </p:spTree>
    <p:extLst>
      <p:ext uri="{BB962C8B-B14F-4D97-AF65-F5344CB8AC3E}">
        <p14:creationId xmlns:p14="http://schemas.microsoft.com/office/powerpoint/2010/main" val="147240725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yebrow-27">
            <a:extLst xmlns:a="http://schemas.openxmlformats.org/drawingml/2006/main">
              <a:ext uri="{FF2B5EF4-FFF2-40B4-BE49-F238E27FC236}">
                <a16:creationId xmlns:a16="http://schemas.microsoft.com/office/drawing/2014/main" id="{A2B3984E-FD30-4413-93F1-33569880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ANSWER CHECK</a:t>
            </a:r>
          </a:p>
        </p:txBody>
      </p:sp>
      <p:sp>
        <p:nvSpPr>
          <p:cNvPr id="2" name="title-27">
            <a:extLst xmlns:a="http://schemas.openxmlformats.org/drawingml/2006/main">
              <a:ext uri="{FF2B5EF4-FFF2-40B4-BE49-F238E27FC236}">
                <a16:creationId xmlns:a16="http://schemas.microsoft.com/office/drawing/2014/main" id="{93D17878-622C-475F-872E-AFB2EC52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Clear connections make several answers acceptable</a:t>
            </a:r>
          </a:p>
        </p:txBody>
      </p:sp>
      <p:sp>
        <p:nvSpPr>
          <p:cNvPr id="3" name="rule-27">
            <a:extLst xmlns:a="http://schemas.openxmlformats.org/drawingml/2006/main">
              <a:ext uri="{FF2B5EF4-FFF2-40B4-BE49-F238E27FC236}">
                <a16:creationId xmlns:a16="http://schemas.microsoft.com/office/drawing/2014/main" id="{BB1AA084-5CD8-46A4-AD24-A2A4894C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27">
            <a:extLst xmlns:a="http://schemas.openxmlformats.org/drawingml/2006/main">
              <a:ext uri="{FF2B5EF4-FFF2-40B4-BE49-F238E27FC236}">
                <a16:creationId xmlns:a16="http://schemas.microsoft.com/office/drawing/2014/main" id="{3EE93C73-1D31-452F-B9A1-C8134952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27</a:t>
            </a:r>
          </a:p>
        </p:txBody>
      </p:sp>
      <p:sp>
        <p:nvSpPr>
          <p:cNvPr id="5" name="text-70-190">
            <a:extLst xmlns:a="http://schemas.openxmlformats.org/drawingml/2006/main">
              <a:ext uri="{FF2B5EF4-FFF2-40B4-BE49-F238E27FC236}">
                <a16:creationId xmlns:a16="http://schemas.microsoft.com/office/drawing/2014/main" id="{140DF894-773D-4BE4-912D-883B61AD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A · ENVIRONMENT</a:t>
            </a:r>
          </a:p>
        </p:txBody>
      </p:sp>
      <p:sp>
        <p:nvSpPr>
          <p:cNvPr id="6" name="text-312-188">
            <a:extLst xmlns:a="http://schemas.openxmlformats.org/drawingml/2006/main">
              <a:ext uri="{FF2B5EF4-FFF2-40B4-BE49-F238E27FC236}">
                <a16:creationId xmlns:a16="http://schemas.microsoft.com/office/drawing/2014/main" id="{9F4474C2-8670-49A3-941E-826159EF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790700"/>
            <a:ext cx="8077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Investment in public transportation demonstrates how one policy can reduce pollution, traffic congestion and household transportation costs simultaneously.</a:t>
            </a:r>
          </a:p>
        </p:txBody>
      </p:sp>
      <p:sp>
        <p:nvSpPr>
          <p:cNvPr id="7" name="rect-70-302">
            <a:extLst xmlns:a="http://schemas.openxmlformats.org/drawingml/2006/main">
              <a:ext uri="{FF2B5EF4-FFF2-40B4-BE49-F238E27FC236}">
                <a16:creationId xmlns:a16="http://schemas.microsoft.com/office/drawing/2014/main" id="{F150763A-ADAE-4914-80B4-966310DCA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7655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8" name="text-70-332">
            <a:extLst xmlns:a="http://schemas.openxmlformats.org/drawingml/2006/main">
              <a:ext uri="{FF2B5EF4-FFF2-40B4-BE49-F238E27FC236}">
                <a16:creationId xmlns:a16="http://schemas.microsoft.com/office/drawing/2014/main" id="{6782A121-E2BF-4051-94C7-EF90A99F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B · SCIENCE</a:t>
            </a:r>
          </a:p>
        </p:txBody>
      </p:sp>
      <p:sp>
        <p:nvSpPr>
          <p:cNvPr id="9" name="text-312-330">
            <a:extLst xmlns:a="http://schemas.openxmlformats.org/drawingml/2006/main">
              <a:ext uri="{FF2B5EF4-FFF2-40B4-BE49-F238E27FC236}">
                <a16:creationId xmlns:a16="http://schemas.microsoft.com/office/drawing/2014/main" id="{8D9B136A-C23F-4F86-A0BC-306B50D59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43250"/>
            <a:ext cx="8077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Scientific research deserves sustained investment because it generates evidence-based solutions to complex medical, social and environmental problems.</a:t>
            </a:r>
          </a:p>
        </p:txBody>
      </p:sp>
      <p:sp>
        <p:nvSpPr>
          <p:cNvPr id="10" name="rect-70-444">
            <a:extLst xmlns:a="http://schemas.openxmlformats.org/drawingml/2006/main">
              <a:ext uri="{FF2B5EF4-FFF2-40B4-BE49-F238E27FC236}">
                <a16:creationId xmlns:a16="http://schemas.microsoft.com/office/drawing/2014/main" id="{6767ECBD-EE32-442F-9722-DE8866817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29100"/>
            <a:ext cx="10382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1" name="text-70-474">
            <a:extLst xmlns:a="http://schemas.openxmlformats.org/drawingml/2006/main">
              <a:ext uri="{FF2B5EF4-FFF2-40B4-BE49-F238E27FC236}">
                <a16:creationId xmlns:a16="http://schemas.microsoft.com/office/drawing/2014/main" id="{3CE1076E-F348-4612-9384-6EFC51516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14850"/>
            <a:ext cx="219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C · INDIVIDUALS</a:t>
            </a:r>
          </a:p>
        </p:txBody>
      </p:sp>
      <p:sp>
        <p:nvSpPr>
          <p:cNvPr id="12" name="text-312-472">
            <a:extLst xmlns:a="http://schemas.openxmlformats.org/drawingml/2006/main">
              <a:ext uri="{FF2B5EF4-FFF2-40B4-BE49-F238E27FC236}">
                <a16:creationId xmlns:a16="http://schemas.microsoft.com/office/drawing/2014/main" id="{51DB835C-9A09-4C8D-8B3E-F67479CE9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495800"/>
            <a:ext cx="8077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A person who regularly works excessive hours may earn more money, but the resulting stress can damage health and family relationships.</a:t>
            </a:r>
          </a:p>
        </p:txBody>
      </p:sp>
      <p:sp>
        <p:nvSpPr>
          <p:cNvPr id="13" name="text-70-620">
            <a:extLst xmlns:a="http://schemas.openxmlformats.org/drawingml/2006/main">
              <a:ext uri="{FF2B5EF4-FFF2-40B4-BE49-F238E27FC236}">
                <a16:creationId xmlns:a16="http://schemas.microsoft.com/office/drawing/2014/main" id="{5847F0C8-DB47-4082-94F1-79DE23A4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57A55"/>
                </a:solidFill>
              </a:defRPr>
            </a:pPr>
            <a:r>
              <a:rPr sz="1425" b="1">
                <a:solidFill>
                  <a:srgbClr val="157A55"/>
                </a:solidFill>
              </a:rPr>
              <a:t>The category is useful only when the completed idea answers the exact prompt.</a:t>
            </a:r>
          </a:p>
        </p:txBody>
      </p:sp>
    </p:spTree>
    <p:extLst>
      <p:ext uri="{BB962C8B-B14F-4D97-AF65-F5344CB8AC3E}">
        <p14:creationId xmlns:p14="http://schemas.microsoft.com/office/powerpoint/2010/main" val="97920073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eyebrow-28">
            <a:extLst xmlns:a="http://schemas.openxmlformats.org/drawingml/2006/main">
              <a:ext uri="{FF2B5EF4-FFF2-40B4-BE49-F238E27FC236}">
                <a16:creationId xmlns:a16="http://schemas.microsoft.com/office/drawing/2014/main" id="{A6EFD23D-0B0E-4BCD-945F-129BE866A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</a:defRPr>
            </a:pPr>
            <a:r>
              <a:rPr sz="1200" b="1">
                <a:solidFill>
                  <a:srgbClr val="3D8DFF"/>
                </a:solidFill>
              </a:rPr>
              <a:t>FINAL CHECK</a:t>
            </a:r>
          </a:p>
        </p:txBody>
      </p:sp>
      <p:sp>
        <p:nvSpPr>
          <p:cNvPr id="2" name="title-28">
            <a:extLst xmlns:a="http://schemas.openxmlformats.org/drawingml/2006/main">
              <a:ext uri="{FF2B5EF4-FFF2-40B4-BE49-F238E27FC236}">
                <a16:creationId xmlns:a16="http://schemas.microsoft.com/office/drawing/2014/main" id="{D54C63BD-B350-4396-B930-C86F53BE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11111"/>
                </a:solidFill>
              </a:defRPr>
            </a:pPr>
            <a:r>
              <a:rPr sz="2925" b="1">
                <a:solidFill>
                  <a:srgbClr val="111111"/>
                </a:solidFill>
              </a:rPr>
              <a:t>Before starting the next paragraph, check six things</a:t>
            </a:r>
          </a:p>
        </p:txBody>
      </p:sp>
      <p:sp>
        <p:nvSpPr>
          <p:cNvPr id="3" name="rule-28">
            <a:extLst xmlns:a="http://schemas.openxmlformats.org/drawingml/2006/main">
              <a:ext uri="{FF2B5EF4-FFF2-40B4-BE49-F238E27FC236}">
                <a16:creationId xmlns:a16="http://schemas.microsoft.com/office/drawing/2014/main" id="{5A5171CC-3260-45B0-984B-5D80CE16F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11125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4" name="page-28">
            <a:extLst xmlns:a="http://schemas.openxmlformats.org/drawingml/2006/main">
              <a:ext uri="{FF2B5EF4-FFF2-40B4-BE49-F238E27FC236}">
                <a16:creationId xmlns:a16="http://schemas.microsoft.com/office/drawing/2014/main" id="{5536DDF3-778C-4FA5-B16D-96C0FFB7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63912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E6673"/>
                </a:solidFill>
              </a:defRPr>
            </a:pPr>
            <a:r>
              <a:rPr sz="1050" b="0">
                <a:solidFill>
                  <a:srgbClr val="5E6673"/>
                </a:solidFill>
              </a:rPr>
              <a:t>28</a:t>
            </a:r>
          </a:p>
        </p:txBody>
      </p:sp>
      <p:sp>
        <p:nvSpPr>
          <p:cNvPr id="5" name="rect-70-186">
            <a:extLst xmlns:a="http://schemas.openxmlformats.org/drawingml/2006/main">
              <a:ext uri="{FF2B5EF4-FFF2-40B4-BE49-F238E27FC236}">
                <a16:creationId xmlns:a16="http://schemas.microsoft.com/office/drawing/2014/main" id="{BF902427-86A4-4833-8BA3-0754FE19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6" name="text-70-184">
            <a:extLst xmlns:a="http://schemas.openxmlformats.org/drawingml/2006/main">
              <a:ext uri="{FF2B5EF4-FFF2-40B4-BE49-F238E27FC236}">
                <a16:creationId xmlns:a16="http://schemas.microsoft.com/office/drawing/2014/main" id="{AC6BC1CD-B72A-4BE7-AED8-CD2B4EC1C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526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7" name="text-132-182">
            <a:extLst xmlns:a="http://schemas.openxmlformats.org/drawingml/2006/main">
              <a:ext uri="{FF2B5EF4-FFF2-40B4-BE49-F238E27FC236}">
                <a16:creationId xmlns:a16="http://schemas.microsoft.com/office/drawing/2014/main" id="{A23C0CE1-E71E-4735-B6D9-7B0E50847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1733550"/>
            <a:ext cx="962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The point directly answers the essay question.</a:t>
            </a:r>
          </a:p>
        </p:txBody>
      </p:sp>
      <p:sp>
        <p:nvSpPr>
          <p:cNvPr id="8" name="rect-70-254">
            <a:extLst xmlns:a="http://schemas.openxmlformats.org/drawingml/2006/main">
              <a:ext uri="{FF2B5EF4-FFF2-40B4-BE49-F238E27FC236}">
                <a16:creationId xmlns:a16="http://schemas.microsoft.com/office/drawing/2014/main" id="{E5599E5B-B3CE-43E6-B01C-81242E6D4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193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text-70-252">
            <a:extLst xmlns:a="http://schemas.openxmlformats.org/drawingml/2006/main">
              <a:ext uri="{FF2B5EF4-FFF2-40B4-BE49-F238E27FC236}">
                <a16:creationId xmlns:a16="http://schemas.microsoft.com/office/drawing/2014/main" id="{E4BF20E7-F47E-4E2D-B136-3B7494483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0" name="text-132-250">
            <a:extLst xmlns:a="http://schemas.openxmlformats.org/drawingml/2006/main">
              <a:ext uri="{FF2B5EF4-FFF2-40B4-BE49-F238E27FC236}">
                <a16:creationId xmlns:a16="http://schemas.microsoft.com/office/drawing/2014/main" id="{E0775709-B9EB-485C-8CBD-6556AC23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381250"/>
            <a:ext cx="962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The explanation shows why or how the point is true.</a:t>
            </a:r>
          </a:p>
        </p:txBody>
      </p:sp>
      <p:sp>
        <p:nvSpPr>
          <p:cNvPr id="11" name="rect-70-322">
            <a:extLst xmlns:a="http://schemas.openxmlformats.org/drawingml/2006/main">
              <a:ext uri="{FF2B5EF4-FFF2-40B4-BE49-F238E27FC236}">
                <a16:creationId xmlns:a16="http://schemas.microsoft.com/office/drawing/2014/main" id="{D65F5DB4-388D-48C2-B33F-B9EE49306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670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2" name="text-70-320">
            <a:extLst xmlns:a="http://schemas.openxmlformats.org/drawingml/2006/main">
              <a:ext uri="{FF2B5EF4-FFF2-40B4-BE49-F238E27FC236}">
                <a16:creationId xmlns:a16="http://schemas.microsoft.com/office/drawing/2014/main" id="{02F7CDDA-5746-4ABD-8464-63B798F7A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3" name="text-132-318">
            <a:extLst xmlns:a="http://schemas.openxmlformats.org/drawingml/2006/main">
              <a:ext uri="{FF2B5EF4-FFF2-40B4-BE49-F238E27FC236}">
                <a16:creationId xmlns:a16="http://schemas.microsoft.com/office/drawing/2014/main" id="{B5CF2CA0-F630-4246-9E89-A141B3DBD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28950"/>
            <a:ext cx="962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The example is specific, plausible and relevant.</a:t>
            </a:r>
          </a:p>
        </p:txBody>
      </p:sp>
      <p:sp>
        <p:nvSpPr>
          <p:cNvPr id="14" name="rect-70-390">
            <a:extLst xmlns:a="http://schemas.openxmlformats.org/drawingml/2006/main">
              <a:ext uri="{FF2B5EF4-FFF2-40B4-BE49-F238E27FC236}">
                <a16:creationId xmlns:a16="http://schemas.microsoft.com/office/drawing/2014/main" id="{14CD09B5-4942-486A-9AC8-B805016E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5" name="text-70-388">
            <a:extLst xmlns:a="http://schemas.openxmlformats.org/drawingml/2006/main">
              <a:ext uri="{FF2B5EF4-FFF2-40B4-BE49-F238E27FC236}">
                <a16:creationId xmlns:a16="http://schemas.microsoft.com/office/drawing/2014/main" id="{5488B1EE-5A37-4511-B011-E817D031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957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6" name="text-132-386">
            <a:extLst xmlns:a="http://schemas.openxmlformats.org/drawingml/2006/main">
              <a:ext uri="{FF2B5EF4-FFF2-40B4-BE49-F238E27FC236}">
                <a16:creationId xmlns:a16="http://schemas.microsoft.com/office/drawing/2014/main" id="{6033CABC-2C1A-41E6-AE0F-BA938E7AD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676650"/>
            <a:ext cx="962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A cross-topic example includes a clear bridge.</a:t>
            </a:r>
          </a:p>
        </p:txBody>
      </p:sp>
      <p:sp>
        <p:nvSpPr>
          <p:cNvPr id="17" name="rect-70-458">
            <a:extLst xmlns:a="http://schemas.openxmlformats.org/drawingml/2006/main">
              <a:ext uri="{FF2B5EF4-FFF2-40B4-BE49-F238E27FC236}">
                <a16:creationId xmlns:a16="http://schemas.microsoft.com/office/drawing/2014/main" id="{6596DC50-8302-4FBC-A329-7DB2999D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624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8" name="text-70-456">
            <a:extLst xmlns:a="http://schemas.openxmlformats.org/drawingml/2006/main">
              <a:ext uri="{FF2B5EF4-FFF2-40B4-BE49-F238E27FC236}">
                <a16:creationId xmlns:a16="http://schemas.microsoft.com/office/drawing/2014/main" id="{544D6BD5-8ED2-4832-87C4-9D771FD4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434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19" name="text-132-454">
            <a:extLst xmlns:a="http://schemas.openxmlformats.org/drawingml/2006/main">
              <a:ext uri="{FF2B5EF4-FFF2-40B4-BE49-F238E27FC236}">
                <a16:creationId xmlns:a16="http://schemas.microsoft.com/office/drawing/2014/main" id="{2499742A-E0A1-4370-AA1B-80F13A2A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324350"/>
            <a:ext cx="962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</a:defRPr>
            </a:pPr>
            <a:r>
              <a:rPr sz="1725" b="0">
                <a:solidFill>
                  <a:srgbClr val="111111"/>
                </a:solidFill>
              </a:rPr>
              <a:t>The link states what the evidence proves.</a:t>
            </a:r>
          </a:p>
        </p:txBody>
      </p:sp>
      <p:sp>
        <p:nvSpPr>
          <p:cNvPr id="20" name="rect-70-526">
            <a:extLst xmlns:a="http://schemas.openxmlformats.org/drawingml/2006/main">
              <a:ext uri="{FF2B5EF4-FFF2-40B4-BE49-F238E27FC236}">
                <a16:creationId xmlns:a16="http://schemas.microsoft.com/office/drawing/2014/main" id="{A6604293-457D-48BB-9F7F-CB6E26974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3238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21" name="text-70-524">
            <a:extLst xmlns:a="http://schemas.openxmlformats.org/drawingml/2006/main">
              <a:ext uri="{FF2B5EF4-FFF2-40B4-BE49-F238E27FC236}">
                <a16:creationId xmlns:a16="http://schemas.microsoft.com/office/drawing/2014/main" id="{B4E13B91-620C-4024-AC44-E0A18A1C3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91100"/>
            <a:ext cx="323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✓</a:t>
            </a:r>
          </a:p>
        </p:txBody>
      </p:sp>
      <p:sp>
        <p:nvSpPr>
          <p:cNvPr id="22" name="text-132-522">
            <a:extLst xmlns:a="http://schemas.openxmlformats.org/drawingml/2006/main">
              <a:ext uri="{FF2B5EF4-FFF2-40B4-BE49-F238E27FC236}">
                <a16:creationId xmlns:a16="http://schemas.microsoft.com/office/drawing/2014/main" id="{CC067681-B69D-47DD-80D3-3295A457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972050"/>
            <a:ext cx="962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</a:defRPr>
            </a:pPr>
            <a:r>
              <a:rPr sz="1725" b="1">
                <a:solidFill>
                  <a:srgbClr val="111111"/>
                </a:solidFill>
              </a:rPr>
              <a:t>Every sentence supports the same position.</a:t>
            </a:r>
          </a:p>
        </p:txBody>
      </p:sp>
      <p:sp>
        <p:nvSpPr>
          <p:cNvPr id="23" name="rect-70-610">
            <a:extLst xmlns:a="http://schemas.openxmlformats.org/drawingml/2006/main">
              <a:ext uri="{FF2B5EF4-FFF2-40B4-BE49-F238E27FC236}">
                <a16:creationId xmlns:a16="http://schemas.microsoft.com/office/drawing/2014/main" id="{3A2473EF-DD0B-4F04-B112-D3870CE46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382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24" name="text-90-618">
            <a:extLst xmlns:a="http://schemas.openxmlformats.org/drawingml/2006/main">
              <a:ext uri="{FF2B5EF4-FFF2-40B4-BE49-F238E27FC236}">
                <a16:creationId xmlns:a16="http://schemas.microsoft.com/office/drawing/2014/main" id="{F3B4E4D5-C433-43B9-95BD-BB056DC2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86450"/>
            <a:ext cx="1000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Relevant + developed + connected beats memorised + generic.</a:t>
            </a:r>
          </a:p>
        </p:txBody>
      </p:sp>
    </p:spTree>
    <p:extLst>
      <p:ext uri="{BB962C8B-B14F-4D97-AF65-F5344CB8AC3E}">
        <p14:creationId xmlns:p14="http://schemas.microsoft.com/office/powerpoint/2010/main" val="18670451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2026-09-02T04:05:55.8200000Z</dcterms:created>
  <dcterms:modified xsi:type="dcterms:W3CDTF">2026-09-02T04:05:55.8200000Z</dcterms:modified>
</coreProperties>
</file>