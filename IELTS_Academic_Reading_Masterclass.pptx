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IELTS sources used for test structure. YouTube references: This BAND 9 IELTS Reading Strategy Changes Everything; IELTS Reading | 9 Tips for Band 9; How to Find Answers Fast in IELTS Reading (Band 9 Strategy).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IELTS Academic lasts 2h45 total; Reading is 60 minutes including transfer time. Reading has 40 questions and one mark per correct answer. Sources: IELTS Academic test format and IELTS scoring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IELTS scoring states Reading has 40 questions, one mark per correct answer, converted to a 9-band scale. Public band charts are approximate.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IELTS sample tasks list multiple choice, identifying information/views, matching tasks, completion tasks, diagram labels and short-answer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British Council notes that skimming and scanning are important steps for IELTS Reading preparation.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cozy_study_workspace_scene_on_a_wooden_de_batch_1.png">    </p:cNvPr>
          <p:cNvPicPr>
            <a:picLocks noChangeAspect="1"/>
          </p:cNvPicPr>
          <p:nvPr/>
        </p:nvPicPr>
        <p:blipFill>
          <a:blip r:embed="rId1"/>
          <a:srcRect l="18000" r="27746" t="0" b="0"/>
          <a:stretch/>
        </p:blipFill>
        <p:spPr>
          <a:xfrm>
            <a:off x="5577840" y="0"/>
            <a:ext cx="6611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4360" y="914400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67512" y="98755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</a:rPr>
              <a:t>ACADEMIC READING</a:t>
            </a:r>
            <a:endParaRPr lang="en-US" sz="740" dirty="0"/>
          </a:p>
        </p:txBody>
      </p:sp>
      <p:sp>
        <p:nvSpPr>
          <p:cNvPr id="5" name="Text 2"/>
          <p:cNvSpPr/>
          <p:nvPr/>
        </p:nvSpPr>
        <p:spPr>
          <a:xfrm>
            <a:off x="594360" y="1508760"/>
            <a:ext cx="4480560" cy="1051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IELTS Academic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Reading Masterclass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21792" y="2743200"/>
            <a:ext cx="43891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• techniques • question types • practice plan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2648" y="3383280"/>
            <a:ext cx="196596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3657600"/>
            <a:ext cx="44348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slide deck for students who need to find answers faster and avoid common IELTS traps.</a:t>
            </a:r>
            <a:endParaRPr lang="en-US" sz="12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reading test really checks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66751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“Can you read every word?” It checks whether you can locate, understand, and verify information under pressure.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08483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60 min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26334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including answer transfer/checking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999232" y="208483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3 texts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36392" y="26334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academic-style passages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340096" y="2084832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7256" y="21945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40 Qs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77256" y="26334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</a:rPr>
              <a:t>one mark per correct answer</a:t>
            </a:r>
            <a:endParaRPr lang="en-US" sz="870" dirty="0"/>
          </a:p>
        </p:txBody>
      </p:sp>
      <p:pic>
        <p:nvPicPr>
          <p:cNvPr id="17" name="Image 0" descr="/mnt/data/a_clean_modern_study_workspace_flat_lay_desk_scen_batch_2.png">    </p:cNvPr>
          <p:cNvPicPr>
            <a:picLocks noChangeAspect="1"/>
          </p:cNvPicPr>
          <p:nvPr/>
        </p:nvPicPr>
        <p:blipFill>
          <a:blip r:embed="rId1"/>
          <a:srcRect l="0" r="58662" t="0" b="0"/>
          <a:stretch/>
        </p:blipFill>
        <p:spPr>
          <a:xfrm>
            <a:off x="7818120" y="914400"/>
            <a:ext cx="3794760" cy="516636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58368" y="3703320"/>
            <a:ext cx="67208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70332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9536" y="3831336"/>
            <a:ext cx="6336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The winning mindset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59536" y="4142232"/>
            <a:ext cx="63550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You do not need to understand every sentence. You need to match meaning: keyword → paraphrase → evidence → answer.</a:t>
            </a:r>
            <a:endParaRPr lang="en-US" sz="1120" dirty="0"/>
          </a:p>
        </p:txBody>
      </p:sp>
      <p:sp>
        <p:nvSpPr>
          <p:cNvPr id="22" name="Shape 19"/>
          <p:cNvSpPr/>
          <p:nvPr/>
        </p:nvSpPr>
        <p:spPr>
          <a:xfrm>
            <a:off x="658368" y="5029200"/>
            <a:ext cx="67208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5029200"/>
            <a:ext cx="64008" cy="8686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59536" y="5157216"/>
            <a:ext cx="6336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Golden rule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59536" y="5468112"/>
            <a:ext cx="635508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Never answer from memory or “general knowledge”. IELTS answers come from the passage only.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 anatomy: passages, time, answers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Passage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easier start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~13 Qs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build rhythm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Passage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medium difficulty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~13 Qs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more inference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417320"/>
            <a:ext cx="27432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Passage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672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hardest text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~14 Qs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highest time risk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11880" y="2395728"/>
            <a:ext cx="4297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32320" y="2395728"/>
            <a:ext cx="42976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14400" y="4160520"/>
            <a:ext cx="10332720" cy="749808"/>
          </a:xfrm>
          <a:prstGeom prst="roundRect">
            <a:avLst>
              <a:gd name="adj" fmla="val 14634"/>
            </a:avLst>
          </a:prstGeom>
          <a:solidFill>
            <a:srgbClr val="EEF6FF"/>
          </a:solidFill>
          <a:ln w="12700">
            <a:solidFill>
              <a:srgbClr val="EEF6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4370832"/>
            <a:ext cx="10012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Recommended timing: 16–17 min  →  19–20 min  →  22–23 min  + 2–3 min final check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5230368"/>
            <a:ext cx="102412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Paper test: write answers clearly on the answer sheet within the hour. Computer test: type/choose carefully and use review flags.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Scoring: convert “correct answers” into bands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correct answer earns 1 raw mark out of 40. The raw score is converted to the IELTS 1–9 band scale.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3688690"/>
            <a:ext cx="1005840" cy="1020470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39–40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2313432" y="3816706"/>
            <a:ext cx="1005840" cy="892454"/>
          </a:xfrm>
          <a:prstGeom prst="rect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7712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8.5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37–38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3895344" y="3944722"/>
            <a:ext cx="1005840" cy="76443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8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22192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35–36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5477256" y="4072738"/>
            <a:ext cx="1005840" cy="63642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31536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7.5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04104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33–34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7059168" y="4200754"/>
            <a:ext cx="1005840" cy="508406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7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86016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30–32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8641080" y="4328770"/>
            <a:ext cx="1005840" cy="38039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6.5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67928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27–29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10222992" y="4456786"/>
            <a:ext cx="1005840" cy="252374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77272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49840" y="517550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23–26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8001000" y="1874520"/>
            <a:ext cx="3337560" cy="2148840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21214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Score target thinking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21040" y="2651760"/>
            <a:ext cx="2743200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64748B"/>
                </a:solidFill>
              </a:rPr>
              <a:t>Band 7 = roughly 30+ correct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64748B"/>
                </a:solidFill>
              </a:rPr>
              <a:t>Band 8 = roughly 35+ correct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64748B"/>
                </a:solidFill>
              </a:rPr>
              <a:t>Band 9 = nearly perfect</a:t>
            </a:r>
            <a:endParaRPr lang="en-US" sz="1270" dirty="0"/>
          </a:p>
        </p:txBody>
      </p:sp>
      <p:sp>
        <p:nvSpPr>
          <p:cNvPr id="32" name="Shape 30"/>
          <p:cNvSpPr/>
          <p:nvPr/>
        </p:nvSpPr>
        <p:spPr>
          <a:xfrm>
            <a:off x="685800" y="5715000"/>
            <a:ext cx="10789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715000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" y="5843016"/>
            <a:ext cx="10405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Teacher note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86968" y="6153912"/>
            <a:ext cx="10424160" cy="-182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Use the table as a guide, not a fixed promise. Raw-score conversions can vary slightly between test versions.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 types: what students must recognize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97840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uses different task styles. The technique changes depending on whether the question needs location, logic, or exact wording.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920240"/>
            <a:ext cx="480060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20848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Locate facts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2487168"/>
            <a:ext cx="4023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Matching information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Matching features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Short answer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245352" y="1920240"/>
            <a:ext cx="480060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0848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4444"/>
                </a:solidFill>
              </a:rPr>
              <a:t>Understand logic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2487168"/>
            <a:ext cx="4023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True / False / Not Given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Yes / No / Not Given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Multiple choice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13232" y="3749040"/>
            <a:ext cx="480060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39136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See structure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4315968"/>
            <a:ext cx="4023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Matching headings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Matching sentence endings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6245352" y="3749040"/>
            <a:ext cx="480060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391363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Complete words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4315968"/>
            <a:ext cx="402336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Summary completion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Note / table / flow-chart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Diagram labels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005840" y="5715000"/>
            <a:ext cx="100584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apply one strategy to all question types. Good readers switch technique quickly.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60-minute game plan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205740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2240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0–2 min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257860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Preview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" y="285292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title, topic, question types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48840" y="2670048"/>
            <a:ext cx="2743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42032" y="205740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240280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2–17 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578608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Passage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852928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easy marks first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28032" y="2670048"/>
            <a:ext cx="2743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21224" y="205740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0952" y="2240280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17–37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30952" y="2578608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Passage 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30952" y="2852928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controlled speed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507224" y="2670048"/>
            <a:ext cx="2743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900416" y="2057400"/>
            <a:ext cx="22402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10144" y="2240280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37–57 min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10144" y="2578608"/>
            <a:ext cx="2020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Passage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10144" y="2852928"/>
            <a:ext cx="2020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hardest evidence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186416" y="2670048"/>
            <a:ext cx="27432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579608" y="2057400"/>
            <a:ext cx="1417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89336" y="2240280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57–60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89336" y="257860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Check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689336" y="285292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spelling + unanswered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22960" y="4206240"/>
            <a:ext cx="507492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4206240"/>
            <a:ext cx="64008" cy="8503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" y="4334256"/>
            <a:ext cx="4690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Rule 1: no emotional attachment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24128" y="4645152"/>
            <a:ext cx="47091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If one question takes more than 90 seconds and you cannot locate evidence, mark it and move on.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355080" y="4206240"/>
            <a:ext cx="5074920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55080" y="4206240"/>
            <a:ext cx="64008" cy="8503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56248" y="4334256"/>
            <a:ext cx="4690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Rule 2: unanswered = lost mark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556248" y="4645152"/>
            <a:ext cx="4709160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At the end, make an educated guess. There is no penalty for a wrong answer.</a:t>
            </a:r>
            <a:endParaRPr lang="en-US" sz="1060" dirty="0"/>
          </a:p>
        </p:txBody>
      </p:sp>
      <p:sp>
        <p:nvSpPr>
          <p:cNvPr id="39" name="Text 37"/>
          <p:cNvSpPr/>
          <p:nvPr/>
        </p:nvSpPr>
        <p:spPr>
          <a:xfrm>
            <a:off x="1097280" y="5687568"/>
            <a:ext cx="9966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 plan: easy marks first, hard questions last, final spelling check always.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4-step answer method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0" y="1627632"/>
            <a:ext cx="658368" cy="6583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8196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50008" y="1956816"/>
            <a:ext cx="6766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68680" y="24871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Read question first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907792"/>
            <a:ext cx="2240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Understand exactly what answer is needed.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4462272" y="1627632"/>
            <a:ext cx="658368" cy="6583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62272" y="18196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1956816"/>
            <a:ext cx="6766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685032" y="24871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Underline keywords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85032" y="2907792"/>
            <a:ext cx="2240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Names, dates, nouns, numbers, rare words.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7278624" y="1627632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18196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82712" y="1956816"/>
            <a:ext cx="6766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501384" y="24871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Scan + match paraphrase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01384" y="2907792"/>
            <a:ext cx="2240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Find the same meaning, not only the same word.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10094976" y="1627632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94976" y="18196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17736" y="2487168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Verify evidence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17736" y="2907792"/>
            <a:ext cx="224028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Answer only when the line proves it.</a:t>
            </a:r>
            <a:endParaRPr lang="en-US" sz="1040" dirty="0"/>
          </a:p>
        </p:txBody>
      </p:sp>
      <p:pic>
        <p:nvPicPr>
          <p:cNvPr id="26" name="Image 0" descr="/mnt/data/a_clean_stylized_3d_illustration_educational_info_batch_3.png">    </p:cNvPr>
          <p:cNvPicPr>
            <a:picLocks noChangeAspect="1"/>
          </p:cNvPicPr>
          <p:nvPr/>
        </p:nvPicPr>
        <p:blipFill>
          <a:blip r:embed="rId1"/>
          <a:srcRect l="0" r="-82617" t="25000" b="27000"/>
          <a:stretch/>
        </p:blipFill>
        <p:spPr>
          <a:xfrm>
            <a:off x="2240280" y="3858768"/>
            <a:ext cx="7726680" cy="11430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2606040" y="5321808"/>
            <a:ext cx="6995160" cy="420624"/>
          </a:xfrm>
          <a:prstGeom prst="roundRect">
            <a:avLst>
              <a:gd name="adj" fmla="val 26087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88920" y="5449824"/>
            <a:ext cx="6629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Question → Keyword → Paraphrase → Evidence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reading modes: use the right one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89888" y="1463040"/>
            <a:ext cx="1234440" cy="1234440"/>
          </a:xfrm>
          <a:prstGeom prst="arc">
            <a:avLst/>
          </a:prstGeom>
          <a:noFill/>
          <a:ln w="2794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Skim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127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big idea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493008"/>
            <a:ext cx="21031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Read first/last sentence, notice structure.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5093208" y="1463040"/>
            <a:ext cx="1234440" cy="1234440"/>
          </a:xfrm>
          <a:prstGeom prst="arc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Scan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127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location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3493008"/>
            <a:ext cx="21031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Move eyes for names, numbers, nouns, unique words.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796528" y="1463040"/>
            <a:ext cx="1234440" cy="1234440"/>
          </a:xfrm>
          <a:prstGeom prst="arc">
            <a:avLst/>
          </a:prstGeom>
          <a:noFill/>
          <a:ln w="279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Close read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3127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proof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66760" y="3493008"/>
            <a:ext cx="2103120" cy="566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Read 2–3 sentences around the answer line carefully.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1234440" y="4892040"/>
            <a:ext cx="9738360" cy="749808"/>
          </a:xfrm>
          <a:prstGeom prst="roundRect">
            <a:avLst>
              <a:gd name="adj" fmla="val 15854"/>
            </a:avLst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5129784"/>
            <a:ext cx="9235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Most students fail because they close-read too early. First locate, then prove.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Keyword + paraphrase engine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978408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rarely copies the question exactly. Train students to predict synonyms before they search.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665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increase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33472" y="2185416"/>
            <a:ext cx="42062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246120" y="20665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rise / grow / climb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46520" y="192024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20665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children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65592" y="2185416"/>
            <a:ext cx="42062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778240" y="2066544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young people / minors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2871216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017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cause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33472" y="3136392"/>
            <a:ext cx="42062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246120" y="30175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lead to / result in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2871216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3017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mainly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65592" y="3136392"/>
            <a:ext cx="42062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8778240" y="301752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primarily / largely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14400" y="3822192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39684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danger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33472" y="4087368"/>
            <a:ext cx="42062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246120" y="39684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risk / threat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46520" y="3822192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39684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reject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165592" y="4087368"/>
            <a:ext cx="420624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8778240" y="3968496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dismiss / refuse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97280" y="5303520"/>
            <a:ext cx="99669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7280" y="5303520"/>
            <a:ext cx="64008" cy="640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98448" y="5431536"/>
            <a:ext cx="9582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Training drill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298448" y="5742432"/>
            <a:ext cx="960120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Before reading the passage, ask: “How can the passage say this differently?” Then scan for meaning, not identical words.</a:t>
            </a:r>
            <a:endParaRPr lang="en-US" sz="10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True / False / Not Given: the strictest logic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299923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</a:rPr>
              <a:t>TRUE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9848" y="219456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The passage confirms the statement.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4480560" y="1600200"/>
            <a:ext cx="299923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</a:rPr>
              <a:t>FALSE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73168" y="219456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The passage contradicts the statement.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299923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8288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NOT GIVEN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476488" y="2194560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64748B"/>
                </a:solidFill>
              </a:rPr>
              <a:t>The passage does not give enough evidence.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1097280" y="3657600"/>
            <a:ext cx="10012680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3401568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5158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37360" y="3493008"/>
            <a:ext cx="21488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the exact sentence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69080" y="340156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35158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3493008"/>
            <a:ext cx="192024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every detail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3401568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51586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3493008"/>
            <a:ext cx="2468880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add outside logic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1560" y="4754880"/>
            <a:ext cx="1001268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" y="4754880"/>
            <a:ext cx="64008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52728" y="4882896"/>
            <a:ext cx="9628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Danger words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252728" y="5193792"/>
            <a:ext cx="964692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64748B"/>
                </a:solidFill>
              </a:rPr>
              <a:t>all, always, never, only, mainly, before, after, first, most, some, probably — one small word can change the answer.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1051560" y="5806440"/>
            <a:ext cx="9966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Y/N/NG works the same way, but it checks the writer’s opinion or claim.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Matching headings: paragraph purpose, not details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98755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heading must summarize the whole paragraph. One attractive detail is often a trap.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32918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975104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F172A"/>
                </a:solidFill>
              </a:rPr>
              <a:t>Paragraph A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868680" y="2578608"/>
            <a:ext cx="32918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24912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F172A"/>
                </a:solidFill>
              </a:rPr>
              <a:t>Paragraph B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68680" y="3328416"/>
            <a:ext cx="32918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474720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F172A"/>
                </a:solidFill>
              </a:rPr>
              <a:t>Paragraph C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868680" y="4078224"/>
            <a:ext cx="329184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224528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0F172A"/>
                </a:solidFill>
              </a:rPr>
              <a:t>Paragraph D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343400" y="3017520"/>
            <a:ext cx="11430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806440" y="1691640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06440" y="17465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783080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Read headings first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5806440" y="247802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5328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569464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Skim paragraph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5806440" y="326440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3192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55080" y="3355848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0F172A"/>
                </a:solidFill>
              </a:rPr>
              <a:t>Write a 3-word gist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5806440" y="405079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410565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4142232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0F172A"/>
                </a:solidFill>
              </a:rPr>
              <a:t>Choose best match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051560" y="5120640"/>
            <a:ext cx="987552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5120640"/>
            <a:ext cx="64008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52728" y="5248656"/>
            <a:ext cx="9491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Fast filter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252728" y="5559552"/>
            <a:ext cx="950976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If two headings look possible, ask: Which one covers the beginning + middle + end of the paragraph?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Matching tasks: where most time disappears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98755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questions are usually not in order. Use a tracking system so students do not reread the whole passage again and again.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92024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048256"/>
            <a:ext cx="2679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Matching information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4128" y="2359152"/>
            <a:ext cx="269748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Scan paragraph by paragraph; write question numbers in the margin.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4526280" y="192024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920240"/>
            <a:ext cx="64008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27448" y="2048256"/>
            <a:ext cx="2679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Matching features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7448" y="2359152"/>
            <a:ext cx="269748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Underline names/years/categories first; then search around each.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229600" y="1920240"/>
            <a:ext cx="30632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92024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30768" y="2048256"/>
            <a:ext cx="26791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Matching endings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30768" y="2359152"/>
            <a:ext cx="269748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Read grammar and meaning; eliminate impossible endings quickly.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1097280" y="4160520"/>
            <a:ext cx="9875520" cy="1051560"/>
          </a:xfrm>
          <a:prstGeom prst="roundRect">
            <a:avLst>
              <a:gd name="adj" fmla="val 13043"/>
            </a:avLst>
          </a:prstGeom>
          <a:solidFill>
            <a:srgbClr val="F0FDFA"/>
          </a:solidFill>
          <a:ln w="6350">
            <a:solidFill>
              <a:srgbClr val="CCFB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4348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Margin code system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443484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P1 → Q3?   P2 → Q5 confirmed   P3 → no match   P4 → Q4 maybe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828032"/>
            <a:ext cx="9006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Keep visible evidence marks. Do not rely on “I saw it somewhere”.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Completion tasks: grammar helps you predict answers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98755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searching, students should identify the word type and limit. This prevents careless wrong forms.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2971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214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WORD LIMIT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25420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ONE WORD / TWO WORDS / NUMBER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2971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21214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WORD TYPE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5420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noun / verb / adjective / number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275320" y="1874520"/>
            <a:ext cx="29718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212140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SOURCE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25420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from text / from list / from diagram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097280" y="3794760"/>
            <a:ext cx="9875520" cy="1188720"/>
          </a:xfrm>
          <a:prstGeom prst="roundRect">
            <a:avLst>
              <a:gd name="adj" fmla="val 9231"/>
            </a:avLst>
          </a:prstGeom>
          <a:solidFill>
            <a:srgbClr val="FFFBEB"/>
          </a:solidFill>
          <a:ln w="889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05079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Example thinking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4050792"/>
            <a:ext cx="7269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</a:rPr>
              <a:t>“The experiment was delayed because of ____.”  → likely noun phrase  → scan cause words  → copy exact spelling.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1097280" y="5394960"/>
            <a:ext cx="98755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5394960"/>
            <a:ext cx="64008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8448" y="5522976"/>
            <a:ext cx="9491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Copy exactly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98448" y="5833872"/>
            <a:ext cx="950976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64748B"/>
                </a:solidFill>
              </a:rPr>
              <a:t>Plural -s, hyphenation, capital letters, numbers, and word limit errors can turn a found answer into a wrong answer.</a:t>
            </a:r>
            <a:endParaRPr lang="en-US" sz="10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Multiple choice &amp; short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28216"/>
            <a:ext cx="4828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Multiple Choice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2039112"/>
            <a:ext cx="4846320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1. Read the stem first.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2. Predict before options.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3. Eliminate extreme or opposite options.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4. Match the option to passage evidence, not feeling.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00200"/>
            <a:ext cx="64008" cy="1874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1728216"/>
            <a:ext cx="4828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Short Answer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64808" y="2039112"/>
            <a:ext cx="4846320" cy="1325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1. Read word limit.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2. Locate exact answer area.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3. Copy only required words/numbers.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4. Check grammar and spelling.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1051560" y="4251960"/>
            <a:ext cx="10012680" cy="960120"/>
          </a:xfrm>
          <a:prstGeom prst="roundRect">
            <a:avLst>
              <a:gd name="adj" fmla="val 11429"/>
            </a:avLst>
          </a:prstGeom>
          <a:solidFill>
            <a:srgbClr val="EEF2FF"/>
          </a:solidFill>
          <a:ln w="7620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53542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MCQ trap pattern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452628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0F172A"/>
                </a:solidFill>
              </a:rPr>
              <a:t>An option may use passage words but change the meaning. Evidence must support the whole option.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097280" y="5669280"/>
            <a:ext cx="98755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habit: justify each chosen answer with one sentence from the passage.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strategy: easy marks before ego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987552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passages usually become more difficult. However, question type can matter more than passage number.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2880360" cy="1188720"/>
          </a:xfrm>
          <a:prstGeom prst="chevron">
            <a:avLst/>
          </a:prstGeom>
          <a:solidFill>
            <a:srgbClr val="22C55E">
              <a:alpha val="90000"/>
            </a:srgbClr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24140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Do first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42416" y="279806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completion, short answer, easy MCQ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2880360" cy="1188720"/>
          </a:xfrm>
          <a:prstGeom prst="chevron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4140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Delay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0016" y="279806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matching information, hard headings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229600" y="2103120"/>
            <a:ext cx="2880360" cy="1188720"/>
          </a:xfrm>
          <a:prstGeom prst="chevron">
            <a:avLst/>
          </a:prstGeom>
          <a:solidFill>
            <a:srgbClr val="EF4444">
              <a:alpha val="90000"/>
            </a:srgbClr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24140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Skip quickly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57616" y="2798064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FFFFFF"/>
                </a:solidFill>
              </a:rPr>
              <a:t>unknown word-heavy question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1051560" y="4434840"/>
            <a:ext cx="99669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434840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52728" y="4562856"/>
            <a:ext cx="9582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Smart exam behavior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52728" y="4873752"/>
            <a:ext cx="960120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Students who aim for high bands do not fight every question in order. They manage risk: secure easy evidence first, return to uncertain items later.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1051560" y="57881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Confidence rule: answer confirmed &gt; answer guessed &gt; answer empty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traps that steal bands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3017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64008" cy="9875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728216"/>
            <a:ext cx="2633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Paraphrase blindness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978408" y="2039112"/>
            <a:ext cx="2651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looking for exact words only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480560" y="1600200"/>
            <a:ext cx="3017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600200"/>
            <a:ext cx="64008" cy="9875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1728216"/>
            <a:ext cx="2633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Over-reading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681728" y="2039112"/>
            <a:ext cx="2651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adding outside knowledge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8183880" y="1600200"/>
            <a:ext cx="3017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600200"/>
            <a:ext cx="64008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5048" y="1728216"/>
            <a:ext cx="2633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Time sink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8385048" y="2039112"/>
            <a:ext cx="2651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staying too long on one item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777240" y="3044952"/>
            <a:ext cx="3017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044952"/>
            <a:ext cx="64008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3172968"/>
            <a:ext cx="2633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Spelling errors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978408" y="3483864"/>
            <a:ext cx="2651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copying the right answer wrongly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480560" y="3044952"/>
            <a:ext cx="3017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3044952"/>
            <a:ext cx="64008" cy="9875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3172968"/>
            <a:ext cx="2633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Heading traps</a:t>
            </a:r>
            <a:endParaRPr lang="en-US" sz="1180" dirty="0"/>
          </a:p>
        </p:txBody>
      </p:sp>
      <p:sp>
        <p:nvSpPr>
          <p:cNvPr id="26" name="Text 24"/>
          <p:cNvSpPr/>
          <p:nvPr/>
        </p:nvSpPr>
        <p:spPr>
          <a:xfrm>
            <a:off x="4681728" y="3483864"/>
            <a:ext cx="2651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choosing a detail as main idea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8183880" y="3044952"/>
            <a:ext cx="3017520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044952"/>
            <a:ext cx="64008" cy="9875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5048" y="3172968"/>
            <a:ext cx="2633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</a:rPr>
              <a:t>NG panic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8385048" y="3483864"/>
            <a:ext cx="2651760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thinking “not given” means false</a:t>
            </a:r>
            <a:endParaRPr lang="en-US" sz="1030" dirty="0"/>
          </a:p>
        </p:txBody>
      </p:sp>
      <p:pic>
        <p:nvPicPr>
          <p:cNvPr id="31" name="Image 0" descr="/mnt/data/a_cozy_well_organized_study_desk_scene_for_ielts_batch_4.png">    </p:cNvPr>
          <p:cNvPicPr>
            <a:picLocks noChangeAspect="1"/>
          </p:cNvPicPr>
          <p:nvPr/>
        </p:nvPicPr>
        <p:blipFill>
          <a:blip r:embed="rId1"/>
          <a:srcRect l="0" r="14905" t="20000" b="45000"/>
          <a:stretch/>
        </p:blipFill>
        <p:spPr>
          <a:xfrm>
            <a:off x="822960" y="4663440"/>
            <a:ext cx="4937760" cy="114300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6080760" y="4892040"/>
            <a:ext cx="5212080" cy="566928"/>
          </a:xfrm>
          <a:prstGeom prst="roundRect">
            <a:avLst>
              <a:gd name="adj" fmla="val 19355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63640" y="5084064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Fix: slow down only at the evidence line — not before.</a:t>
            </a:r>
            <a:endParaRPr lang="en-US" sz="12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system: from weak reader to exam-ready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49808" y="164592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01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Week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2359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Question type training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978408" y="2816352"/>
            <a:ext cx="1783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learn method + no timer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3566160" y="164592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901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Week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2359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Timed passages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794760" y="2816352"/>
            <a:ext cx="1783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20 min per passage + review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382512" y="164592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901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Week 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5392" y="2359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Full tests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6611112" y="2816352"/>
            <a:ext cx="1783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60-min mocks + error log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9198864" y="164592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81744" y="19019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Week 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81744" y="2359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</a:rPr>
              <a:t>Score polishing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9427464" y="2816352"/>
            <a:ext cx="178308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repeat weak types + speed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960120" y="4389120"/>
            <a:ext cx="102870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389120"/>
            <a:ext cx="64008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1288" y="4517136"/>
            <a:ext cx="9902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Error log template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61288" y="4828032"/>
            <a:ext cx="9921240" cy="1371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Question type • wrong answer • correct evidence line • trap type • what to do next time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60120" y="5577840"/>
            <a:ext cx="102412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does not come from doing many tests only. It comes from reviewing mistakes until the pattern disappears.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teach one reading lesson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71600" y="1691640"/>
            <a:ext cx="502920" cy="5029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8059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47672" y="1947672"/>
            <a:ext cx="3931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13232" y="239572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Warm-up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" y="27249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topic + vocabulary</a:t>
            </a:r>
            <a:endParaRPr lang="en-US" sz="910" dirty="0"/>
          </a:p>
        </p:txBody>
      </p:sp>
      <p:sp>
        <p:nvSpPr>
          <p:cNvPr id="12" name="Shape 10"/>
          <p:cNvSpPr/>
          <p:nvPr/>
        </p:nvSpPr>
        <p:spPr>
          <a:xfrm>
            <a:off x="3630168" y="16916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0168" y="18059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0" y="1947672"/>
            <a:ext cx="3931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971800" y="239572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Model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71800" y="27249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teacher solves 2 Qs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5888736" y="16916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88736" y="18059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64808" y="1947672"/>
            <a:ext cx="3931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230368" y="239572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Guided practice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30368" y="27249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students find evidence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8147304" y="16916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7304" y="18059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23376" y="1947672"/>
            <a:ext cx="393192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488936" y="239572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Timed practice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88936" y="27249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mini passage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10405872" y="1691640"/>
            <a:ext cx="502920" cy="5029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05872" y="18059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747504" y="2395728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Review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747504" y="27249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64748B"/>
                </a:solidFill>
              </a:rPr>
              <a:t>error log + homework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1005840" y="3794760"/>
            <a:ext cx="9966960" cy="79552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" y="3794760"/>
            <a:ext cx="64008" cy="7955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07008" y="3922776"/>
            <a:ext cx="9582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Best classroom rule</a:t>
            </a:r>
            <a:endParaRPr lang="en-US" sz="1230" dirty="0"/>
          </a:p>
        </p:txBody>
      </p:sp>
      <p:sp>
        <p:nvSpPr>
          <p:cNvPr id="34" name="Text 32"/>
          <p:cNvSpPr/>
          <p:nvPr/>
        </p:nvSpPr>
        <p:spPr>
          <a:xfrm>
            <a:off x="1207008" y="4233672"/>
            <a:ext cx="9601200" cy="2468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Every answer must include “Where is the proof?” The teacher should train students to point to the exact line or sentence.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05840" y="4956048"/>
            <a:ext cx="99669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5840" y="4956048"/>
            <a:ext cx="64008" cy="6400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07008" y="5084064"/>
            <a:ext cx="9582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Homework</a:t>
            </a:r>
            <a:endParaRPr lang="en-US" sz="1230" dirty="0"/>
          </a:p>
        </p:txBody>
      </p:sp>
      <p:sp>
        <p:nvSpPr>
          <p:cNvPr id="38" name="Text 36"/>
          <p:cNvSpPr/>
          <p:nvPr/>
        </p:nvSpPr>
        <p:spPr>
          <a:xfrm>
            <a:off x="1207008" y="5394960"/>
            <a:ext cx="960120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One passage + complete error log + 10 paraphrase pairs from the passage.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IELTS Academic Reading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Exam-day checklist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4617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00200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1728216"/>
            <a:ext cx="4233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Before start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15568" y="2039112"/>
            <a:ext cx="42519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Know your target score and timing plan.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4617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00200"/>
            <a:ext cx="64008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808" y="1728216"/>
            <a:ext cx="4233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During test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64808" y="2039112"/>
            <a:ext cx="42519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Question first → scan → verify.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914400" y="3063240"/>
            <a:ext cx="4617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06324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3191256"/>
            <a:ext cx="4233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When stuck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15568" y="3502152"/>
            <a:ext cx="42519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Mark it, guess later, move on.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263640" y="3063240"/>
            <a:ext cx="4617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063240"/>
            <a:ext cx="64008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3191256"/>
            <a:ext cx="4233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Final minutes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64808" y="3502152"/>
            <a:ext cx="425196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4748B"/>
                </a:solidFill>
              </a:rPr>
              <a:t>Fill blanks, check spelling, review flagged items.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1005840" y="5120640"/>
            <a:ext cx="10058400" cy="694944"/>
          </a:xfrm>
          <a:prstGeom prst="roundRect">
            <a:avLst>
              <a:gd name="adj" fmla="val 18421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5340096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Read smarter. Find evidence faster. Protect every easy mark.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458200" y="219456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Target: accuracy + speed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749808"/>
            <a:ext cx="713232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Sources used for this deck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320272" y="6428232"/>
            <a:ext cx="3474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20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243584"/>
            <a:ext cx="1033272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test structure and sample question types were based on IELTS/British Council sources. The strategy framing was also informed by the provided YouTube reference videos.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1060704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965960"/>
            <a:ext cx="64008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2093976"/>
            <a:ext cx="10222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IELTS.org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8408" y="2404872"/>
            <a:ext cx="1024128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Academic test format and Reading 60 minutes: ielts.org/take-a-test/test-types/ielts-academic-test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1060704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53512"/>
            <a:ext cx="64008" cy="67665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081528"/>
            <a:ext cx="10222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IELTS sample tasks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78408" y="3392424"/>
            <a:ext cx="1024128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Official Academic Reading task types: ielts.org/take-a-test/preparation-resources/sample-test-questions/academic-test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77240" y="3941064"/>
            <a:ext cx="1060704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941064"/>
            <a:ext cx="64008" cy="6766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" y="4069080"/>
            <a:ext cx="10222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British Council / IDP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8408" y="4379976"/>
            <a:ext cx="1024128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Preparation tips and scoring concept: takeielts.britishcouncil.org • ielts.idp.com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777240" y="4928616"/>
            <a:ext cx="1060704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698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928616"/>
            <a:ext cx="6400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" y="5056632"/>
            <a:ext cx="102229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YouTube references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78408" y="5367528"/>
            <a:ext cx="1024128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Provided videos: youtu.be/apOCnYpR-9g • youtu.be/N0RxRl9all • youtu.be/hqTQZHbKeIM • youtu.be/A_1U_eB3OfEI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786384" y="6126480"/>
            <a:ext cx="10561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Prepared as a teaching deck; adapt examples to your students’ level.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Prepared for IELTS learners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IELTS Academic Reading: Structure, Techniques &amp; Strategy</dc:title>
  <dc:subject>IELTS Academic Reading strategy slide deck</dc:subject>
  <dc:creator>OpenAI</dc:creator>
  <cp:lastModifiedBy>OpenAI</cp:lastModifiedBy>
  <cp:revision>1</cp:revision>
  <dcterms:created xsi:type="dcterms:W3CDTF">2026-09-14T13:05:18Z</dcterms:created>
  <dcterms:modified xsi:type="dcterms:W3CDTF">2026-09-14T13:05:18Z</dcterms:modified>
</cp:coreProperties>
</file>