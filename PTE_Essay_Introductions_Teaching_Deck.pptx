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1788befab2049d2" /><Relationship Type="http://schemas.openxmlformats.org/officeDocument/2006/relationships/extended-properties" Target="/docProps/app.xml" Id="R37d9a6e48ab54a9a" /><Relationship Type="http://schemas.openxmlformats.org/officeDocument/2006/relationships/officeDocument" Target="/ppt/presentation.xml" Id="R83d145a3515b46a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6f04213c7da4795"/>
  </p:sldMasterIdLst>
  <p:notesMasterIdLst>
    <p:notesMasterId xmlns:r="http://schemas.openxmlformats.org/officeDocument/2006/relationships" r:id="R74517bc859644a10"/>
  </p:notesMasterIdLst>
  <p:sldIdLst>
    <p:sldId xmlns:r="http://schemas.openxmlformats.org/officeDocument/2006/relationships" id="256" r:id="R46fa3c103bc547aa"/>
    <p:sldId xmlns:r="http://schemas.openxmlformats.org/officeDocument/2006/relationships" id="257" r:id="Rc758602197c74e58"/>
    <p:sldId xmlns:r="http://schemas.openxmlformats.org/officeDocument/2006/relationships" id="258" r:id="Rdc2df32d6ae549d1"/>
    <p:sldId xmlns:r="http://schemas.openxmlformats.org/officeDocument/2006/relationships" id="259" r:id="R42c3d128e2604495"/>
    <p:sldId xmlns:r="http://schemas.openxmlformats.org/officeDocument/2006/relationships" id="260" r:id="Ra6a35c36dfc649e7"/>
    <p:sldId xmlns:r="http://schemas.openxmlformats.org/officeDocument/2006/relationships" id="261" r:id="R12c3a39501674d6e"/>
    <p:sldId xmlns:r="http://schemas.openxmlformats.org/officeDocument/2006/relationships" id="262" r:id="Ra90dbee4def54880"/>
    <p:sldId xmlns:r="http://schemas.openxmlformats.org/officeDocument/2006/relationships" id="263" r:id="R96973ae58a084877"/>
    <p:sldId xmlns:r="http://schemas.openxmlformats.org/officeDocument/2006/relationships" id="264" r:id="R227b5791b426401c"/>
    <p:sldId xmlns:r="http://schemas.openxmlformats.org/officeDocument/2006/relationships" id="265" r:id="R04baf520e52a49eb"/>
    <p:sldId xmlns:r="http://schemas.openxmlformats.org/officeDocument/2006/relationships" id="266" r:id="R3f8943f816ce4188"/>
    <p:sldId xmlns:r="http://schemas.openxmlformats.org/officeDocument/2006/relationships" id="267" r:id="R77216e49222c4b5a"/>
    <p:sldId xmlns:r="http://schemas.openxmlformats.org/officeDocument/2006/relationships" id="268" r:id="R3a061032e7b04f9c"/>
    <p:sldId xmlns:r="http://schemas.openxmlformats.org/officeDocument/2006/relationships" id="269" r:id="R17640692a61141ee"/>
    <p:sldId xmlns:r="http://schemas.openxmlformats.org/officeDocument/2006/relationships" id="270" r:id="R4458abbd14984ab0"/>
    <p:sldId xmlns:r="http://schemas.openxmlformats.org/officeDocument/2006/relationships" id="271" r:id="R0c6db0987dd14b86"/>
    <p:sldId xmlns:r="http://schemas.openxmlformats.org/officeDocument/2006/relationships" id="272" r:id="R95730f4310fb4b2d"/>
    <p:sldId xmlns:r="http://schemas.openxmlformats.org/officeDocument/2006/relationships" id="273" r:id="Rf6573d1d7f244547"/>
    <p:sldId xmlns:r="http://schemas.openxmlformats.org/officeDocument/2006/relationships" id="274" r:id="R08714083f9d04b8e"/>
    <p:sldId xmlns:r="http://schemas.openxmlformats.org/officeDocument/2006/relationships" id="275" r:id="R8e83f4280d0040fe"/>
    <p:sldId xmlns:r="http://schemas.openxmlformats.org/officeDocument/2006/relationships" id="276" r:id="Rc8dfd81a29114ea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c660502b5454d02" /><Relationship Type="http://schemas.openxmlformats.org/officeDocument/2006/relationships/slideMaster" Target="/ppt/slideMasters/slideMaster1.xml" Id="Rc6f04213c7da4795" /><Relationship Type="http://schemas.openxmlformats.org/officeDocument/2006/relationships/notesMaster" Target="/ppt/notesMasters/notesMaster1.xml" Id="R74517bc859644a10" /><Relationship Type="http://schemas.openxmlformats.org/officeDocument/2006/relationships/presProps" Target="/ppt/presProps.xml" Id="R740d3556ce464fd8" /><Relationship Type="http://schemas.openxmlformats.org/officeDocument/2006/relationships/tableStyles" Target="/ppt/tableStyles.xml" Id="R097df66101204e25" /><Relationship Type="http://schemas.openxmlformats.org/officeDocument/2006/relationships/slide" Target="/ppt/slides/slide1.xml" Id="R46fa3c103bc547aa" /><Relationship Type="http://schemas.openxmlformats.org/officeDocument/2006/relationships/slide" Target="/ppt/slides/slide2.xml" Id="Rc758602197c74e58" /><Relationship Type="http://schemas.openxmlformats.org/officeDocument/2006/relationships/slide" Target="/ppt/slides/slide3.xml" Id="Rdc2df32d6ae549d1" /><Relationship Type="http://schemas.openxmlformats.org/officeDocument/2006/relationships/slide" Target="/ppt/slides/slide4.xml" Id="R42c3d128e2604495" /><Relationship Type="http://schemas.openxmlformats.org/officeDocument/2006/relationships/slide" Target="/ppt/slides/slide5.xml" Id="Ra6a35c36dfc649e7" /><Relationship Type="http://schemas.openxmlformats.org/officeDocument/2006/relationships/slide" Target="/ppt/slides/slide6.xml" Id="R12c3a39501674d6e" /><Relationship Type="http://schemas.openxmlformats.org/officeDocument/2006/relationships/slide" Target="/ppt/slides/slide7.xml" Id="Ra90dbee4def54880" /><Relationship Type="http://schemas.openxmlformats.org/officeDocument/2006/relationships/slide" Target="/ppt/slides/slide8.xml" Id="R96973ae58a084877" /><Relationship Type="http://schemas.openxmlformats.org/officeDocument/2006/relationships/slide" Target="/ppt/slides/slide9.xml" Id="R227b5791b426401c" /><Relationship Type="http://schemas.openxmlformats.org/officeDocument/2006/relationships/slide" Target="/ppt/slides/slide10.xml" Id="R04baf520e52a49eb" /><Relationship Type="http://schemas.openxmlformats.org/officeDocument/2006/relationships/slide" Target="/ppt/slides/slide11.xml" Id="R3f8943f816ce4188" /><Relationship Type="http://schemas.openxmlformats.org/officeDocument/2006/relationships/slide" Target="/ppt/slides/slide12.xml" Id="R77216e49222c4b5a" /><Relationship Type="http://schemas.openxmlformats.org/officeDocument/2006/relationships/slide" Target="/ppt/slides/slide13.xml" Id="R3a061032e7b04f9c" /><Relationship Type="http://schemas.openxmlformats.org/officeDocument/2006/relationships/slide" Target="/ppt/slides/slide14.xml" Id="R17640692a61141ee" /><Relationship Type="http://schemas.openxmlformats.org/officeDocument/2006/relationships/slide" Target="/ppt/slides/slide15.xml" Id="R4458abbd14984ab0" /><Relationship Type="http://schemas.openxmlformats.org/officeDocument/2006/relationships/slide" Target="/ppt/slides/slide16.xml" Id="R0c6db0987dd14b86" /><Relationship Type="http://schemas.openxmlformats.org/officeDocument/2006/relationships/slide" Target="/ppt/slides/slide17.xml" Id="R95730f4310fb4b2d" /><Relationship Type="http://schemas.openxmlformats.org/officeDocument/2006/relationships/slide" Target="/ppt/slides/slide18.xml" Id="Rf6573d1d7f244547" /><Relationship Type="http://schemas.openxmlformats.org/officeDocument/2006/relationships/slide" Target="/ppt/slides/slide19.xml" Id="R08714083f9d04b8e" /><Relationship Type="http://schemas.openxmlformats.org/officeDocument/2006/relationships/slide" Target="/ppt/slides/slide20.xml" Id="R8e83f4280d0040fe" /><Relationship Type="http://schemas.openxmlformats.org/officeDocument/2006/relationships/slide" Target="/ppt/slides/slide21.xml" Id="Rc8dfd81a29114ea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fc7349b491149a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76395db555f446b" /><Relationship Type="http://schemas.openxmlformats.org/officeDocument/2006/relationships/notesMaster" Target="/ppt/notesMasters/notesMaster1.xml" Id="Re8652a56cdc5450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1d4c16fcbd84331" /><Relationship Type="http://schemas.openxmlformats.org/officeDocument/2006/relationships/notesMaster" Target="/ppt/notesMasters/notesMaster1.xml" Id="R753544e55e304fc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3eff934aa974ec9" /><Relationship Type="http://schemas.openxmlformats.org/officeDocument/2006/relationships/notesMaster" Target="/ppt/notesMasters/notesMaster1.xml" Id="R79443735b87f411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a06092bd5f54ce5" /><Relationship Type="http://schemas.openxmlformats.org/officeDocument/2006/relationships/notesMaster" Target="/ppt/notesMasters/notesMaster1.xml" Id="R3f80b8a6654445d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df7f798f52d45a2" /><Relationship Type="http://schemas.openxmlformats.org/officeDocument/2006/relationships/notesMaster" Target="/ppt/notesMasters/notesMaster1.xml" Id="R8767f4034a934dc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57ee49991a841c8" /><Relationship Type="http://schemas.openxmlformats.org/officeDocument/2006/relationships/notesMaster" Target="/ppt/notesMasters/notesMaster1.xml" Id="R46a64b9010cb44a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446c0a9ab8844a4" /><Relationship Type="http://schemas.openxmlformats.org/officeDocument/2006/relationships/notesMaster" Target="/ppt/notesMasters/notesMaster1.xml" Id="R245943f2f843433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162117d5956463f" /><Relationship Type="http://schemas.openxmlformats.org/officeDocument/2006/relationships/notesMaster" Target="/ppt/notesMasters/notesMaster1.xml" Id="R15ca653dd9b64ca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ed1ce25446f435f" /><Relationship Type="http://schemas.openxmlformats.org/officeDocument/2006/relationships/notesMaster" Target="/ppt/notesMasters/notesMaster1.xml" Id="R4ddaf5dcd50946e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853b75c030d401a" /><Relationship Type="http://schemas.openxmlformats.org/officeDocument/2006/relationships/notesMaster" Target="/ppt/notesMasters/notesMaster1.xml" Id="Rc17f34604e864b1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0e1291169394d52" /><Relationship Type="http://schemas.openxmlformats.org/officeDocument/2006/relationships/notesMaster" Target="/ppt/notesMasters/notesMaster1.xml" Id="R6a21d716169e44b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2fd771199144f99" /><Relationship Type="http://schemas.openxmlformats.org/officeDocument/2006/relationships/notesMaster" Target="/ppt/notesMasters/notesMaster1.xml" Id="Re04b992af7f8409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c58599973dd42e7" /><Relationship Type="http://schemas.openxmlformats.org/officeDocument/2006/relationships/notesMaster" Target="/ppt/notesMasters/notesMaster1.xml" Id="R4962799fadd2406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88f06562be34f1e" /><Relationship Type="http://schemas.openxmlformats.org/officeDocument/2006/relationships/notesMaster" Target="/ppt/notesMasters/notesMaster1.xml" Id="Ra5ce84d3aab743b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db415c710774759" /><Relationship Type="http://schemas.openxmlformats.org/officeDocument/2006/relationships/notesMaster" Target="/ppt/notesMasters/notesMaster1.xml" Id="Re282c0e1ee89481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8487c0e1e634a93" /><Relationship Type="http://schemas.openxmlformats.org/officeDocument/2006/relationships/notesMaster" Target="/ppt/notesMasters/notesMaster1.xml" Id="R03960500802f4b3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c42b6367db74f5e" /><Relationship Type="http://schemas.openxmlformats.org/officeDocument/2006/relationships/notesMaster" Target="/ppt/notesMasters/notesMaster1.xml" Id="Rf414db5be6c14dc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d40fe26f5d6437a" /><Relationship Type="http://schemas.openxmlformats.org/officeDocument/2006/relationships/notesMaster" Target="/ppt/notesMasters/notesMaster1.xml" Id="R1080fbf48ead460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03eb5a1cdf64846" /><Relationship Type="http://schemas.openxmlformats.org/officeDocument/2006/relationships/notesMaster" Target="/ppt/notesMasters/notesMaster1.xml" Id="Rb85b800f525e4b4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ca7c053d6ee48d8" /><Relationship Type="http://schemas.openxmlformats.org/officeDocument/2006/relationships/notesMaster" Target="/ppt/notesMasters/notesMaster1.xml" Id="R23e5756159ed4d9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a2f55d70d82d4962" /><Relationship Type="http://schemas.openxmlformats.org/officeDocument/2006/relationships/notesMaster" Target="/ppt/notesMasters/notesMaster1.xml" Id="Ra5ff0e227f924f7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by asking: What is the first job of an introduction?</a:t>
            </a:r>
          </a:p>
          <a:p xmlns:a="http://schemas.openxmlformats.org/drawingml/2006/main">
            <a:r>
              <a:t>Accept answers, then reveal the lesson rule: name the topic before using any reference word such as ‘this issue’.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Tell students the lesson focuses only on the introduction, not the whole essay.</a:t>
            </a:r>
          </a:p>
          <a:p xmlns:a="http://schemas.openxmlformats.org/drawingml/2006/main">
            <a:r>
              <a:t>Ask students to repeat the three jobs: topic, debate, position.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PTE now uses both automated scoring and expert review for Write Essay content.</a:t>
            </a:r>
          </a:p>
          <a:p xmlns:a="http://schemas.openxmlformats.org/drawingml/2006/main">
            <a:r>
              <a:t>Stress: students may memorise a structure, but the topic and position must be genuine and relevant.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https://www.pearsonpte.com/content/dam/ELL/pte/pearsonpte/pdfs/pte-academic-pdfs/PTE-Academic-Test-Taker-Score-Guide.pdf</a:t>
            </a:r>
          </a:p>
          <a:p xmlns:a="http://schemas.openxmlformats.org/drawingml/2006/main">
            <a:r>
              <a:t>- https://www.pearsonpte.com/articles/how-to-prepare-for-the-pte-essay-writing-task/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three fingers to reinforce the sequence: name, frame, position.</a:t>
            </a:r>
          </a:p>
          <a:p xmlns:a="http://schemas.openxmlformats.org/drawingml/2006/main">
            <a:r>
              <a:t>Tell students that a third sentence is optional; clarity matters more than length.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students why the weak sentence is unclear before revealing the explanation.</a:t>
            </a:r>
          </a:p>
          <a:p xmlns:a="http://schemas.openxmlformats.org/drawingml/2006/main">
            <a:r>
              <a:t>Invite one student to replace ‘this issue’ with a topic noun phrase.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how to convert a full question into a noun phrase.</a:t>
            </a:r>
          </a:p>
          <a:p xmlns:a="http://schemas.openxmlformats.org/drawingml/2006/main">
            <a:r>
              <a:t>Ask students to identify the actor and action before revealing the topic phrase.</a:t>
            </a:r>
          </a:p>
          <a:p xmlns:a="http://schemas.openxmlformats.org/drawingml/2006/main">
            <a:r>
              <a:t>Remind them: paraphrase meaning, not every individual word.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Opening 1 aloud once.</a:t>
            </a:r>
          </a:p>
          <a:p xmlns:a="http://schemas.openxmlformats.org/drawingml/2006/main">
            <a:r>
              <a:t>Ask students to identify the topic noun phrase: Artificial intelligence in education.</a:t>
            </a:r>
          </a:p>
          <a:p xmlns:a="http://schemas.openxmlformats.org/drawingml/2006/main">
            <a:r>
              <a:t>Emphasise that the next sentence must state a clear position and preview the body ideas.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Opening 2 aloud once.</a:t>
            </a:r>
          </a:p>
          <a:p xmlns:a="http://schemas.openxmlformats.org/drawingml/2006/main">
            <a:r>
              <a:t>Ask students to identify the topic noun phrase: Social media.</a:t>
            </a:r>
          </a:p>
          <a:p xmlns:a="http://schemas.openxmlformats.org/drawingml/2006/main">
            <a:r>
              <a:t>Emphasise that the next sentence must state a clear position and preview the body ideas.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Opening 3 aloud once.</a:t>
            </a:r>
          </a:p>
          <a:p xmlns:a="http://schemas.openxmlformats.org/drawingml/2006/main">
            <a:r>
              <a:t>Ask students to identify the topic noun phrase: Free university education.</a:t>
            </a:r>
          </a:p>
          <a:p xmlns:a="http://schemas.openxmlformats.org/drawingml/2006/main">
            <a:r>
              <a:t>Emphasise that the next sentence must state a clear position and preview the body ideas.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Opening 4 aloud once.</a:t>
            </a:r>
          </a:p>
          <a:p xmlns:a="http://schemas.openxmlformats.org/drawingml/2006/main">
            <a:r>
              <a:t>Ask students to identify the topic noun phrase: Genetic engineering.</a:t>
            </a:r>
          </a:p>
          <a:p xmlns:a="http://schemas.openxmlformats.org/drawingml/2006/main">
            <a:r>
              <a:t>Emphasise that the next sentence must state a clear position and preview the body ideas.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Opening 5 aloud once.</a:t>
            </a:r>
          </a:p>
          <a:p xmlns:a="http://schemas.openxmlformats.org/drawingml/2006/main">
            <a:r>
              <a:t>Ask students to identify the topic noun phrase: Government funding for higher education.</a:t>
            </a:r>
          </a:p>
          <a:p xmlns:a="http://schemas.openxmlformats.org/drawingml/2006/main">
            <a:r>
              <a:t>Emphasise that the next sentence must state a clear position and preview the body ideas.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Opening 6 aloud once.</a:t>
            </a:r>
          </a:p>
          <a:p xmlns:a="http://schemas.openxmlformats.org/drawingml/2006/main">
            <a:r>
              <a:t>Ask students to identify the topic noun phrase: Compulsory health education.</a:t>
            </a:r>
          </a:p>
          <a:p xmlns:a="http://schemas.openxmlformats.org/drawingml/2006/main">
            <a:r>
              <a:t>Emphasise that the next sentence must state a clear position and preview the body ideas.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Opening 7 aloud once.</a:t>
            </a:r>
          </a:p>
          <a:p xmlns:a="http://schemas.openxmlformats.org/drawingml/2006/main">
            <a:r>
              <a:t>Ask students to identify the topic noun phrase: Animal testing in medical research.</a:t>
            </a:r>
          </a:p>
          <a:p xmlns:a="http://schemas.openxmlformats.org/drawingml/2006/main">
            <a:r>
              <a:t>Emphasise that the next sentence must state a clear position and preview the body ideas.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Opening 8 aloud once.</a:t>
            </a:r>
          </a:p>
          <a:p xmlns:a="http://schemas.openxmlformats.org/drawingml/2006/main">
            <a:r>
              <a:t>Ask students to identify the topic noun phrase: Remote working.</a:t>
            </a:r>
          </a:p>
          <a:p xmlns:a="http://schemas.openxmlformats.org/drawingml/2006/main">
            <a:r>
              <a:t>Emphasise that the next sentence must state a clear position and preview the body ideas.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Opening 9 aloud once.</a:t>
            </a:r>
          </a:p>
          <a:p xmlns:a="http://schemas.openxmlformats.org/drawingml/2006/main">
            <a:r>
              <a:t>Ask students to identify the topic noun phrase: Restrictions on private vehicles.</a:t>
            </a:r>
          </a:p>
          <a:p xmlns:a="http://schemas.openxmlformats.org/drawingml/2006/main">
            <a:r>
              <a:t>Emphasise that the next sentence must state a clear position and preview the body ideas.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Opening 10 aloud once.</a:t>
            </a:r>
          </a:p>
          <a:p xmlns:a="http://schemas.openxmlformats.org/drawingml/2006/main">
            <a:r>
              <a:t>Ask students to identify the topic noun phrase: The transition to renewable energy.</a:t>
            </a:r>
          </a:p>
          <a:p xmlns:a="http://schemas.openxmlformats.org/drawingml/2006/main">
            <a:r>
              <a:t>Emphasise that the next sentence must state a clear position and preview the body ideas.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Give a topic aloud and ask students to select an opening number.</a:t>
            </a:r>
          </a:p>
          <a:p xmlns:a="http://schemas.openxmlformats.org/drawingml/2006/main">
            <a:r>
              <a:t>Explain that Opening 1 is the safest default when students are uncertain.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introduction aloud and pause between the opening and thesis.</a:t>
            </a:r>
          </a:p>
          <a:p xmlns:a="http://schemas.openxmlformats.org/drawingml/2006/main">
            <a:r>
              <a:t>Ask students to underline the position and circle the two body ideas.</a:t>
            </a:r>
          </a:p>
          <a:p xmlns:a="http://schemas.openxmlformats.org/drawingml/2006/main">
            <a:r>
              <a:t>Point out that the example does not appear in the introduction; it belongs in the body.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Students work individually, then compare with a partner.</a:t>
            </a:r>
          </a:p>
          <a:p xmlns:a="http://schemas.openxmlformats.org/drawingml/2006/main">
            <a:r>
              <a:t>Check only three things: the topic noun phrase, the position and the two reasons.</a:t>
            </a:r>
          </a:p>
          <a:p xmlns:a="http://schemas.openxmlformats.org/drawingml/2006/main">
            <a:r>
              <a:t>Move to the next slide for model answers after discussion.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mark a different opening as wrong if it fits the prompt.</a:t>
            </a:r>
          </a:p>
          <a:p xmlns:a="http://schemas.openxmlformats.org/drawingml/2006/main">
            <a:r>
              <a:t>Ask students to compare their topic phrase with the model, not to copy every word.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a live marking checklist after every practice introduction.</a:t>
            </a:r>
          </a:p>
          <a:p xmlns:a="http://schemas.openxmlformats.org/drawingml/2006/main">
            <a:r>
              <a:t>End by asking students to state the rule in one sentence: topic first, position second.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https://www.pearsonpte.com/content/dam/ELL/pte/pearsonpte/pdfs/pte-academic-pdfs/PTE-Academic-Test-Taker-Score-Guide.pdf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f1a79819d74c9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7129a47bc384859" /><Relationship Type="http://schemas.openxmlformats.org/officeDocument/2006/relationships/slideLayout" Target="/ppt/slideLayouts/slideLayout1.xml" Id="R045595a85bb943f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45595a85bb943f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1c764f36124c43" /><Relationship Type="http://schemas.openxmlformats.org/officeDocument/2006/relationships/notesSlide" Target="/ppt/notesSlides/notesSlide1.xml" Id="R18cc8a59f2c6410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3cc14d4f3641e5" /><Relationship Type="http://schemas.openxmlformats.org/officeDocument/2006/relationships/notesSlide" Target="/ppt/notesSlides/notesSlide2.xml" Id="R4f95105c0d65418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791e8350e24d9b" /><Relationship Type="http://schemas.openxmlformats.org/officeDocument/2006/relationships/notesSlide" Target="/ppt/notesSlides/notesSlide3.xml" Id="Rafcbec4f708e479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7dd99d1b06462d" /><Relationship Type="http://schemas.openxmlformats.org/officeDocument/2006/relationships/notesSlide" Target="/ppt/notesSlides/notesSlide4.xml" Id="Rcb3102078bed4af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5f0e7c87374e93" /><Relationship Type="http://schemas.openxmlformats.org/officeDocument/2006/relationships/notesSlide" Target="/ppt/notesSlides/notesSlide5.xml" Id="R467f44071b80414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7dee6112b44672" /><Relationship Type="http://schemas.openxmlformats.org/officeDocument/2006/relationships/notesSlide" Target="/ppt/notesSlides/notesSlide6.xml" Id="R08e4a847dc614d8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f273b90e154215" /><Relationship Type="http://schemas.openxmlformats.org/officeDocument/2006/relationships/notesSlide" Target="/ppt/notesSlides/notesSlide7.xml" Id="R2b30a5f0129149a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ab165507e34eff" /><Relationship Type="http://schemas.openxmlformats.org/officeDocument/2006/relationships/notesSlide" Target="/ppt/notesSlides/notesSlide8.xml" Id="R60098ba1ffd442e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e7a554891644d2" /><Relationship Type="http://schemas.openxmlformats.org/officeDocument/2006/relationships/notesSlide" Target="/ppt/notesSlides/notesSlide9.xml" Id="Rc28d3616d46b467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bfadfe79e84d06" /><Relationship Type="http://schemas.openxmlformats.org/officeDocument/2006/relationships/notesSlide" Target="/ppt/notesSlides/notesSlide10.xml" Id="R5230ed6e88834a3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465ee102464165" /><Relationship Type="http://schemas.openxmlformats.org/officeDocument/2006/relationships/notesSlide" Target="/ppt/notesSlides/notesSlide11.xml" Id="R51ad16319b6c4d8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197809c1c74e4b" /><Relationship Type="http://schemas.openxmlformats.org/officeDocument/2006/relationships/notesSlide" Target="/ppt/notesSlides/notesSlide12.xml" Id="Re19ba882e7c9464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51bcdb539e4091" /><Relationship Type="http://schemas.openxmlformats.org/officeDocument/2006/relationships/notesSlide" Target="/ppt/notesSlides/notesSlide13.xml" Id="Rc757c6de5e01470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d2905079fb4b31" /><Relationship Type="http://schemas.openxmlformats.org/officeDocument/2006/relationships/notesSlide" Target="/ppt/notesSlides/notesSlide14.xml" Id="R24f2bb1465b846f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ccd528e9324843" /><Relationship Type="http://schemas.openxmlformats.org/officeDocument/2006/relationships/notesSlide" Target="/ppt/notesSlides/notesSlide15.xml" Id="R327687256e28491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068b3be64e495e" /><Relationship Type="http://schemas.openxmlformats.org/officeDocument/2006/relationships/notesSlide" Target="/ppt/notesSlides/notesSlide16.xml" Id="Rc9734385abb84e7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3f84b03fa041c1" /><Relationship Type="http://schemas.openxmlformats.org/officeDocument/2006/relationships/notesSlide" Target="/ppt/notesSlides/notesSlide17.xml" Id="R723cf29d673944b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bafacd42984524" /><Relationship Type="http://schemas.openxmlformats.org/officeDocument/2006/relationships/notesSlide" Target="/ppt/notesSlides/notesSlide18.xml" Id="R42ea9868646947a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34c53a082c41cc" /><Relationship Type="http://schemas.openxmlformats.org/officeDocument/2006/relationships/notesSlide" Target="/ppt/notesSlides/notesSlide19.xml" Id="Rd84c3276c8f3459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c2ef53f6a44612" /><Relationship Type="http://schemas.openxmlformats.org/officeDocument/2006/relationships/notesSlide" Target="/ppt/notesSlides/notesSlide20.xml" Id="R0eb9837c527149c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eeac902d894c56" /><Relationship Type="http://schemas.openxmlformats.org/officeDocument/2006/relationships/notesSlide" Target="/ppt/notesSlides/notesSlide21.xml" Id="R1cc1e0993def455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56-44">
            <a:extLst xmlns:a="http://schemas.openxmlformats.org/drawingml/2006/main">
              <a:ext uri="{FF2B5EF4-FFF2-40B4-BE49-F238E27FC236}">
                <a16:creationId xmlns:a16="http://schemas.microsoft.com/office/drawing/2014/main" id="{74BFBD63-C933-43FF-9F7B-D4117D453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</a:defRPr>
            </a:pPr>
            <a:r>
              <a:rPr sz="1275" b="1">
                <a:solidFill>
                  <a:srgbClr val="3D8DFF"/>
                </a:solidFill>
              </a:rPr>
              <a:t>PTE ACADEMIC · WRITING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66391D8C-5321-4CEE-9627-836B54894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9715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111111"/>
                </a:solidFill>
              </a:defRPr>
            </a:pPr>
            <a:r>
              <a:rPr sz="5100" b="1">
                <a:solidFill>
                  <a:srgbClr val="111111"/>
                </a:solidFill>
              </a:rPr>
              <a:t>High-Scoring</a:t>
            </a:r>
          </a:p>
          <a:p xmlns:a="http://schemas.openxmlformats.org/drawingml/2006/main">
            <a:pPr algn="l">
              <a:defRPr sz="5100" b="1">
                <a:solidFill>
                  <a:srgbClr val="111111"/>
                </a:solidFill>
              </a:defRPr>
            </a:pPr>
            <a:r>
              <a:rPr sz="5100" b="1">
                <a:solidFill>
                  <a:srgbClr val="111111"/>
                </a:solidFill>
              </a:rPr>
              <a:t>Essay Introductions</a:t>
            </a:r>
          </a:p>
        </p:txBody>
      </p:sp>
      <p:sp>
        <p:nvSpPr>
          <p:cNvPr id="3" name="text-56-474">
            <a:extLst xmlns:a="http://schemas.openxmlformats.org/drawingml/2006/main">
              <a:ext uri="{FF2B5EF4-FFF2-40B4-BE49-F238E27FC236}">
                <a16:creationId xmlns:a16="http://schemas.microsoft.com/office/drawing/2014/main" id="{1A71A6C1-BD3D-447D-9A79-F6C4BB5AF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14850"/>
            <a:ext cx="838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E6673"/>
                </a:solidFill>
              </a:defRPr>
            </a:pPr>
            <a:r>
              <a:rPr sz="2025" b="0">
                <a:solidFill>
                  <a:srgbClr val="5E6673"/>
                </a:solidFill>
              </a:rPr>
              <a:t>Name the topic. Frame the debate. State the position.</a:t>
            </a:r>
          </a:p>
        </p:txBody>
      </p:sp>
      <p:sp>
        <p:nvSpPr>
          <p:cNvPr id="4" name="rect-56-574">
            <a:extLst xmlns:a="http://schemas.openxmlformats.org/drawingml/2006/main">
              <a:ext uri="{FF2B5EF4-FFF2-40B4-BE49-F238E27FC236}">
                <a16:creationId xmlns:a16="http://schemas.microsoft.com/office/drawing/2014/main" id="{3418BCAF-F3AC-431A-9426-C5E4F7600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67350"/>
            <a:ext cx="4381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5" name="text-56-610">
            <a:extLst xmlns:a="http://schemas.openxmlformats.org/drawingml/2006/main">
              <a:ext uri="{FF2B5EF4-FFF2-40B4-BE49-F238E27FC236}">
                <a16:creationId xmlns:a16="http://schemas.microsoft.com/office/drawing/2014/main" id="{AE63FF6E-A046-4E0F-BA81-8DF46B274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1025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A classroom-ready lesson with 10 reusable openings</a:t>
            </a:r>
          </a:p>
        </p:txBody>
      </p:sp>
    </p:spTree>
    <p:extLst>
      <p:ext uri="{BB962C8B-B14F-4D97-AF65-F5344CB8AC3E}">
        <p14:creationId xmlns:p14="http://schemas.microsoft.com/office/powerpoint/2010/main" val="15024978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-2">
            <a:extLst xmlns:a="http://schemas.openxmlformats.org/drawingml/2006/main">
              <a:ext uri="{FF2B5EF4-FFF2-40B4-BE49-F238E27FC236}">
                <a16:creationId xmlns:a16="http://schemas.microsoft.com/office/drawing/2014/main" id="{592467B1-457B-430B-8347-0D36C09D4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LESSON OUTCOME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A51936FB-4344-4EA1-8560-AB9346BD8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</a:defRPr>
            </a:pPr>
            <a:r>
              <a:rPr sz="2925" b="1">
                <a:solidFill>
                  <a:srgbClr val="111111"/>
                </a:solidFill>
              </a:rPr>
              <a:t>Build a focused introduction in two sentences</a:t>
            </a:r>
          </a:p>
        </p:txBody>
      </p:sp>
      <p:sp>
        <p:nvSpPr>
          <p:cNvPr id="3" name="rule-2">
            <a:extLst xmlns:a="http://schemas.openxmlformats.org/drawingml/2006/main">
              <a:ext uri="{FF2B5EF4-FFF2-40B4-BE49-F238E27FC236}">
                <a16:creationId xmlns:a16="http://schemas.microsoft.com/office/drawing/2014/main" id="{CE023BD9-4862-4FF9-9137-211002FA3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B7C45882-40F0-465A-997C-15CC645DB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9127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673"/>
                </a:solidFill>
              </a:defRPr>
            </a:pPr>
            <a:r>
              <a:rPr sz="1050" b="0">
                <a:solidFill>
                  <a:srgbClr val="5E6673"/>
                </a:solidFill>
              </a:rPr>
              <a:t>02</a:t>
            </a:r>
          </a:p>
        </p:txBody>
      </p:sp>
      <p:sp>
        <p:nvSpPr>
          <p:cNvPr id="5" name="text-70-202">
            <a:extLst xmlns:a="http://schemas.openxmlformats.org/drawingml/2006/main">
              <a:ext uri="{FF2B5EF4-FFF2-40B4-BE49-F238E27FC236}">
                <a16:creationId xmlns:a16="http://schemas.microsoft.com/office/drawing/2014/main" id="{BEBE03FF-31B0-40C0-B9B4-639057A95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85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D8DFF"/>
                </a:solidFill>
              </a:defRPr>
            </a:pPr>
            <a:r>
              <a:rPr sz="2550" b="1">
                <a:solidFill>
                  <a:srgbClr val="3D8DFF"/>
                </a:solidFill>
              </a:rPr>
              <a:t>01</a:t>
            </a:r>
          </a:p>
        </p:txBody>
      </p:sp>
      <p:sp>
        <p:nvSpPr>
          <p:cNvPr id="6" name="text-180-202">
            <a:extLst xmlns:a="http://schemas.openxmlformats.org/drawingml/2006/main">
              <a:ext uri="{FF2B5EF4-FFF2-40B4-BE49-F238E27FC236}">
                <a16:creationId xmlns:a16="http://schemas.microsoft.com/office/drawing/2014/main" id="{75DBF1AD-85E7-425A-BC0E-8FE677970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92405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Name the topic</a:t>
            </a:r>
          </a:p>
        </p:txBody>
      </p:sp>
      <p:sp>
        <p:nvSpPr>
          <p:cNvPr id="7" name="text-540-204">
            <a:extLst xmlns:a="http://schemas.openxmlformats.org/drawingml/2006/main">
              <a:ext uri="{FF2B5EF4-FFF2-40B4-BE49-F238E27FC236}">
                <a16:creationId xmlns:a16="http://schemas.microsoft.com/office/drawing/2014/main" id="{BACC4F56-DFD5-431B-BF1B-CB6ECE33C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943100"/>
            <a:ext cx="600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673"/>
                </a:solidFill>
              </a:defRPr>
            </a:pPr>
            <a:r>
              <a:rPr sz="1650" b="0">
                <a:solidFill>
                  <a:srgbClr val="5E6673"/>
                </a:solidFill>
              </a:rPr>
              <a:t>Turn the prompt into a clear noun phrase.</a:t>
            </a:r>
          </a:p>
        </p:txBody>
      </p:sp>
      <p:sp>
        <p:nvSpPr>
          <p:cNvPr id="8" name="rect-70-288">
            <a:extLst xmlns:a="http://schemas.openxmlformats.org/drawingml/2006/main">
              <a:ext uri="{FF2B5EF4-FFF2-40B4-BE49-F238E27FC236}">
                <a16:creationId xmlns:a16="http://schemas.microsoft.com/office/drawing/2014/main" id="{300F8ABB-88B1-452A-BE08-D4ADF3545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9" name="text-70-334">
            <a:extLst xmlns:a="http://schemas.openxmlformats.org/drawingml/2006/main">
              <a:ext uri="{FF2B5EF4-FFF2-40B4-BE49-F238E27FC236}">
                <a16:creationId xmlns:a16="http://schemas.microsoft.com/office/drawing/2014/main" id="{E8501F5D-F155-4AD7-B090-3400F78C8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81350"/>
            <a:ext cx="85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D8DFF"/>
                </a:solidFill>
              </a:defRPr>
            </a:pPr>
            <a:r>
              <a:rPr sz="2550" b="1">
                <a:solidFill>
                  <a:srgbClr val="3D8DFF"/>
                </a:solidFill>
              </a:rPr>
              <a:t>02</a:t>
            </a:r>
          </a:p>
        </p:txBody>
      </p:sp>
      <p:sp>
        <p:nvSpPr>
          <p:cNvPr id="10" name="text-180-334">
            <a:extLst xmlns:a="http://schemas.openxmlformats.org/drawingml/2006/main">
              <a:ext uri="{FF2B5EF4-FFF2-40B4-BE49-F238E27FC236}">
                <a16:creationId xmlns:a16="http://schemas.microsoft.com/office/drawing/2014/main" id="{D04627AB-709C-4C33-B97C-2378849FC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18135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Frame the debate</a:t>
            </a:r>
          </a:p>
        </p:txBody>
      </p:sp>
      <p:sp>
        <p:nvSpPr>
          <p:cNvPr id="11" name="text-540-336">
            <a:extLst xmlns:a="http://schemas.openxmlformats.org/drawingml/2006/main">
              <a:ext uri="{FF2B5EF4-FFF2-40B4-BE49-F238E27FC236}">
                <a16:creationId xmlns:a16="http://schemas.microsoft.com/office/drawing/2014/main" id="{C261F807-A654-4082-B302-EFBD5598C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200400"/>
            <a:ext cx="600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673"/>
                </a:solidFill>
              </a:defRPr>
            </a:pPr>
            <a:r>
              <a:rPr sz="1650" b="0">
                <a:solidFill>
                  <a:srgbClr val="5E6673"/>
                </a:solidFill>
              </a:rPr>
              <a:t>Choose an opening that matches the issue.</a:t>
            </a:r>
          </a:p>
        </p:txBody>
      </p:sp>
      <p:sp>
        <p:nvSpPr>
          <p:cNvPr id="12" name="rect-70-420">
            <a:extLst xmlns:a="http://schemas.openxmlformats.org/drawingml/2006/main">
              <a:ext uri="{FF2B5EF4-FFF2-40B4-BE49-F238E27FC236}">
                <a16:creationId xmlns:a16="http://schemas.microsoft.com/office/drawing/2014/main" id="{1907BDD4-CD56-4976-BE31-66A7BAB38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3" name="text-70-466">
            <a:extLst xmlns:a="http://schemas.openxmlformats.org/drawingml/2006/main">
              <a:ext uri="{FF2B5EF4-FFF2-40B4-BE49-F238E27FC236}">
                <a16:creationId xmlns:a16="http://schemas.microsoft.com/office/drawing/2014/main" id="{8CFF0F94-96EB-4C19-B344-86A9171AE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38650"/>
            <a:ext cx="85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D8DFF"/>
                </a:solidFill>
              </a:defRPr>
            </a:pPr>
            <a:r>
              <a:rPr sz="2550" b="1">
                <a:solidFill>
                  <a:srgbClr val="3D8DFF"/>
                </a:solidFill>
              </a:rPr>
              <a:t>03</a:t>
            </a:r>
          </a:p>
        </p:txBody>
      </p:sp>
      <p:sp>
        <p:nvSpPr>
          <p:cNvPr id="14" name="text-180-466">
            <a:extLst xmlns:a="http://schemas.openxmlformats.org/drawingml/2006/main">
              <a:ext uri="{FF2B5EF4-FFF2-40B4-BE49-F238E27FC236}">
                <a16:creationId xmlns:a16="http://schemas.microsoft.com/office/drawing/2014/main" id="{E446BD79-33AD-492C-8E55-55925837B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3865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State the position</a:t>
            </a:r>
          </a:p>
        </p:txBody>
      </p:sp>
      <p:sp>
        <p:nvSpPr>
          <p:cNvPr id="15" name="text-540-468">
            <a:extLst xmlns:a="http://schemas.openxmlformats.org/drawingml/2006/main">
              <a:ext uri="{FF2B5EF4-FFF2-40B4-BE49-F238E27FC236}">
                <a16:creationId xmlns:a16="http://schemas.microsoft.com/office/drawing/2014/main" id="{0AE53A82-B594-4BB5-B4FF-A1664923F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457700"/>
            <a:ext cx="600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673"/>
                </a:solidFill>
              </a:defRPr>
            </a:pPr>
            <a:r>
              <a:rPr sz="1650" b="0">
                <a:solidFill>
                  <a:srgbClr val="5E6673"/>
                </a:solidFill>
              </a:rPr>
              <a:t>Agree, disagree or partly agree—and preview two reasons.</a:t>
            </a:r>
          </a:p>
        </p:txBody>
      </p:sp>
    </p:spTree>
    <p:extLst>
      <p:ext uri="{BB962C8B-B14F-4D97-AF65-F5344CB8AC3E}">
        <p14:creationId xmlns:p14="http://schemas.microsoft.com/office/powerpoint/2010/main" val="196302701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eyebrow-3">
            <a:extLst xmlns:a="http://schemas.openxmlformats.org/drawingml/2006/main">
              <a:ext uri="{FF2B5EF4-FFF2-40B4-BE49-F238E27FC236}">
                <a16:creationId xmlns:a16="http://schemas.microsoft.com/office/drawing/2014/main" id="{24988ECF-BF2B-4458-B6A6-9BBD4807A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SCORING REALITY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DFB14AA5-DC21-4761-B561-068012D9D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</a:defRPr>
            </a:pPr>
            <a:r>
              <a:rPr sz="2925" b="1">
                <a:solidFill>
                  <a:srgbClr val="111111"/>
                </a:solidFill>
              </a:rPr>
              <a:t>Relevance matters more than sophisticated language</a:t>
            </a:r>
          </a:p>
        </p:txBody>
      </p:sp>
      <p:sp>
        <p:nvSpPr>
          <p:cNvPr id="3" name="rule-3">
            <a:extLst xmlns:a="http://schemas.openxmlformats.org/drawingml/2006/main">
              <a:ext uri="{FF2B5EF4-FFF2-40B4-BE49-F238E27FC236}">
                <a16:creationId xmlns:a16="http://schemas.microsoft.com/office/drawing/2014/main" id="{C9420425-CD9A-4959-A987-01913C3E7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page-3">
            <a:extLst xmlns:a="http://schemas.openxmlformats.org/drawingml/2006/main">
              <a:ext uri="{FF2B5EF4-FFF2-40B4-BE49-F238E27FC236}">
                <a16:creationId xmlns:a16="http://schemas.microsoft.com/office/drawing/2014/main" id="{479F56D0-C058-4888-959D-BAE44BEBF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9127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673"/>
                </a:solidFill>
              </a:defRPr>
            </a:pPr>
            <a:r>
              <a:rPr sz="1050" b="0">
                <a:solidFill>
                  <a:srgbClr val="5E6673"/>
                </a:solidFill>
              </a:rPr>
              <a:t>03</a:t>
            </a:r>
          </a:p>
        </p:txBody>
      </p:sp>
      <p:sp>
        <p:nvSpPr>
          <p:cNvPr id="5" name="text-70-198">
            <a:extLst xmlns:a="http://schemas.openxmlformats.org/drawingml/2006/main">
              <a:ext uri="{FF2B5EF4-FFF2-40B4-BE49-F238E27FC236}">
                <a16:creationId xmlns:a16="http://schemas.microsoft.com/office/drawing/2014/main" id="{83FF2E8A-EF8B-4BD0-98FC-846397469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859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7A55"/>
                </a:solidFill>
              </a:defRPr>
            </a:pPr>
            <a:r>
              <a:rPr sz="1275" b="1">
                <a:solidFill>
                  <a:srgbClr val="157A55"/>
                </a:solidFill>
              </a:rPr>
              <a:t>PEARSON REWARDS</a:t>
            </a:r>
          </a:p>
        </p:txBody>
      </p:sp>
      <p:sp>
        <p:nvSpPr>
          <p:cNvPr id="6" name="text-70-242">
            <a:extLst xmlns:a="http://schemas.openxmlformats.org/drawingml/2006/main">
              <a:ext uri="{FF2B5EF4-FFF2-40B4-BE49-F238E27FC236}">
                <a16:creationId xmlns:a16="http://schemas.microsoft.com/office/drawing/2014/main" id="{13FD97D3-471F-4A41-ABD3-4E48CED5E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05050"/>
            <a:ext cx="4762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• Directly addressing the prompt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• Reformulating the issue in the writer’s own words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• A clear, relevant position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• Specific support developed in the essay</a:t>
            </a:r>
          </a:p>
        </p:txBody>
      </p:sp>
      <p:sp>
        <p:nvSpPr>
          <p:cNvPr id="7" name="text-660-198">
            <a:extLst xmlns:a="http://schemas.openxmlformats.org/drawingml/2006/main">
              <a:ext uri="{FF2B5EF4-FFF2-40B4-BE49-F238E27FC236}">
                <a16:creationId xmlns:a16="http://schemas.microsoft.com/office/drawing/2014/main" id="{A89AB8DE-1B58-4445-B125-8DD2594E6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859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93939"/>
                </a:solidFill>
              </a:defRPr>
            </a:pPr>
            <a:r>
              <a:rPr sz="1275" b="1">
                <a:solidFill>
                  <a:srgbClr val="C93939"/>
                </a:solidFill>
              </a:rPr>
              <a:t>CONTENT DROPS WHEN</a:t>
            </a:r>
          </a:p>
        </p:txBody>
      </p:sp>
      <p:sp>
        <p:nvSpPr>
          <p:cNvPr id="8" name="text-660-242">
            <a:extLst xmlns:a="http://schemas.openxmlformats.org/drawingml/2006/main">
              <a:ext uri="{FF2B5EF4-FFF2-40B4-BE49-F238E27FC236}">
                <a16:creationId xmlns:a16="http://schemas.microsoft.com/office/drawing/2014/main" id="{80DA0F2E-3E32-4141-B713-DF17997A6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05050"/>
            <a:ext cx="4762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• The response relies on generic statements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• The prompt is merely repeated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• The position is unclear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• Supporting details are missing or unrelated</a:t>
            </a:r>
          </a:p>
        </p:txBody>
      </p:sp>
      <p:sp>
        <p:nvSpPr>
          <p:cNvPr id="9" name="rect-70-548">
            <a:extLst xmlns:a="http://schemas.openxmlformats.org/drawingml/2006/main">
              <a:ext uri="{FF2B5EF4-FFF2-40B4-BE49-F238E27FC236}">
                <a16:creationId xmlns:a16="http://schemas.microsoft.com/office/drawing/2014/main" id="{A8F7E35A-B47E-4D09-A291-02A64EA7B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10382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10" name="text-92-563">
            <a:extLst xmlns:a="http://schemas.openxmlformats.org/drawingml/2006/main">
              <a:ext uri="{FF2B5EF4-FFF2-40B4-BE49-F238E27FC236}">
                <a16:creationId xmlns:a16="http://schemas.microsoft.com/office/drawing/2014/main" id="{0CC764B4-1690-40EE-8236-7669EC788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62575"/>
            <a:ext cx="996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Target: 200–300 words overall. Keep the introduction concise so the body can carry the evidence.</a:t>
            </a:r>
          </a:p>
        </p:txBody>
      </p:sp>
    </p:spTree>
    <p:extLst>
      <p:ext uri="{BB962C8B-B14F-4D97-AF65-F5344CB8AC3E}">
        <p14:creationId xmlns:p14="http://schemas.microsoft.com/office/powerpoint/2010/main" val="80346829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-4">
            <a:extLst xmlns:a="http://schemas.openxmlformats.org/drawingml/2006/main">
              <a:ext uri="{FF2B5EF4-FFF2-40B4-BE49-F238E27FC236}">
                <a16:creationId xmlns:a16="http://schemas.microsoft.com/office/drawing/2014/main" id="{03DEC46D-88AA-45A3-B3CA-63B71C133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CORE METHOD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59A07C96-1C2D-42AC-9068-BD8B7D61B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</a:defRPr>
            </a:pPr>
            <a:r>
              <a:rPr sz="2925" b="1">
                <a:solidFill>
                  <a:srgbClr val="111111"/>
                </a:solidFill>
              </a:rPr>
              <a:t>Every strong introduction performs three jobs</a:t>
            </a:r>
          </a:p>
        </p:txBody>
      </p:sp>
      <p:sp>
        <p:nvSpPr>
          <p:cNvPr id="3" name="rule-4">
            <a:extLst xmlns:a="http://schemas.openxmlformats.org/drawingml/2006/main">
              <a:ext uri="{FF2B5EF4-FFF2-40B4-BE49-F238E27FC236}">
                <a16:creationId xmlns:a16="http://schemas.microsoft.com/office/drawing/2014/main" id="{079A17E3-84FA-4042-891B-975D21DF8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page-4">
            <a:extLst xmlns:a="http://schemas.openxmlformats.org/drawingml/2006/main">
              <a:ext uri="{FF2B5EF4-FFF2-40B4-BE49-F238E27FC236}">
                <a16:creationId xmlns:a16="http://schemas.microsoft.com/office/drawing/2014/main" id="{9B6AB7D1-68FB-447C-B810-06F3B102B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9127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673"/>
                </a:solidFill>
              </a:defRPr>
            </a:pPr>
            <a:r>
              <a:rPr sz="1050" b="0">
                <a:solidFill>
                  <a:srgbClr val="5E6673"/>
                </a:solidFill>
              </a:rPr>
              <a:t>04</a:t>
            </a:r>
          </a:p>
        </p:txBody>
      </p:sp>
      <p:sp>
        <p:nvSpPr>
          <p:cNvPr id="5" name="text-70-204">
            <a:extLst xmlns:a="http://schemas.openxmlformats.org/drawingml/2006/main">
              <a:ext uri="{FF2B5EF4-FFF2-40B4-BE49-F238E27FC236}">
                <a16:creationId xmlns:a16="http://schemas.microsoft.com/office/drawing/2014/main" id="{B0F266A8-8154-4953-9D82-B8F30749C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43100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8DFF"/>
                </a:solidFill>
              </a:defRPr>
            </a:pPr>
            <a:r>
              <a:rPr sz="3000" b="1">
                <a:solidFill>
                  <a:srgbClr val="3D8DFF"/>
                </a:solidFill>
              </a:rPr>
              <a:t>1</a:t>
            </a:r>
          </a:p>
        </p:txBody>
      </p:sp>
      <p:sp>
        <p:nvSpPr>
          <p:cNvPr id="6" name="text-70-286">
            <a:extLst xmlns:a="http://schemas.openxmlformats.org/drawingml/2006/main">
              <a:ext uri="{FF2B5EF4-FFF2-40B4-BE49-F238E27FC236}">
                <a16:creationId xmlns:a16="http://schemas.microsoft.com/office/drawing/2014/main" id="{4EB4626F-F3E6-443B-8DE2-340917EAF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241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NAME</a:t>
            </a:r>
          </a:p>
        </p:txBody>
      </p:sp>
      <p:sp>
        <p:nvSpPr>
          <p:cNvPr id="7" name="text-70-334">
            <a:extLst xmlns:a="http://schemas.openxmlformats.org/drawingml/2006/main">
              <a:ext uri="{FF2B5EF4-FFF2-40B4-BE49-F238E27FC236}">
                <a16:creationId xmlns:a16="http://schemas.microsoft.com/office/drawing/2014/main" id="{519B30B1-95FA-4809-80DE-1B138609A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81350"/>
            <a:ext cx="304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Introduce or paraphrase the topic.</a:t>
            </a:r>
          </a:p>
        </p:txBody>
      </p:sp>
      <p:sp>
        <p:nvSpPr>
          <p:cNvPr id="8" name="text-448-204">
            <a:extLst xmlns:a="http://schemas.openxmlformats.org/drawingml/2006/main">
              <a:ext uri="{FF2B5EF4-FFF2-40B4-BE49-F238E27FC236}">
                <a16:creationId xmlns:a16="http://schemas.microsoft.com/office/drawing/2014/main" id="{0745DAEC-84B7-4E28-BD7F-6C3C5327F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943100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8DFF"/>
                </a:solidFill>
              </a:defRPr>
            </a:pPr>
            <a:r>
              <a:rPr sz="3000" b="1">
                <a:solidFill>
                  <a:srgbClr val="3D8DFF"/>
                </a:solidFill>
              </a:rPr>
              <a:t>2</a:t>
            </a:r>
          </a:p>
        </p:txBody>
      </p:sp>
      <p:sp>
        <p:nvSpPr>
          <p:cNvPr id="9" name="text-448-286">
            <a:extLst xmlns:a="http://schemas.openxmlformats.org/drawingml/2006/main">
              <a:ext uri="{FF2B5EF4-FFF2-40B4-BE49-F238E27FC236}">
                <a16:creationId xmlns:a16="http://schemas.microsoft.com/office/drawing/2014/main" id="{E5EF85FA-7520-4CB2-8F7B-C9EC6F817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7241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FRAME</a:t>
            </a:r>
          </a:p>
        </p:txBody>
      </p:sp>
      <p:sp>
        <p:nvSpPr>
          <p:cNvPr id="10" name="text-448-334">
            <a:extLst xmlns:a="http://schemas.openxmlformats.org/drawingml/2006/main">
              <a:ext uri="{FF2B5EF4-FFF2-40B4-BE49-F238E27FC236}">
                <a16:creationId xmlns:a16="http://schemas.microsoft.com/office/drawing/2014/main" id="{B0EB346A-D172-40F6-B60F-A20F1802F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181350"/>
            <a:ext cx="304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Show why the topic is debated or important.</a:t>
            </a:r>
          </a:p>
        </p:txBody>
      </p:sp>
      <p:sp>
        <p:nvSpPr>
          <p:cNvPr id="11" name="text-826-204">
            <a:extLst xmlns:a="http://schemas.openxmlformats.org/drawingml/2006/main">
              <a:ext uri="{FF2B5EF4-FFF2-40B4-BE49-F238E27FC236}">
                <a16:creationId xmlns:a16="http://schemas.microsoft.com/office/drawing/2014/main" id="{327264A7-0701-4CAB-BE8A-CCEB35CF4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943100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8DFF"/>
                </a:solidFill>
              </a:defRPr>
            </a:pPr>
            <a:r>
              <a:rPr sz="3000" b="1">
                <a:solidFill>
                  <a:srgbClr val="3D8DFF"/>
                </a:solidFill>
              </a:rPr>
              <a:t>3</a:t>
            </a:r>
          </a:p>
        </p:txBody>
      </p:sp>
      <p:sp>
        <p:nvSpPr>
          <p:cNvPr id="12" name="text-826-286">
            <a:extLst xmlns:a="http://schemas.openxmlformats.org/drawingml/2006/main">
              <a:ext uri="{FF2B5EF4-FFF2-40B4-BE49-F238E27FC236}">
                <a16:creationId xmlns:a16="http://schemas.microsoft.com/office/drawing/2014/main" id="{31C63E0F-B499-40A6-B85F-CDB5EF00F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7241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POSITION</a:t>
            </a:r>
          </a:p>
        </p:txBody>
      </p:sp>
      <p:sp>
        <p:nvSpPr>
          <p:cNvPr id="13" name="text-826-334">
            <a:extLst xmlns:a="http://schemas.openxmlformats.org/drawingml/2006/main">
              <a:ext uri="{FF2B5EF4-FFF2-40B4-BE49-F238E27FC236}">
                <a16:creationId xmlns:a16="http://schemas.microsoft.com/office/drawing/2014/main" id="{0046C21A-16F8-4379-9C93-00A78046B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181350"/>
            <a:ext cx="304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Give the stance and preview two body ideas.</a:t>
            </a:r>
          </a:p>
        </p:txBody>
      </p:sp>
      <p:sp>
        <p:nvSpPr>
          <p:cNvPr id="14" name="rect-70-490">
            <a:extLst xmlns:a="http://schemas.openxmlformats.org/drawingml/2006/main">
              <a:ext uri="{FF2B5EF4-FFF2-40B4-BE49-F238E27FC236}">
                <a16:creationId xmlns:a16="http://schemas.microsoft.com/office/drawing/2014/main" id="{756B93C1-94A8-475D-BD19-8C3D08EC1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0"/>
            <a:ext cx="10382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9"/>
          </a:solidFill>
          <a:ln xmlns:a="http://schemas.openxmlformats.org/drawingml/2006/main" w="0">
            <a:solidFill>
              <a:srgbClr val="F5F7F9"/>
            </a:solidFill>
            <a:prstDash val="solid"/>
          </a:ln>
        </p:spPr>
      </p:sp>
      <p:sp>
        <p:nvSpPr>
          <p:cNvPr id="15" name="text-94-514">
            <a:extLst xmlns:a="http://schemas.openxmlformats.org/drawingml/2006/main">
              <a:ext uri="{FF2B5EF4-FFF2-40B4-BE49-F238E27FC236}">
                <a16:creationId xmlns:a16="http://schemas.microsoft.com/office/drawing/2014/main" id="{7D67CA63-B177-4BD8-80C9-44034120C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9585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Sentence 1</a:t>
            </a:r>
          </a:p>
        </p:txBody>
      </p:sp>
      <p:sp>
        <p:nvSpPr>
          <p:cNvPr id="16" name="text-234-508">
            <a:extLst xmlns:a="http://schemas.openxmlformats.org/drawingml/2006/main">
              <a:ext uri="{FF2B5EF4-FFF2-40B4-BE49-F238E27FC236}">
                <a16:creationId xmlns:a16="http://schemas.microsoft.com/office/drawing/2014/main" id="{AEEB6645-798B-4E40-9CBF-56EED6DC2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83870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Topic + academic framing</a:t>
            </a:r>
          </a:p>
        </p:txBody>
      </p:sp>
      <p:sp>
        <p:nvSpPr>
          <p:cNvPr id="17" name="text-626-514">
            <a:extLst xmlns:a="http://schemas.openxmlformats.org/drawingml/2006/main">
              <a:ext uri="{FF2B5EF4-FFF2-40B4-BE49-F238E27FC236}">
                <a16:creationId xmlns:a16="http://schemas.microsoft.com/office/drawing/2014/main" id="{7EB788AE-73E1-41DE-A30E-F45EBAC23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89585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Sentence 2</a:t>
            </a:r>
          </a:p>
        </p:txBody>
      </p:sp>
      <p:sp>
        <p:nvSpPr>
          <p:cNvPr id="18" name="text-766-508">
            <a:extLst xmlns:a="http://schemas.openxmlformats.org/drawingml/2006/main">
              <a:ext uri="{FF2B5EF4-FFF2-40B4-BE49-F238E27FC236}">
                <a16:creationId xmlns:a16="http://schemas.microsoft.com/office/drawing/2014/main" id="{61696218-DC4F-48E6-979A-AD0A5F2C3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838700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Position + two reasons</a:t>
            </a:r>
          </a:p>
        </p:txBody>
      </p:sp>
    </p:spTree>
    <p:extLst>
      <p:ext uri="{BB962C8B-B14F-4D97-AF65-F5344CB8AC3E}">
        <p14:creationId xmlns:p14="http://schemas.microsoft.com/office/powerpoint/2010/main" val="167243582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eyebrow-5">
            <a:extLst xmlns:a="http://schemas.openxmlformats.org/drawingml/2006/main">
              <a:ext uri="{FF2B5EF4-FFF2-40B4-BE49-F238E27FC236}">
                <a16:creationId xmlns:a16="http://schemas.microsoft.com/office/drawing/2014/main" id="{011AB229-2E7C-402F-904D-DE071977F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COMMON ERROR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F15A8353-4220-4A94-9071-BCC61EDC0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</a:defRPr>
            </a:pPr>
            <a:r>
              <a:rPr sz="2925" b="1">
                <a:solidFill>
                  <a:srgbClr val="111111"/>
                </a:solidFill>
              </a:rPr>
              <a:t>Do not begin with “this issue”</a:t>
            </a:r>
          </a:p>
        </p:txBody>
      </p:sp>
      <p:sp>
        <p:nvSpPr>
          <p:cNvPr id="3" name="rule-5">
            <a:extLst xmlns:a="http://schemas.openxmlformats.org/drawingml/2006/main">
              <a:ext uri="{FF2B5EF4-FFF2-40B4-BE49-F238E27FC236}">
                <a16:creationId xmlns:a16="http://schemas.microsoft.com/office/drawing/2014/main" id="{4712F280-E24F-4660-9517-C5C2554FC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page-5">
            <a:extLst xmlns:a="http://schemas.openxmlformats.org/drawingml/2006/main">
              <a:ext uri="{FF2B5EF4-FFF2-40B4-BE49-F238E27FC236}">
                <a16:creationId xmlns:a16="http://schemas.microsoft.com/office/drawing/2014/main" id="{F555D24D-631D-4C7A-90DA-8B55E4E0C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9127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673"/>
                </a:solidFill>
              </a:defRPr>
            </a:pPr>
            <a:r>
              <a:rPr sz="1050" b="0">
                <a:solidFill>
                  <a:srgbClr val="5E6673"/>
                </a:solidFill>
              </a:rPr>
              <a:t>05</a:t>
            </a:r>
          </a:p>
        </p:txBody>
      </p:sp>
      <p:sp>
        <p:nvSpPr>
          <p:cNvPr id="5" name="text-70-195">
            <a:extLst xmlns:a="http://schemas.openxmlformats.org/drawingml/2006/main">
              <a:ext uri="{FF2B5EF4-FFF2-40B4-BE49-F238E27FC236}">
                <a16:creationId xmlns:a16="http://schemas.microsoft.com/office/drawing/2014/main" id="{25EB2B87-24C3-44E7-A035-79741EDF1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5737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93939"/>
                </a:solidFill>
              </a:defRPr>
            </a:pPr>
            <a:r>
              <a:rPr sz="1275" b="1">
                <a:solidFill>
                  <a:srgbClr val="C93939"/>
                </a:solidFill>
              </a:rPr>
              <a:t>WEAK</a:t>
            </a:r>
          </a:p>
        </p:txBody>
      </p:sp>
      <p:sp>
        <p:nvSpPr>
          <p:cNvPr id="6" name="text-70-236">
            <a:extLst xmlns:a="http://schemas.openxmlformats.org/drawingml/2006/main">
              <a:ext uri="{FF2B5EF4-FFF2-40B4-BE49-F238E27FC236}">
                <a16:creationId xmlns:a16="http://schemas.microsoft.com/office/drawing/2014/main" id="{DC0BBCB3-EEC5-4B79-A5E5-FB8A38EB7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47900"/>
            <a:ext cx="4762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This issue has attracted considerable debate.</a:t>
            </a:r>
          </a:p>
        </p:txBody>
      </p:sp>
      <p:sp>
        <p:nvSpPr>
          <p:cNvPr id="7" name="text-70-350">
            <a:extLst xmlns:a="http://schemas.openxmlformats.org/drawingml/2006/main">
              <a:ext uri="{FF2B5EF4-FFF2-40B4-BE49-F238E27FC236}">
                <a16:creationId xmlns:a16="http://schemas.microsoft.com/office/drawing/2014/main" id="{C95E704D-64FC-4642-B1A2-C6A78EA30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0"/>
            <a:ext cx="4762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6673"/>
                </a:solidFill>
              </a:defRPr>
            </a:pPr>
            <a:r>
              <a:rPr sz="1575" b="0">
                <a:solidFill>
                  <a:srgbClr val="5E6673"/>
                </a:solidFill>
              </a:rPr>
              <a:t>Problem: “this issue” has no antecedent. The reader has not yet been told what the issue is.</a:t>
            </a:r>
          </a:p>
        </p:txBody>
      </p:sp>
      <p:sp>
        <p:nvSpPr>
          <p:cNvPr id="8" name="text-660-195">
            <a:extLst xmlns:a="http://schemas.openxmlformats.org/drawingml/2006/main">
              <a:ext uri="{FF2B5EF4-FFF2-40B4-BE49-F238E27FC236}">
                <a16:creationId xmlns:a16="http://schemas.microsoft.com/office/drawing/2014/main" id="{FBAF279A-D24A-48CD-B355-C28D990EA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573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7A55"/>
                </a:solidFill>
              </a:defRPr>
            </a:pPr>
            <a:r>
              <a:rPr sz="1275" b="1">
                <a:solidFill>
                  <a:srgbClr val="157A55"/>
                </a:solidFill>
              </a:rPr>
              <a:t>STRONG</a:t>
            </a:r>
          </a:p>
        </p:txBody>
      </p:sp>
      <p:sp>
        <p:nvSpPr>
          <p:cNvPr id="9" name="text-660-236">
            <a:extLst xmlns:a="http://schemas.openxmlformats.org/drawingml/2006/main">
              <a:ext uri="{FF2B5EF4-FFF2-40B4-BE49-F238E27FC236}">
                <a16:creationId xmlns:a16="http://schemas.microsoft.com/office/drawing/2014/main" id="{49FE63B4-056A-4328-8A5F-BE60C655D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47900"/>
            <a:ext cx="4762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Government funding for public transport has attracted considerable debate.</a:t>
            </a:r>
          </a:p>
        </p:txBody>
      </p:sp>
      <p:sp>
        <p:nvSpPr>
          <p:cNvPr id="10" name="text-660-374">
            <a:extLst xmlns:a="http://schemas.openxmlformats.org/drawingml/2006/main">
              <a:ext uri="{FF2B5EF4-FFF2-40B4-BE49-F238E27FC236}">
                <a16:creationId xmlns:a16="http://schemas.microsoft.com/office/drawing/2014/main" id="{B4A31EAA-6EF6-49B6-9331-DA9D9A899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62350"/>
            <a:ext cx="476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6673"/>
                </a:solidFill>
              </a:defRPr>
            </a:pPr>
            <a:r>
              <a:rPr sz="1575" b="0">
                <a:solidFill>
                  <a:srgbClr val="5E6673"/>
                </a:solidFill>
              </a:rPr>
              <a:t>Rule: introduce the noun first; reference it as “this issue” only in a later sentence.</a:t>
            </a:r>
          </a:p>
        </p:txBody>
      </p:sp>
      <p:sp>
        <p:nvSpPr>
          <p:cNvPr id="11" name="rect-70-536">
            <a:extLst xmlns:a="http://schemas.openxmlformats.org/drawingml/2006/main">
              <a:ext uri="{FF2B5EF4-FFF2-40B4-BE49-F238E27FC236}">
                <a16:creationId xmlns:a16="http://schemas.microsoft.com/office/drawing/2014/main" id="{9E325CF7-9471-4BB2-951C-DF73321DC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05400"/>
            <a:ext cx="10382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12" name="text-92-550">
            <a:extLst xmlns:a="http://schemas.openxmlformats.org/drawingml/2006/main">
              <a:ext uri="{FF2B5EF4-FFF2-40B4-BE49-F238E27FC236}">
                <a16:creationId xmlns:a16="http://schemas.microsoft.com/office/drawing/2014/main" id="{D7A688D2-5726-43C7-A523-A61AA084F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38750"/>
            <a:ext cx="996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Topic first → reference word later</a:t>
            </a:r>
          </a:p>
        </p:txBody>
      </p:sp>
    </p:spTree>
    <p:extLst>
      <p:ext uri="{BB962C8B-B14F-4D97-AF65-F5344CB8AC3E}">
        <p14:creationId xmlns:p14="http://schemas.microsoft.com/office/powerpoint/2010/main" val="8357390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-6">
            <a:extLst xmlns:a="http://schemas.openxmlformats.org/drawingml/2006/main">
              <a:ext uri="{FF2B5EF4-FFF2-40B4-BE49-F238E27FC236}">
                <a16:creationId xmlns:a16="http://schemas.microsoft.com/office/drawing/2014/main" id="{F7B678C4-9E64-4858-9CB6-0E6713649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PARAPHRASING SKILL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1FF42192-247C-412E-9279-1EC2847C9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</a:defRPr>
            </a:pPr>
            <a:r>
              <a:rPr sz="2925" b="1">
                <a:solidFill>
                  <a:srgbClr val="111111"/>
                </a:solidFill>
              </a:rPr>
              <a:t>Build the topic phrase before writing the opening</a:t>
            </a:r>
          </a:p>
        </p:txBody>
      </p:sp>
      <p:sp>
        <p:nvSpPr>
          <p:cNvPr id="3" name="rule-6">
            <a:extLst xmlns:a="http://schemas.openxmlformats.org/drawingml/2006/main">
              <a:ext uri="{FF2B5EF4-FFF2-40B4-BE49-F238E27FC236}">
                <a16:creationId xmlns:a16="http://schemas.microsoft.com/office/drawing/2014/main" id="{665FB55C-9529-48AA-AE1B-6DB43A112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page-6">
            <a:extLst xmlns:a="http://schemas.openxmlformats.org/drawingml/2006/main">
              <a:ext uri="{FF2B5EF4-FFF2-40B4-BE49-F238E27FC236}">
                <a16:creationId xmlns:a16="http://schemas.microsoft.com/office/drawing/2014/main" id="{54DC7803-9578-47AB-B089-86C216A2A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9127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673"/>
                </a:solidFill>
              </a:defRPr>
            </a:pPr>
            <a:r>
              <a:rPr sz="1050" b="0">
                <a:solidFill>
                  <a:srgbClr val="5E6673"/>
                </a:solidFill>
              </a:rPr>
              <a:t>06</a:t>
            </a:r>
          </a:p>
        </p:txBody>
      </p:sp>
      <p:sp>
        <p:nvSpPr>
          <p:cNvPr id="5" name="text-70-194">
            <a:extLst xmlns:a="http://schemas.openxmlformats.org/drawingml/2006/main">
              <a:ext uri="{FF2B5EF4-FFF2-40B4-BE49-F238E27FC236}">
                <a16:creationId xmlns:a16="http://schemas.microsoft.com/office/drawing/2014/main" id="{3E319617-930A-44E3-8B2F-24E0FA632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478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PROMPT</a:t>
            </a:r>
          </a:p>
        </p:txBody>
      </p:sp>
      <p:sp>
        <p:nvSpPr>
          <p:cNvPr id="6" name="text-70-232">
            <a:extLst xmlns:a="http://schemas.openxmlformats.org/drawingml/2006/main">
              <a:ext uri="{FF2B5EF4-FFF2-40B4-BE49-F238E27FC236}">
                <a16:creationId xmlns:a16="http://schemas.microsoft.com/office/drawing/2014/main" id="{0333232F-A7D9-47B2-AE2A-F95AA5CD3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09800"/>
            <a:ext cx="1038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111"/>
                </a:solidFill>
              </a:defRPr>
            </a:pPr>
            <a:r>
              <a:rPr sz="2175" b="1">
                <a:solidFill>
                  <a:srgbClr val="111111"/>
                </a:solidFill>
              </a:rPr>
              <a:t>Some people believe universities should focus mainly on practical skills.</a:t>
            </a:r>
          </a:p>
        </p:txBody>
      </p:sp>
      <p:sp>
        <p:nvSpPr>
          <p:cNvPr id="7" name="rect-70-334">
            <a:extLst xmlns:a="http://schemas.openxmlformats.org/drawingml/2006/main">
              <a:ext uri="{FF2B5EF4-FFF2-40B4-BE49-F238E27FC236}">
                <a16:creationId xmlns:a16="http://schemas.microsoft.com/office/drawing/2014/main" id="{3A854514-49DB-40D6-B115-E1E54C8E1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813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8" name="text-70-378">
            <a:extLst xmlns:a="http://schemas.openxmlformats.org/drawingml/2006/main">
              <a:ext uri="{FF2B5EF4-FFF2-40B4-BE49-F238E27FC236}">
                <a16:creationId xmlns:a16="http://schemas.microsoft.com/office/drawing/2014/main" id="{80C760FF-6406-4411-8D82-8201CC1FC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004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ACTOR</a:t>
            </a:r>
          </a:p>
        </p:txBody>
      </p:sp>
      <p:sp>
        <p:nvSpPr>
          <p:cNvPr id="9" name="text-70-418">
            <a:extLst xmlns:a="http://schemas.openxmlformats.org/drawingml/2006/main">
              <a:ext uri="{FF2B5EF4-FFF2-40B4-BE49-F238E27FC236}">
                <a16:creationId xmlns:a16="http://schemas.microsoft.com/office/drawing/2014/main" id="{3D60D1A0-33F7-4271-A769-D62A9634D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81450"/>
            <a:ext cx="304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universities</a:t>
            </a:r>
          </a:p>
        </p:txBody>
      </p:sp>
      <p:sp>
        <p:nvSpPr>
          <p:cNvPr id="10" name="text-435-378">
            <a:extLst xmlns:a="http://schemas.openxmlformats.org/drawingml/2006/main">
              <a:ext uri="{FF2B5EF4-FFF2-40B4-BE49-F238E27FC236}">
                <a16:creationId xmlns:a16="http://schemas.microsoft.com/office/drawing/2014/main" id="{BA6F046E-C29E-4B6B-AD41-1AA2B7929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6004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ACTION</a:t>
            </a:r>
          </a:p>
        </p:txBody>
      </p:sp>
      <p:sp>
        <p:nvSpPr>
          <p:cNvPr id="11" name="text-435-418">
            <a:extLst xmlns:a="http://schemas.openxmlformats.org/drawingml/2006/main">
              <a:ext uri="{FF2B5EF4-FFF2-40B4-BE49-F238E27FC236}">
                <a16:creationId xmlns:a16="http://schemas.microsoft.com/office/drawing/2014/main" id="{6F264375-C5C6-483C-BBC9-5DF61FBCC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981450"/>
            <a:ext cx="304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focus on practical skills</a:t>
            </a:r>
          </a:p>
        </p:txBody>
      </p:sp>
      <p:sp>
        <p:nvSpPr>
          <p:cNvPr id="12" name="text-800-378">
            <a:extLst xmlns:a="http://schemas.openxmlformats.org/drawingml/2006/main">
              <a:ext uri="{FF2B5EF4-FFF2-40B4-BE49-F238E27FC236}">
                <a16:creationId xmlns:a16="http://schemas.microsoft.com/office/drawing/2014/main" id="{FAF6710A-6EC4-452D-897D-14E2F0741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004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TOPIC PHRASE</a:t>
            </a:r>
          </a:p>
        </p:txBody>
      </p:sp>
      <p:sp>
        <p:nvSpPr>
          <p:cNvPr id="13" name="text-800-418">
            <a:extLst xmlns:a="http://schemas.openxmlformats.org/drawingml/2006/main">
              <a:ext uri="{FF2B5EF4-FFF2-40B4-BE49-F238E27FC236}">
                <a16:creationId xmlns:a16="http://schemas.microsoft.com/office/drawing/2014/main" id="{574F5F85-2A00-4181-8770-A591E9764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981450"/>
            <a:ext cx="304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the role of practical training in university education</a:t>
            </a:r>
          </a:p>
        </p:txBody>
      </p:sp>
      <p:sp>
        <p:nvSpPr>
          <p:cNvPr id="14" name="rect-70-548">
            <a:extLst xmlns:a="http://schemas.openxmlformats.org/drawingml/2006/main">
              <a:ext uri="{FF2B5EF4-FFF2-40B4-BE49-F238E27FC236}">
                <a16:creationId xmlns:a16="http://schemas.microsoft.com/office/drawing/2014/main" id="{633E9055-3B68-44F1-99F4-68AC12C31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10382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9"/>
          </a:solidFill>
          <a:ln xmlns:a="http://schemas.openxmlformats.org/drawingml/2006/main" w="0">
            <a:solidFill>
              <a:srgbClr val="F5F7F9"/>
            </a:solidFill>
            <a:prstDash val="solid"/>
          </a:ln>
        </p:spPr>
      </p:sp>
      <p:sp>
        <p:nvSpPr>
          <p:cNvPr id="15" name="text-92-559">
            <a:extLst xmlns:a="http://schemas.openxmlformats.org/drawingml/2006/main">
              <a:ext uri="{FF2B5EF4-FFF2-40B4-BE49-F238E27FC236}">
                <a16:creationId xmlns:a16="http://schemas.microsoft.com/office/drawing/2014/main" id="{FF8BBCBF-16E9-40B9-B3FE-8B8FBCA39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24475"/>
            <a:ext cx="996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Opening: The role of practical training in university education has generated considerable debate regarding its long-term value.</a:t>
            </a:r>
          </a:p>
        </p:txBody>
      </p:sp>
    </p:spTree>
    <p:extLst>
      <p:ext uri="{BB962C8B-B14F-4D97-AF65-F5344CB8AC3E}">
        <p14:creationId xmlns:p14="http://schemas.microsoft.com/office/powerpoint/2010/main" val="159258200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eyebrow-7">
            <a:extLst xmlns:a="http://schemas.openxmlformats.org/drawingml/2006/main">
              <a:ext uri="{FF2B5EF4-FFF2-40B4-BE49-F238E27FC236}">
                <a16:creationId xmlns:a16="http://schemas.microsoft.com/office/drawing/2014/main" id="{CCFC3A6B-F90A-4C02-B767-4CF2DB73B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REUSABLE OPENING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35FFE999-038B-4D5E-A32A-CBC576F93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</a:defRPr>
            </a:pPr>
            <a:r>
              <a:rPr sz="2925" b="1">
                <a:solidFill>
                  <a:srgbClr val="111111"/>
                </a:solidFill>
              </a:rPr>
              <a:t>Opening 1 — Broad impact</a:t>
            </a:r>
          </a:p>
        </p:txBody>
      </p:sp>
      <p:sp>
        <p:nvSpPr>
          <p:cNvPr id="3" name="rule-7">
            <a:extLst xmlns:a="http://schemas.openxmlformats.org/drawingml/2006/main">
              <a:ext uri="{FF2B5EF4-FFF2-40B4-BE49-F238E27FC236}">
                <a16:creationId xmlns:a16="http://schemas.microsoft.com/office/drawing/2014/main" id="{3EBAB15E-3385-4691-BD2E-63648813E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page-7">
            <a:extLst xmlns:a="http://schemas.openxmlformats.org/drawingml/2006/main">
              <a:ext uri="{FF2B5EF4-FFF2-40B4-BE49-F238E27FC236}">
                <a16:creationId xmlns:a16="http://schemas.microsoft.com/office/drawing/2014/main" id="{29D0B8B9-083C-4632-9DAD-3721DDC92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9127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673"/>
                </a:solidFill>
              </a:defRPr>
            </a:pPr>
            <a:r>
              <a:rPr sz="1050" b="0">
                <a:solidFill>
                  <a:srgbClr val="5E6673"/>
                </a:solidFill>
              </a:rPr>
              <a:t>07</a:t>
            </a:r>
          </a:p>
        </p:txBody>
      </p:sp>
      <p:sp>
        <p:nvSpPr>
          <p:cNvPr id="5" name="number-box-1">
            <a:extLst xmlns:a="http://schemas.openxmlformats.org/drawingml/2006/main">
              <a:ext uri="{FF2B5EF4-FFF2-40B4-BE49-F238E27FC236}">
                <a16:creationId xmlns:a16="http://schemas.microsoft.com/office/drawing/2014/main" id="{72293910-B54D-412C-AA29-10CEACE77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47850"/>
            <a:ext cx="781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6" name="number-1">
            <a:extLst xmlns:a="http://schemas.openxmlformats.org/drawingml/2006/main">
              <a:ext uri="{FF2B5EF4-FFF2-40B4-BE49-F238E27FC236}">
                <a16:creationId xmlns:a16="http://schemas.microsoft.com/office/drawing/2014/main" id="{2D896A01-F9F6-42D7-904D-B9D75AF3E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24050"/>
            <a:ext cx="781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7" name="opening-1">
            <a:extLst xmlns:a="http://schemas.openxmlformats.org/drawingml/2006/main">
              <a:ext uri="{FF2B5EF4-FFF2-40B4-BE49-F238E27FC236}">
                <a16:creationId xmlns:a16="http://schemas.microsoft.com/office/drawing/2014/main" id="{DCEC8505-A02B-4BD3-8AE7-11F4FB965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809750"/>
            <a:ext cx="96202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11111"/>
                </a:solidFill>
              </a:defRPr>
            </a:pPr>
            <a:r>
              <a:rPr sz="2475" b="1">
                <a:solidFill>
                  <a:srgbClr val="111111"/>
                </a:solidFill>
              </a:rPr>
              <a:t>[TOPIC] has become a significant subject of public and academic debate because of its far-reaching consequences for individuals, institutions and society.</a:t>
            </a:r>
          </a:p>
        </p:txBody>
      </p:sp>
      <p:sp>
        <p:nvSpPr>
          <p:cNvPr id="8" name="rect-68-410">
            <a:extLst xmlns:a="http://schemas.openxmlformats.org/drawingml/2006/main">
              <a:ext uri="{FF2B5EF4-FFF2-40B4-BE49-F238E27FC236}">
                <a16:creationId xmlns:a16="http://schemas.microsoft.com/office/drawing/2014/main" id="{8D3AAC63-AECA-4AEA-910C-BA4F2F4C5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05250"/>
            <a:ext cx="10725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9" name="text-68-444">
            <a:extLst xmlns:a="http://schemas.openxmlformats.org/drawingml/2006/main">
              <a:ext uri="{FF2B5EF4-FFF2-40B4-BE49-F238E27FC236}">
                <a16:creationId xmlns:a16="http://schemas.microsoft.com/office/drawing/2014/main" id="{9D4D9FA3-8978-44CE-8429-907FCE474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291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BEST FOR</a:t>
            </a:r>
          </a:p>
        </p:txBody>
      </p:sp>
      <p:sp>
        <p:nvSpPr>
          <p:cNvPr id="10" name="text-68-476">
            <a:extLst xmlns:a="http://schemas.openxmlformats.org/drawingml/2006/main">
              <a:ext uri="{FF2B5EF4-FFF2-40B4-BE49-F238E27FC236}">
                <a16:creationId xmlns:a16="http://schemas.microsoft.com/office/drawing/2014/main" id="{247A73DF-4480-4C6E-B3D0-7486E9817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33900"/>
            <a:ext cx="342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The safest option for almost any academic topic</a:t>
            </a:r>
          </a:p>
        </p:txBody>
      </p:sp>
      <p:sp>
        <p:nvSpPr>
          <p:cNvPr id="11" name="text-506-444">
            <a:extLst xmlns:a="http://schemas.openxmlformats.org/drawingml/2006/main">
              <a:ext uri="{FF2B5EF4-FFF2-40B4-BE49-F238E27FC236}">
                <a16:creationId xmlns:a16="http://schemas.microsoft.com/office/drawing/2014/main" id="{1A88AEBE-1DFC-4E7F-A796-78253529C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2291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MODEL USE</a:t>
            </a:r>
          </a:p>
        </p:txBody>
      </p:sp>
      <p:sp>
        <p:nvSpPr>
          <p:cNvPr id="12" name="text-506-476">
            <a:extLst xmlns:a="http://schemas.openxmlformats.org/drawingml/2006/main">
              <a:ext uri="{FF2B5EF4-FFF2-40B4-BE49-F238E27FC236}">
                <a16:creationId xmlns:a16="http://schemas.microsoft.com/office/drawing/2014/main" id="{2BF1EFB0-BF30-45F5-91D6-60A7A6F56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533900"/>
            <a:ext cx="65532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Artificial intelligence in education has become a significant subject of public and academic debate because of its far-reaching consequences for learners, teachers and institutions.</a:t>
            </a:r>
          </a:p>
        </p:txBody>
      </p:sp>
    </p:spTree>
    <p:extLst>
      <p:ext uri="{BB962C8B-B14F-4D97-AF65-F5344CB8AC3E}">
        <p14:creationId xmlns:p14="http://schemas.microsoft.com/office/powerpoint/2010/main" val="178355926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eyebrow-8">
            <a:extLst xmlns:a="http://schemas.openxmlformats.org/drawingml/2006/main">
              <a:ext uri="{FF2B5EF4-FFF2-40B4-BE49-F238E27FC236}">
                <a16:creationId xmlns:a16="http://schemas.microsoft.com/office/drawing/2014/main" id="{02574B5F-E566-476F-BF8B-D84DBCFF6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REUSABLE OPENING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59F83044-504F-4533-A534-2994640DA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</a:defRPr>
            </a:pPr>
            <a:r>
              <a:rPr sz="2925" b="1">
                <a:solidFill>
                  <a:srgbClr val="111111"/>
                </a:solidFill>
              </a:rPr>
              <a:t>Opening 2 — Growth and change</a:t>
            </a:r>
          </a:p>
        </p:txBody>
      </p:sp>
      <p:sp>
        <p:nvSpPr>
          <p:cNvPr id="3" name="rule-8">
            <a:extLst xmlns:a="http://schemas.openxmlformats.org/drawingml/2006/main">
              <a:ext uri="{FF2B5EF4-FFF2-40B4-BE49-F238E27FC236}">
                <a16:creationId xmlns:a16="http://schemas.microsoft.com/office/drawing/2014/main" id="{C8180A64-DDE5-4800-8002-5ADA16479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page-8">
            <a:extLst xmlns:a="http://schemas.openxmlformats.org/drawingml/2006/main">
              <a:ext uri="{FF2B5EF4-FFF2-40B4-BE49-F238E27FC236}">
                <a16:creationId xmlns:a16="http://schemas.microsoft.com/office/drawing/2014/main" id="{34A14273-4274-43CE-9E2F-962A29085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9127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673"/>
                </a:solidFill>
              </a:defRPr>
            </a:pPr>
            <a:r>
              <a:rPr sz="1050" b="0">
                <a:solidFill>
                  <a:srgbClr val="5E6673"/>
                </a:solidFill>
              </a:rPr>
              <a:t>08</a:t>
            </a:r>
          </a:p>
        </p:txBody>
      </p:sp>
      <p:sp>
        <p:nvSpPr>
          <p:cNvPr id="5" name="left-panel-2">
            <a:extLst xmlns:a="http://schemas.openxmlformats.org/drawingml/2006/main">
              <a:ext uri="{FF2B5EF4-FFF2-40B4-BE49-F238E27FC236}">
                <a16:creationId xmlns:a16="http://schemas.microsoft.com/office/drawing/2014/main" id="{A64FBDCA-DCE7-43ED-8F94-83FE6CC81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47625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9"/>
          </a:solidFill>
          <a:ln xmlns:a="http://schemas.openxmlformats.org/drawingml/2006/main" w="0">
            <a:solidFill>
              <a:srgbClr val="F5F7F9"/>
            </a:solidFill>
            <a:prstDash val="solid"/>
          </a:ln>
        </p:spPr>
      </p:sp>
      <p:sp>
        <p:nvSpPr>
          <p:cNvPr id="6" name="number-box-2">
            <a:extLst xmlns:a="http://schemas.openxmlformats.org/drawingml/2006/main">
              <a:ext uri="{FF2B5EF4-FFF2-40B4-BE49-F238E27FC236}">
                <a16:creationId xmlns:a16="http://schemas.microsoft.com/office/drawing/2014/main" id="{23948ACB-5D51-4F0F-9AC2-4A9A4D387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38350"/>
            <a:ext cx="781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7" name="number-2">
            <a:extLst xmlns:a="http://schemas.openxmlformats.org/drawingml/2006/main">
              <a:ext uri="{FF2B5EF4-FFF2-40B4-BE49-F238E27FC236}">
                <a16:creationId xmlns:a16="http://schemas.microsoft.com/office/drawing/2014/main" id="{27D54D6A-BFC1-4417-ACCE-4B3B0B07D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14550"/>
            <a:ext cx="781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8" name="text-84-324">
            <a:extLst xmlns:a="http://schemas.openxmlformats.org/drawingml/2006/main">
              <a:ext uri="{FF2B5EF4-FFF2-40B4-BE49-F238E27FC236}">
                <a16:creationId xmlns:a16="http://schemas.microsoft.com/office/drawing/2014/main" id="{1F7E1FE0-6B32-45D2-B534-53F733282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38862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Technology, media, globalization and social change</a:t>
            </a:r>
          </a:p>
        </p:txBody>
      </p:sp>
      <p:sp>
        <p:nvSpPr>
          <p:cNvPr id="9" name="text-84-456">
            <a:extLst xmlns:a="http://schemas.openxmlformats.org/drawingml/2006/main">
              <a:ext uri="{FF2B5EF4-FFF2-40B4-BE49-F238E27FC236}">
                <a16:creationId xmlns:a16="http://schemas.microsoft.com/office/drawing/2014/main" id="{05B1ADA2-B357-4EE9-B56B-8E680BFA4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43400"/>
            <a:ext cx="3886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673"/>
                </a:solidFill>
              </a:defRPr>
            </a:pPr>
            <a:r>
              <a:rPr sz="1500" b="0">
                <a:solidFill>
                  <a:srgbClr val="5E6673"/>
                </a:solidFill>
              </a:rPr>
              <a:t>Use a clear noun phrase for the topic; never copy the entire prompt.</a:t>
            </a:r>
          </a:p>
        </p:txBody>
      </p:sp>
      <p:sp>
        <p:nvSpPr>
          <p:cNvPr id="10" name="opening-2">
            <a:extLst xmlns:a="http://schemas.openxmlformats.org/drawingml/2006/main">
              <a:ext uri="{FF2B5EF4-FFF2-40B4-BE49-F238E27FC236}">
                <a16:creationId xmlns:a16="http://schemas.microsoft.com/office/drawing/2014/main" id="{E84BE518-4319-4492-AED4-A6CA09D45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847850"/>
            <a:ext cx="5410200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111"/>
                </a:solidFill>
              </a:defRPr>
            </a:pPr>
            <a:r>
              <a:rPr sz="2325" b="1">
                <a:solidFill>
                  <a:srgbClr val="111111"/>
                </a:solidFill>
              </a:rPr>
              <a:t>The growing influence of [TOPIC] has generated considerable debate regarding its practical benefits, potential limitations and long-term social consequences.</a:t>
            </a:r>
          </a:p>
        </p:txBody>
      </p:sp>
      <p:sp>
        <p:nvSpPr>
          <p:cNvPr id="11" name="text-612-468">
            <a:extLst xmlns:a="http://schemas.openxmlformats.org/drawingml/2006/main">
              <a:ext uri="{FF2B5EF4-FFF2-40B4-BE49-F238E27FC236}">
                <a16:creationId xmlns:a16="http://schemas.microsoft.com/office/drawing/2014/main" id="{61ED3784-ACB7-47C3-A534-DE15A3FF6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457700"/>
            <a:ext cx="5410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</a:defRPr>
            </a:pPr>
            <a:r>
              <a:rPr sz="1125" b="1">
                <a:solidFill>
                  <a:srgbClr val="3D8DFF"/>
                </a:solidFill>
              </a:rPr>
              <a:t>SOCIAL MEDIA</a:t>
            </a:r>
          </a:p>
        </p:txBody>
      </p:sp>
      <p:sp>
        <p:nvSpPr>
          <p:cNvPr id="12" name="text-612-505">
            <a:extLst xmlns:a="http://schemas.openxmlformats.org/drawingml/2006/main">
              <a:ext uri="{FF2B5EF4-FFF2-40B4-BE49-F238E27FC236}">
                <a16:creationId xmlns:a16="http://schemas.microsoft.com/office/drawing/2014/main" id="{80A8AE2B-464C-415A-BE63-A3113C4C0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810125"/>
            <a:ext cx="54102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The growing influence of social media has generated considerable debate regarding its practical benefits, potential limitations and long-term social consequences.</a:t>
            </a:r>
          </a:p>
        </p:txBody>
      </p:sp>
    </p:spTree>
    <p:extLst>
      <p:ext uri="{BB962C8B-B14F-4D97-AF65-F5344CB8AC3E}">
        <p14:creationId xmlns:p14="http://schemas.microsoft.com/office/powerpoint/2010/main" val="8728867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eyebrow-9">
            <a:extLst xmlns:a="http://schemas.openxmlformats.org/drawingml/2006/main">
              <a:ext uri="{FF2B5EF4-FFF2-40B4-BE49-F238E27FC236}">
                <a16:creationId xmlns:a16="http://schemas.microsoft.com/office/drawing/2014/main" id="{1B864F4B-0474-46CB-BA1C-7C86BC412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REUSABLE OPENING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91A1994C-C1CD-46F8-9977-6466BFE83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</a:defRPr>
            </a:pPr>
            <a:r>
              <a:rPr sz="2925" b="1">
                <a:solidFill>
                  <a:srgbClr val="111111"/>
                </a:solidFill>
              </a:rPr>
              <a:t>Opening 3 — Contested judgement</a:t>
            </a:r>
          </a:p>
        </p:txBody>
      </p:sp>
      <p:sp>
        <p:nvSpPr>
          <p:cNvPr id="3" name="rule-9">
            <a:extLst xmlns:a="http://schemas.openxmlformats.org/drawingml/2006/main">
              <a:ext uri="{FF2B5EF4-FFF2-40B4-BE49-F238E27FC236}">
                <a16:creationId xmlns:a16="http://schemas.microsoft.com/office/drawing/2014/main" id="{25EC0B69-7795-4316-84EA-C51143E9F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page-9">
            <a:extLst xmlns:a="http://schemas.openxmlformats.org/drawingml/2006/main">
              <a:ext uri="{FF2B5EF4-FFF2-40B4-BE49-F238E27FC236}">
                <a16:creationId xmlns:a16="http://schemas.microsoft.com/office/drawing/2014/main" id="{95EC2981-1033-4544-87A9-86BC7F638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9127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673"/>
                </a:solidFill>
              </a:defRPr>
            </a:pPr>
            <a:r>
              <a:rPr sz="1050" b="0">
                <a:solidFill>
                  <a:srgbClr val="5E6673"/>
                </a:solidFill>
              </a:rPr>
              <a:t>09</a:t>
            </a:r>
          </a:p>
        </p:txBody>
      </p:sp>
      <p:sp>
        <p:nvSpPr>
          <p:cNvPr id="5" name="text-70-178">
            <a:extLst xmlns:a="http://schemas.openxmlformats.org/drawingml/2006/main">
              <a:ext uri="{FF2B5EF4-FFF2-40B4-BE49-F238E27FC236}">
                <a16:creationId xmlns:a16="http://schemas.microsoft.com/office/drawing/2014/main" id="{3A3A1266-C4C3-42EB-85F6-ADC1367CF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1428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3D8DFF"/>
                </a:solidFill>
              </a:defRPr>
            </a:pPr>
            <a:r>
              <a:rPr sz="5400" b="1">
                <a:solidFill>
                  <a:srgbClr val="3D8DFF"/>
                </a:solidFill>
              </a:rPr>
              <a:t>03</a:t>
            </a:r>
          </a:p>
        </p:txBody>
      </p:sp>
      <p:sp>
        <p:nvSpPr>
          <p:cNvPr id="6" name="opening-3">
            <a:extLst xmlns:a="http://schemas.openxmlformats.org/drawingml/2006/main">
              <a:ext uri="{FF2B5EF4-FFF2-40B4-BE49-F238E27FC236}">
                <a16:creationId xmlns:a16="http://schemas.microsoft.com/office/drawing/2014/main" id="{9ACC15E9-0150-4A1B-8C2B-3111B6DA4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695450"/>
            <a:ext cx="876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</a:defRPr>
            </a:pPr>
            <a:r>
              <a:rPr sz="2400" b="1">
                <a:solidFill>
                  <a:srgbClr val="111111"/>
                </a:solidFill>
              </a:rPr>
              <a:t>[TOPIC] remains a contentious matter, largely because reasonable people may evaluate its immediate advantages and broader implications in markedly different ways.</a:t>
            </a:r>
          </a:p>
        </p:txBody>
      </p:sp>
      <p:sp>
        <p:nvSpPr>
          <p:cNvPr id="7" name="model-panel-3">
            <a:extLst xmlns:a="http://schemas.openxmlformats.org/drawingml/2006/main">
              <a:ext uri="{FF2B5EF4-FFF2-40B4-BE49-F238E27FC236}">
                <a16:creationId xmlns:a16="http://schemas.microsoft.com/office/drawing/2014/main" id="{355E543F-D080-4BD5-ACD2-78F381332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52850"/>
            <a:ext cx="10382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8" name="text-94-421">
            <a:extLst xmlns:a="http://schemas.openxmlformats.org/drawingml/2006/main">
              <a:ext uri="{FF2B5EF4-FFF2-40B4-BE49-F238E27FC236}">
                <a16:creationId xmlns:a16="http://schemas.microsoft.com/office/drawing/2014/main" id="{AB97E0FE-26F3-4596-94D5-0CD688802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1002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</a:defRPr>
            </a:pPr>
            <a:r>
              <a:rPr sz="1125" b="1">
                <a:solidFill>
                  <a:srgbClr val="3D8DFF"/>
                </a:solidFill>
              </a:rPr>
              <a:t>MODEL</a:t>
            </a:r>
          </a:p>
        </p:txBody>
      </p:sp>
      <p:sp>
        <p:nvSpPr>
          <p:cNvPr id="9" name="text-214-416">
            <a:extLst xmlns:a="http://schemas.openxmlformats.org/drawingml/2006/main">
              <a:ext uri="{FF2B5EF4-FFF2-40B4-BE49-F238E27FC236}">
                <a16:creationId xmlns:a16="http://schemas.microsoft.com/office/drawing/2014/main" id="{07A89C36-B310-4EC9-969B-BF12D509B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962400"/>
            <a:ext cx="8667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Free university education remains a contentious matter, largely because reasonable people may evaluate its immediate advantages and broader implications in markedly different ways.</a:t>
            </a:r>
          </a:p>
        </p:txBody>
      </p:sp>
      <p:sp>
        <p:nvSpPr>
          <p:cNvPr id="10" name="text-70-578">
            <a:extLst xmlns:a="http://schemas.openxmlformats.org/drawingml/2006/main">
              <a:ext uri="{FF2B5EF4-FFF2-40B4-BE49-F238E27FC236}">
                <a16:creationId xmlns:a16="http://schemas.microsoft.com/office/drawing/2014/main" id="{965EE85D-1639-47BB-82C5-E24AA4DCA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0545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673"/>
                </a:solidFill>
              </a:defRPr>
            </a:pPr>
            <a:r>
              <a:rPr sz="1350" b="0">
                <a:solidFill>
                  <a:srgbClr val="5E6673"/>
                </a:solidFill>
              </a:rPr>
              <a:t>Best for: Agree/disagree questions with two credible sides</a:t>
            </a:r>
          </a:p>
        </p:txBody>
      </p:sp>
    </p:spTree>
    <p:extLst>
      <p:ext uri="{BB962C8B-B14F-4D97-AF65-F5344CB8AC3E}">
        <p14:creationId xmlns:p14="http://schemas.microsoft.com/office/powerpoint/2010/main" val="155260375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eyebrow-10">
            <a:extLst xmlns:a="http://schemas.openxmlformats.org/drawingml/2006/main">
              <a:ext uri="{FF2B5EF4-FFF2-40B4-BE49-F238E27FC236}">
                <a16:creationId xmlns:a16="http://schemas.microsoft.com/office/drawing/2014/main" id="{CB1A510E-90EB-4E09-A60E-E4BCF2BBA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REUSABLE OPENING</a:t>
            </a:r>
          </a:p>
        </p:txBody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63279E56-52C8-4871-ACB0-5EDD57DC6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</a:defRPr>
            </a:pPr>
            <a:r>
              <a:rPr sz="2925" b="1">
                <a:solidFill>
                  <a:srgbClr val="111111"/>
                </a:solidFill>
              </a:rPr>
              <a:t>Opening 4 — Benefits versus risks</a:t>
            </a:r>
          </a:p>
        </p:txBody>
      </p:sp>
      <p:sp>
        <p:nvSpPr>
          <p:cNvPr id="3" name="rule-10">
            <a:extLst xmlns:a="http://schemas.openxmlformats.org/drawingml/2006/main">
              <a:ext uri="{FF2B5EF4-FFF2-40B4-BE49-F238E27FC236}">
                <a16:creationId xmlns:a16="http://schemas.microsoft.com/office/drawing/2014/main" id="{550A725A-E53F-4279-91AE-D7C1A941B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page-10">
            <a:extLst xmlns:a="http://schemas.openxmlformats.org/drawingml/2006/main">
              <a:ext uri="{FF2B5EF4-FFF2-40B4-BE49-F238E27FC236}">
                <a16:creationId xmlns:a16="http://schemas.microsoft.com/office/drawing/2014/main" id="{92B2EDF6-6B8D-49D5-AADF-1B5D655E9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9127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673"/>
                </a:solidFill>
              </a:defRPr>
            </a:pPr>
            <a:r>
              <a:rPr sz="1050" b="0">
                <a:solidFill>
                  <a:srgbClr val="5E6673"/>
                </a:solidFill>
              </a:rPr>
              <a:t>10</a:t>
            </a:r>
          </a:p>
        </p:txBody>
      </p:sp>
      <p:sp>
        <p:nvSpPr>
          <p:cNvPr id="5" name="number-box-4">
            <a:extLst xmlns:a="http://schemas.openxmlformats.org/drawingml/2006/main">
              <a:ext uri="{FF2B5EF4-FFF2-40B4-BE49-F238E27FC236}">
                <a16:creationId xmlns:a16="http://schemas.microsoft.com/office/drawing/2014/main" id="{DCBA7633-B900-4AD5-9DD6-8D313C125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47850"/>
            <a:ext cx="781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6" name="number-4">
            <a:extLst xmlns:a="http://schemas.openxmlformats.org/drawingml/2006/main">
              <a:ext uri="{FF2B5EF4-FFF2-40B4-BE49-F238E27FC236}">
                <a16:creationId xmlns:a16="http://schemas.microsoft.com/office/drawing/2014/main" id="{8446DCDB-59E2-4DAF-A8F7-905FE9FA6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24050"/>
            <a:ext cx="781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7" name="opening-4">
            <a:extLst xmlns:a="http://schemas.openxmlformats.org/drawingml/2006/main">
              <a:ext uri="{FF2B5EF4-FFF2-40B4-BE49-F238E27FC236}">
                <a16:creationId xmlns:a16="http://schemas.microsoft.com/office/drawing/2014/main" id="{925DA1FA-754E-4D4D-B583-54CE41082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809750"/>
            <a:ext cx="96202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11111"/>
                </a:solidFill>
              </a:defRPr>
            </a:pPr>
            <a:r>
              <a:rPr sz="2475" b="1">
                <a:solidFill>
                  <a:srgbClr val="111111"/>
                </a:solidFill>
              </a:rPr>
              <a:t>The increasing importance of [TOPIC] has prompted serious discussion about how its potential benefits should be balanced against its associated risks.</a:t>
            </a:r>
          </a:p>
        </p:txBody>
      </p:sp>
      <p:sp>
        <p:nvSpPr>
          <p:cNvPr id="8" name="rect-68-410">
            <a:extLst xmlns:a="http://schemas.openxmlformats.org/drawingml/2006/main">
              <a:ext uri="{FF2B5EF4-FFF2-40B4-BE49-F238E27FC236}">
                <a16:creationId xmlns:a16="http://schemas.microsoft.com/office/drawing/2014/main" id="{D7F6748E-3333-4196-B983-868E12E22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05250"/>
            <a:ext cx="10725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9" name="text-68-444">
            <a:extLst xmlns:a="http://schemas.openxmlformats.org/drawingml/2006/main">
              <a:ext uri="{FF2B5EF4-FFF2-40B4-BE49-F238E27FC236}">
                <a16:creationId xmlns:a16="http://schemas.microsoft.com/office/drawing/2014/main" id="{5156AB48-21E1-444E-A014-6807886B1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291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BEST FOR</a:t>
            </a:r>
          </a:p>
        </p:txBody>
      </p:sp>
      <p:sp>
        <p:nvSpPr>
          <p:cNvPr id="10" name="text-68-476">
            <a:extLst xmlns:a="http://schemas.openxmlformats.org/drawingml/2006/main">
              <a:ext uri="{FF2B5EF4-FFF2-40B4-BE49-F238E27FC236}">
                <a16:creationId xmlns:a16="http://schemas.microsoft.com/office/drawing/2014/main" id="{47166CD7-09B6-4E5E-913D-BC97AA9CD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33900"/>
            <a:ext cx="342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Advantages/disadvantages and partly-agree essays</a:t>
            </a:r>
          </a:p>
        </p:txBody>
      </p:sp>
      <p:sp>
        <p:nvSpPr>
          <p:cNvPr id="11" name="text-506-444">
            <a:extLst xmlns:a="http://schemas.openxmlformats.org/drawingml/2006/main">
              <a:ext uri="{FF2B5EF4-FFF2-40B4-BE49-F238E27FC236}">
                <a16:creationId xmlns:a16="http://schemas.microsoft.com/office/drawing/2014/main" id="{DEAFFA3F-A14A-461B-A5BF-B69F63694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2291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MODEL USE</a:t>
            </a:r>
          </a:p>
        </p:txBody>
      </p:sp>
      <p:sp>
        <p:nvSpPr>
          <p:cNvPr id="12" name="text-506-476">
            <a:extLst xmlns:a="http://schemas.openxmlformats.org/drawingml/2006/main">
              <a:ext uri="{FF2B5EF4-FFF2-40B4-BE49-F238E27FC236}">
                <a16:creationId xmlns:a16="http://schemas.microsoft.com/office/drawing/2014/main" id="{4B157BD0-82BB-4DEF-88A6-3E3A4162F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533900"/>
            <a:ext cx="65532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The increasing importance of genetic engineering has prompted serious discussion about how its potential benefits should be balanced against its associated risks.</a:t>
            </a:r>
          </a:p>
        </p:txBody>
      </p:sp>
    </p:spTree>
    <p:extLst>
      <p:ext uri="{BB962C8B-B14F-4D97-AF65-F5344CB8AC3E}">
        <p14:creationId xmlns:p14="http://schemas.microsoft.com/office/powerpoint/2010/main" val="6824697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eyebrow-11">
            <a:extLst xmlns:a="http://schemas.openxmlformats.org/drawingml/2006/main">
              <a:ext uri="{FF2B5EF4-FFF2-40B4-BE49-F238E27FC236}">
                <a16:creationId xmlns:a16="http://schemas.microsoft.com/office/drawing/2014/main" id="{63584622-8159-4CA9-92C0-78D641F0D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REUSABLE OPENING</a:t>
            </a:r>
          </a:p>
        </p:txBody>
      </p:sp>
      <p:sp>
        <p:nvSpPr>
          <p:cNvPr id="2" name="title-11">
            <a:extLst xmlns:a="http://schemas.openxmlformats.org/drawingml/2006/main">
              <a:ext uri="{FF2B5EF4-FFF2-40B4-BE49-F238E27FC236}">
                <a16:creationId xmlns:a16="http://schemas.microsoft.com/office/drawing/2014/main" id="{EFE9BEA8-38EE-47F8-A4DB-7880D7678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</a:defRPr>
            </a:pPr>
            <a:r>
              <a:rPr sz="2925" b="1">
                <a:solidFill>
                  <a:srgbClr val="111111"/>
                </a:solidFill>
              </a:rPr>
              <a:t>Opening 5 — Three evaluation lenses</a:t>
            </a:r>
          </a:p>
        </p:txBody>
      </p:sp>
      <p:sp>
        <p:nvSpPr>
          <p:cNvPr id="3" name="rule-11">
            <a:extLst xmlns:a="http://schemas.openxmlformats.org/drawingml/2006/main">
              <a:ext uri="{FF2B5EF4-FFF2-40B4-BE49-F238E27FC236}">
                <a16:creationId xmlns:a16="http://schemas.microsoft.com/office/drawing/2014/main" id="{765311F2-AB53-43D7-B836-0BB4ADA21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page-11">
            <a:extLst xmlns:a="http://schemas.openxmlformats.org/drawingml/2006/main">
              <a:ext uri="{FF2B5EF4-FFF2-40B4-BE49-F238E27FC236}">
                <a16:creationId xmlns:a16="http://schemas.microsoft.com/office/drawing/2014/main" id="{392F4ACA-C634-4A77-9971-06F69EA2F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9127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673"/>
                </a:solidFill>
              </a:defRPr>
            </a:pPr>
            <a:r>
              <a:rPr sz="1050" b="0">
                <a:solidFill>
                  <a:srgbClr val="5E6673"/>
                </a:solidFill>
              </a:rPr>
              <a:t>11</a:t>
            </a:r>
          </a:p>
        </p:txBody>
      </p:sp>
      <p:sp>
        <p:nvSpPr>
          <p:cNvPr id="5" name="left-panel-5">
            <a:extLst xmlns:a="http://schemas.openxmlformats.org/drawingml/2006/main">
              <a:ext uri="{FF2B5EF4-FFF2-40B4-BE49-F238E27FC236}">
                <a16:creationId xmlns:a16="http://schemas.microsoft.com/office/drawing/2014/main" id="{756AB676-3333-410C-823F-6177273F8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47625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9"/>
          </a:solidFill>
          <a:ln xmlns:a="http://schemas.openxmlformats.org/drawingml/2006/main" w="0">
            <a:solidFill>
              <a:srgbClr val="F5F7F9"/>
            </a:solidFill>
            <a:prstDash val="solid"/>
          </a:ln>
        </p:spPr>
      </p:sp>
      <p:sp>
        <p:nvSpPr>
          <p:cNvPr id="6" name="number-box-5">
            <a:extLst xmlns:a="http://schemas.openxmlformats.org/drawingml/2006/main">
              <a:ext uri="{FF2B5EF4-FFF2-40B4-BE49-F238E27FC236}">
                <a16:creationId xmlns:a16="http://schemas.microsoft.com/office/drawing/2014/main" id="{9E33F41B-7779-40C5-9A58-228A0EB34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38350"/>
            <a:ext cx="781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7" name="number-5">
            <a:extLst xmlns:a="http://schemas.openxmlformats.org/drawingml/2006/main">
              <a:ext uri="{FF2B5EF4-FFF2-40B4-BE49-F238E27FC236}">
                <a16:creationId xmlns:a16="http://schemas.microsoft.com/office/drawing/2014/main" id="{A90D2F8C-5B08-4B4C-B9A9-612DB2015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14550"/>
            <a:ext cx="781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8" name="text-84-324">
            <a:extLst xmlns:a="http://schemas.openxmlformats.org/drawingml/2006/main">
              <a:ext uri="{FF2B5EF4-FFF2-40B4-BE49-F238E27FC236}">
                <a16:creationId xmlns:a16="http://schemas.microsoft.com/office/drawing/2014/main" id="{09E78247-F5ED-4D80-8F40-ED9851BA7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38862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Government policy, education and public spending</a:t>
            </a:r>
          </a:p>
        </p:txBody>
      </p:sp>
      <p:sp>
        <p:nvSpPr>
          <p:cNvPr id="9" name="text-84-456">
            <a:extLst xmlns:a="http://schemas.openxmlformats.org/drawingml/2006/main">
              <a:ext uri="{FF2B5EF4-FFF2-40B4-BE49-F238E27FC236}">
                <a16:creationId xmlns:a16="http://schemas.microsoft.com/office/drawing/2014/main" id="{67A5F0B5-6B86-40C9-9EE6-BADF0306E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43400"/>
            <a:ext cx="3886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673"/>
                </a:solidFill>
              </a:defRPr>
            </a:pPr>
            <a:r>
              <a:rPr sz="1500" b="0">
                <a:solidFill>
                  <a:srgbClr val="5E6673"/>
                </a:solidFill>
              </a:rPr>
              <a:t>Use a clear noun phrase for the topic; never copy the entire prompt.</a:t>
            </a:r>
          </a:p>
        </p:txBody>
      </p:sp>
      <p:sp>
        <p:nvSpPr>
          <p:cNvPr id="10" name="opening-5">
            <a:extLst xmlns:a="http://schemas.openxmlformats.org/drawingml/2006/main">
              <a:ext uri="{FF2B5EF4-FFF2-40B4-BE49-F238E27FC236}">
                <a16:creationId xmlns:a16="http://schemas.microsoft.com/office/drawing/2014/main" id="{BFDB127F-5D75-4067-9F48-586A1A370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847850"/>
            <a:ext cx="5410200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111"/>
                </a:solidFill>
              </a:defRPr>
            </a:pPr>
            <a:r>
              <a:rPr sz="2325" b="1">
                <a:solidFill>
                  <a:srgbClr val="111111"/>
                </a:solidFill>
              </a:rPr>
              <a:t>Debate surrounding [TOPIC] reflects a fundamental disagreement about its effectiveness, fairness and capacity to produce sustainable outcomes.</a:t>
            </a:r>
          </a:p>
        </p:txBody>
      </p:sp>
      <p:sp>
        <p:nvSpPr>
          <p:cNvPr id="11" name="text-612-468">
            <a:extLst xmlns:a="http://schemas.openxmlformats.org/drawingml/2006/main">
              <a:ext uri="{FF2B5EF4-FFF2-40B4-BE49-F238E27FC236}">
                <a16:creationId xmlns:a16="http://schemas.microsoft.com/office/drawing/2014/main" id="{51FD871C-74FE-4002-BE15-6FEEAE6F1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457700"/>
            <a:ext cx="5410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</a:defRPr>
            </a:pPr>
            <a:r>
              <a:rPr sz="1125" b="1">
                <a:solidFill>
                  <a:srgbClr val="3D8DFF"/>
                </a:solidFill>
              </a:rPr>
              <a:t>GOVERNMENT FUNDING FOR HIGHER EDUCATION</a:t>
            </a:r>
          </a:p>
        </p:txBody>
      </p:sp>
      <p:sp>
        <p:nvSpPr>
          <p:cNvPr id="12" name="text-612-505">
            <a:extLst xmlns:a="http://schemas.openxmlformats.org/drawingml/2006/main">
              <a:ext uri="{FF2B5EF4-FFF2-40B4-BE49-F238E27FC236}">
                <a16:creationId xmlns:a16="http://schemas.microsoft.com/office/drawing/2014/main" id="{D9712324-9105-4D86-9D73-EDBDA5ECB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810125"/>
            <a:ext cx="54102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Debate surrounding government funding for higher education reflects a fundamental disagreement about its effectiveness, fairness and capacity to produce sustainable outcomes.</a:t>
            </a:r>
          </a:p>
        </p:txBody>
      </p:sp>
    </p:spTree>
    <p:extLst>
      <p:ext uri="{BB962C8B-B14F-4D97-AF65-F5344CB8AC3E}">
        <p14:creationId xmlns:p14="http://schemas.microsoft.com/office/powerpoint/2010/main" val="28610318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eyebrow-12">
            <a:extLst xmlns:a="http://schemas.openxmlformats.org/drawingml/2006/main">
              <a:ext uri="{FF2B5EF4-FFF2-40B4-BE49-F238E27FC236}">
                <a16:creationId xmlns:a16="http://schemas.microsoft.com/office/drawing/2014/main" id="{9ECBA215-6A9A-4299-8BF7-AD41A522D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REUSABLE OPENING</a:t>
            </a:r>
          </a:p>
        </p:txBody>
      </p:sp>
      <p:sp>
        <p:nvSpPr>
          <p:cNvPr id="2" name="title-12">
            <a:extLst xmlns:a="http://schemas.openxmlformats.org/drawingml/2006/main">
              <a:ext uri="{FF2B5EF4-FFF2-40B4-BE49-F238E27FC236}">
                <a16:creationId xmlns:a16="http://schemas.microsoft.com/office/drawing/2014/main" id="{848B3F9C-F7C9-4BEB-A819-AD7F69E19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</a:defRPr>
            </a:pPr>
            <a:r>
              <a:rPr sz="2925" b="1">
                <a:solidFill>
                  <a:srgbClr val="111111"/>
                </a:solidFill>
              </a:rPr>
              <a:t>Opening 6 — Decision and impact</a:t>
            </a:r>
          </a:p>
        </p:txBody>
      </p:sp>
      <p:sp>
        <p:nvSpPr>
          <p:cNvPr id="3" name="rule-12">
            <a:extLst xmlns:a="http://schemas.openxmlformats.org/drawingml/2006/main">
              <a:ext uri="{FF2B5EF4-FFF2-40B4-BE49-F238E27FC236}">
                <a16:creationId xmlns:a16="http://schemas.microsoft.com/office/drawing/2014/main" id="{082B969C-6E8F-4AA6-98A4-6F998DDCA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page-12">
            <a:extLst xmlns:a="http://schemas.openxmlformats.org/drawingml/2006/main">
              <a:ext uri="{FF2B5EF4-FFF2-40B4-BE49-F238E27FC236}">
                <a16:creationId xmlns:a16="http://schemas.microsoft.com/office/drawing/2014/main" id="{6775EB0F-44CF-4E9B-BCD1-EA7060A8C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9127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673"/>
                </a:solidFill>
              </a:defRPr>
            </a:pPr>
            <a:r>
              <a:rPr sz="1050" b="0">
                <a:solidFill>
                  <a:srgbClr val="5E6673"/>
                </a:solidFill>
              </a:rPr>
              <a:t>12</a:t>
            </a:r>
          </a:p>
        </p:txBody>
      </p:sp>
      <p:sp>
        <p:nvSpPr>
          <p:cNvPr id="5" name="text-70-178">
            <a:extLst xmlns:a="http://schemas.openxmlformats.org/drawingml/2006/main">
              <a:ext uri="{FF2B5EF4-FFF2-40B4-BE49-F238E27FC236}">
                <a16:creationId xmlns:a16="http://schemas.microsoft.com/office/drawing/2014/main" id="{6C2E7778-A95B-40A0-850E-8B1DB9567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1428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3D8DFF"/>
                </a:solidFill>
              </a:defRPr>
            </a:pPr>
            <a:r>
              <a:rPr sz="5400" b="1">
                <a:solidFill>
                  <a:srgbClr val="3D8DFF"/>
                </a:solidFill>
              </a:rPr>
              <a:t>06</a:t>
            </a:r>
          </a:p>
        </p:txBody>
      </p:sp>
      <p:sp>
        <p:nvSpPr>
          <p:cNvPr id="6" name="opening-6">
            <a:extLst xmlns:a="http://schemas.openxmlformats.org/drawingml/2006/main">
              <a:ext uri="{FF2B5EF4-FFF2-40B4-BE49-F238E27FC236}">
                <a16:creationId xmlns:a16="http://schemas.microsoft.com/office/drawing/2014/main" id="{95D49D37-0090-402A-8D6E-3B0164B04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695450"/>
            <a:ext cx="876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</a:defRPr>
            </a:pPr>
            <a:r>
              <a:rPr sz="2400" b="1">
                <a:solidFill>
                  <a:srgbClr val="111111"/>
                </a:solidFill>
              </a:rPr>
              <a:t>The question of [TOPIC] deserves careful examination, as decisions in this area may affect both individual opportunities and collective wellbeing.</a:t>
            </a:r>
          </a:p>
        </p:txBody>
      </p:sp>
      <p:sp>
        <p:nvSpPr>
          <p:cNvPr id="7" name="model-panel-6">
            <a:extLst xmlns:a="http://schemas.openxmlformats.org/drawingml/2006/main">
              <a:ext uri="{FF2B5EF4-FFF2-40B4-BE49-F238E27FC236}">
                <a16:creationId xmlns:a16="http://schemas.microsoft.com/office/drawing/2014/main" id="{B3F4D803-3165-4D59-9EB0-156E0DDF6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52850"/>
            <a:ext cx="10382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8" name="text-94-421">
            <a:extLst xmlns:a="http://schemas.openxmlformats.org/drawingml/2006/main">
              <a:ext uri="{FF2B5EF4-FFF2-40B4-BE49-F238E27FC236}">
                <a16:creationId xmlns:a16="http://schemas.microsoft.com/office/drawing/2014/main" id="{B58820C0-1A51-4E32-A9B2-B6458A84F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1002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</a:defRPr>
            </a:pPr>
            <a:r>
              <a:rPr sz="1125" b="1">
                <a:solidFill>
                  <a:srgbClr val="3D8DFF"/>
                </a:solidFill>
              </a:rPr>
              <a:t>MODEL</a:t>
            </a:r>
          </a:p>
        </p:txBody>
      </p:sp>
      <p:sp>
        <p:nvSpPr>
          <p:cNvPr id="9" name="text-214-416">
            <a:extLst xmlns:a="http://schemas.openxmlformats.org/drawingml/2006/main">
              <a:ext uri="{FF2B5EF4-FFF2-40B4-BE49-F238E27FC236}">
                <a16:creationId xmlns:a16="http://schemas.microsoft.com/office/drawing/2014/main" id="{66521B33-52A7-46F2-96C2-86A1156B7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962400"/>
            <a:ext cx="8667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The question of compulsory health education deserves careful examination, as decisions in this area may affect both individual opportunities and collective wellbeing.</a:t>
            </a:r>
          </a:p>
        </p:txBody>
      </p:sp>
      <p:sp>
        <p:nvSpPr>
          <p:cNvPr id="10" name="text-70-578">
            <a:extLst xmlns:a="http://schemas.openxmlformats.org/drawingml/2006/main">
              <a:ext uri="{FF2B5EF4-FFF2-40B4-BE49-F238E27FC236}">
                <a16:creationId xmlns:a16="http://schemas.microsoft.com/office/drawing/2014/main" id="{4CD4B35B-F334-4E19-933F-1C8738532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0545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673"/>
                </a:solidFill>
              </a:defRPr>
            </a:pPr>
            <a:r>
              <a:rPr sz="1350" b="0">
                <a:solidFill>
                  <a:srgbClr val="5E6673"/>
                </a:solidFill>
              </a:rPr>
              <a:t>Best for: Health, education, law and social-policy topics</a:t>
            </a:r>
          </a:p>
        </p:txBody>
      </p:sp>
    </p:spTree>
    <p:extLst>
      <p:ext uri="{BB962C8B-B14F-4D97-AF65-F5344CB8AC3E}">
        <p14:creationId xmlns:p14="http://schemas.microsoft.com/office/powerpoint/2010/main" val="156561575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eyebrow-13">
            <a:extLst xmlns:a="http://schemas.openxmlformats.org/drawingml/2006/main">
              <a:ext uri="{FF2B5EF4-FFF2-40B4-BE49-F238E27FC236}">
                <a16:creationId xmlns:a16="http://schemas.microsoft.com/office/drawing/2014/main" id="{BF5F01BB-44E5-472D-B06E-FB1AEDF62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REUSABLE OPENING</a:t>
            </a:r>
          </a:p>
        </p:txBody>
      </p:sp>
      <p:sp>
        <p:nvSpPr>
          <p:cNvPr id="2" name="title-13">
            <a:extLst xmlns:a="http://schemas.openxmlformats.org/drawingml/2006/main">
              <a:ext uri="{FF2B5EF4-FFF2-40B4-BE49-F238E27FC236}">
                <a16:creationId xmlns:a16="http://schemas.microsoft.com/office/drawing/2014/main" id="{3303744E-BFE9-4492-B435-15C7B873C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</a:defRPr>
            </a:pPr>
            <a:r>
              <a:rPr sz="2925" b="1">
                <a:solidFill>
                  <a:srgbClr val="111111"/>
                </a:solidFill>
              </a:rPr>
              <a:t>Opening 7 — Multiple dimensions</a:t>
            </a:r>
          </a:p>
        </p:txBody>
      </p:sp>
      <p:sp>
        <p:nvSpPr>
          <p:cNvPr id="3" name="rule-13">
            <a:extLst xmlns:a="http://schemas.openxmlformats.org/drawingml/2006/main">
              <a:ext uri="{FF2B5EF4-FFF2-40B4-BE49-F238E27FC236}">
                <a16:creationId xmlns:a16="http://schemas.microsoft.com/office/drawing/2014/main" id="{A57D4441-0AE5-44A3-AF6C-5FD920681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page-13">
            <a:extLst xmlns:a="http://schemas.openxmlformats.org/drawingml/2006/main">
              <a:ext uri="{FF2B5EF4-FFF2-40B4-BE49-F238E27FC236}">
                <a16:creationId xmlns:a16="http://schemas.microsoft.com/office/drawing/2014/main" id="{75A1F309-CE79-45D3-8756-8C9C9534E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9127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673"/>
                </a:solidFill>
              </a:defRPr>
            </a:pPr>
            <a:r>
              <a:rPr sz="1050" b="0">
                <a:solidFill>
                  <a:srgbClr val="5E6673"/>
                </a:solidFill>
              </a:rPr>
              <a:t>13</a:t>
            </a:r>
          </a:p>
        </p:txBody>
      </p:sp>
      <p:sp>
        <p:nvSpPr>
          <p:cNvPr id="5" name="number-box-7">
            <a:extLst xmlns:a="http://schemas.openxmlformats.org/drawingml/2006/main">
              <a:ext uri="{FF2B5EF4-FFF2-40B4-BE49-F238E27FC236}">
                <a16:creationId xmlns:a16="http://schemas.microsoft.com/office/drawing/2014/main" id="{B3E67E5C-1BE4-4945-8067-C2E7A24D4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47850"/>
            <a:ext cx="781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6" name="number-7">
            <a:extLst xmlns:a="http://schemas.openxmlformats.org/drawingml/2006/main">
              <a:ext uri="{FF2B5EF4-FFF2-40B4-BE49-F238E27FC236}">
                <a16:creationId xmlns:a16="http://schemas.microsoft.com/office/drawing/2014/main" id="{886F8567-1EB1-420B-907C-58D69F847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24050"/>
            <a:ext cx="781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7" name="opening-7">
            <a:extLst xmlns:a="http://schemas.openxmlformats.org/drawingml/2006/main">
              <a:ext uri="{FF2B5EF4-FFF2-40B4-BE49-F238E27FC236}">
                <a16:creationId xmlns:a16="http://schemas.microsoft.com/office/drawing/2014/main" id="{5ACE894B-A13B-4F0B-94B7-584CD8642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809750"/>
            <a:ext cx="96202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11111"/>
                </a:solidFill>
              </a:defRPr>
            </a:pPr>
            <a:r>
              <a:rPr sz="2475" b="1">
                <a:solidFill>
                  <a:srgbClr val="111111"/>
                </a:solidFill>
              </a:rPr>
              <a:t>[TOPIC] presents a complex challenge because its practical value must be considered alongside its social, economic and ethical implications.</a:t>
            </a:r>
          </a:p>
        </p:txBody>
      </p:sp>
      <p:sp>
        <p:nvSpPr>
          <p:cNvPr id="8" name="rect-68-410">
            <a:extLst xmlns:a="http://schemas.openxmlformats.org/drawingml/2006/main">
              <a:ext uri="{FF2B5EF4-FFF2-40B4-BE49-F238E27FC236}">
                <a16:creationId xmlns:a16="http://schemas.microsoft.com/office/drawing/2014/main" id="{17C7D1AE-0F18-447F-8DAE-57119F0AD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05250"/>
            <a:ext cx="10725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9" name="text-68-444">
            <a:extLst xmlns:a="http://schemas.openxmlformats.org/drawingml/2006/main">
              <a:ext uri="{FF2B5EF4-FFF2-40B4-BE49-F238E27FC236}">
                <a16:creationId xmlns:a16="http://schemas.microsoft.com/office/drawing/2014/main" id="{FB439DCA-DC33-4D03-8D57-C57B98C3C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291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BEST FOR</a:t>
            </a:r>
          </a:p>
        </p:txBody>
      </p:sp>
      <p:sp>
        <p:nvSpPr>
          <p:cNvPr id="10" name="text-68-476">
            <a:extLst xmlns:a="http://schemas.openxmlformats.org/drawingml/2006/main">
              <a:ext uri="{FF2B5EF4-FFF2-40B4-BE49-F238E27FC236}">
                <a16:creationId xmlns:a16="http://schemas.microsoft.com/office/drawing/2014/main" id="{19250735-7D85-4489-A83F-B8FBD5693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33900"/>
            <a:ext cx="342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Science, artificial intelligence, medicine and ethics</a:t>
            </a:r>
          </a:p>
        </p:txBody>
      </p:sp>
      <p:sp>
        <p:nvSpPr>
          <p:cNvPr id="11" name="text-506-444">
            <a:extLst xmlns:a="http://schemas.openxmlformats.org/drawingml/2006/main">
              <a:ext uri="{FF2B5EF4-FFF2-40B4-BE49-F238E27FC236}">
                <a16:creationId xmlns:a16="http://schemas.microsoft.com/office/drawing/2014/main" id="{0A665354-D816-4827-A30B-B2D96E1B1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2291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MODEL USE</a:t>
            </a:r>
          </a:p>
        </p:txBody>
      </p:sp>
      <p:sp>
        <p:nvSpPr>
          <p:cNvPr id="12" name="text-506-476">
            <a:extLst xmlns:a="http://schemas.openxmlformats.org/drawingml/2006/main">
              <a:ext uri="{FF2B5EF4-FFF2-40B4-BE49-F238E27FC236}">
                <a16:creationId xmlns:a16="http://schemas.microsoft.com/office/drawing/2014/main" id="{01D42958-3D8B-4353-BA12-1184BF7C1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533900"/>
            <a:ext cx="65532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Animal testing in medical research presents a complex challenge because its practical value must be considered alongside its social, economic and ethical implications.</a:t>
            </a:r>
          </a:p>
        </p:txBody>
      </p:sp>
    </p:spTree>
    <p:extLst>
      <p:ext uri="{BB962C8B-B14F-4D97-AF65-F5344CB8AC3E}">
        <p14:creationId xmlns:p14="http://schemas.microsoft.com/office/powerpoint/2010/main" val="191024703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eyebrow-14">
            <a:extLst xmlns:a="http://schemas.openxmlformats.org/drawingml/2006/main">
              <a:ext uri="{FF2B5EF4-FFF2-40B4-BE49-F238E27FC236}">
                <a16:creationId xmlns:a16="http://schemas.microsoft.com/office/drawing/2014/main" id="{B833077D-F5C9-40F5-93FD-E63AAF39A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REUSABLE OPENING</a:t>
            </a:r>
          </a:p>
        </p:txBody>
      </p:sp>
      <p:sp>
        <p:nvSpPr>
          <p:cNvPr id="2" name="title-14">
            <a:extLst xmlns:a="http://schemas.openxmlformats.org/drawingml/2006/main">
              <a:ext uri="{FF2B5EF4-FFF2-40B4-BE49-F238E27FC236}">
                <a16:creationId xmlns:a16="http://schemas.microsoft.com/office/drawing/2014/main" id="{796131AD-4957-4B53-BAB4-7644F71CD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</a:defRPr>
            </a:pPr>
            <a:r>
              <a:rPr sz="2925" b="1">
                <a:solidFill>
                  <a:srgbClr val="111111"/>
                </a:solidFill>
              </a:rPr>
              <a:t>Opening 8 — Visible consequences</a:t>
            </a:r>
          </a:p>
        </p:txBody>
      </p:sp>
      <p:sp>
        <p:nvSpPr>
          <p:cNvPr id="3" name="rule-14">
            <a:extLst xmlns:a="http://schemas.openxmlformats.org/drawingml/2006/main">
              <a:ext uri="{FF2B5EF4-FFF2-40B4-BE49-F238E27FC236}">
                <a16:creationId xmlns:a16="http://schemas.microsoft.com/office/drawing/2014/main" id="{4922289A-79BE-4C7E-A28E-294E0014A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page-14">
            <a:extLst xmlns:a="http://schemas.openxmlformats.org/drawingml/2006/main">
              <a:ext uri="{FF2B5EF4-FFF2-40B4-BE49-F238E27FC236}">
                <a16:creationId xmlns:a16="http://schemas.microsoft.com/office/drawing/2014/main" id="{0B8C74D8-2323-47A6-B48A-E5818B766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9127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673"/>
                </a:solidFill>
              </a:defRPr>
            </a:pPr>
            <a:r>
              <a:rPr sz="1050" b="0">
                <a:solidFill>
                  <a:srgbClr val="5E6673"/>
                </a:solidFill>
              </a:rPr>
              <a:t>14</a:t>
            </a:r>
          </a:p>
        </p:txBody>
      </p:sp>
      <p:sp>
        <p:nvSpPr>
          <p:cNvPr id="5" name="left-panel-8">
            <a:extLst xmlns:a="http://schemas.openxmlformats.org/drawingml/2006/main">
              <a:ext uri="{FF2B5EF4-FFF2-40B4-BE49-F238E27FC236}">
                <a16:creationId xmlns:a16="http://schemas.microsoft.com/office/drawing/2014/main" id="{8ACA9035-8261-471F-BDCB-569BDC9D8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47625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9"/>
          </a:solidFill>
          <a:ln xmlns:a="http://schemas.openxmlformats.org/drawingml/2006/main" w="0">
            <a:solidFill>
              <a:srgbClr val="F5F7F9"/>
            </a:solidFill>
            <a:prstDash val="solid"/>
          </a:ln>
        </p:spPr>
      </p:sp>
      <p:sp>
        <p:nvSpPr>
          <p:cNvPr id="6" name="number-box-8">
            <a:extLst xmlns:a="http://schemas.openxmlformats.org/drawingml/2006/main">
              <a:ext uri="{FF2B5EF4-FFF2-40B4-BE49-F238E27FC236}">
                <a16:creationId xmlns:a16="http://schemas.microsoft.com/office/drawing/2014/main" id="{CCDB640E-738D-4822-A65D-0C5A54672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38350"/>
            <a:ext cx="781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7" name="number-8">
            <a:extLst xmlns:a="http://schemas.openxmlformats.org/drawingml/2006/main">
              <a:ext uri="{FF2B5EF4-FFF2-40B4-BE49-F238E27FC236}">
                <a16:creationId xmlns:a16="http://schemas.microsoft.com/office/drawing/2014/main" id="{E6FEF33C-5814-4FDE-8726-7E26929EE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14550"/>
            <a:ext cx="781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8" name="text-84-324">
            <a:extLst xmlns:a="http://schemas.openxmlformats.org/drawingml/2006/main">
              <a:ext uri="{FF2B5EF4-FFF2-40B4-BE49-F238E27FC236}">
                <a16:creationId xmlns:a16="http://schemas.microsoft.com/office/drawing/2014/main" id="{B0563E55-DE0B-4671-B0A1-F595D0FEF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38862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Work, technology, lifestyle and social trends</a:t>
            </a:r>
          </a:p>
        </p:txBody>
      </p:sp>
      <p:sp>
        <p:nvSpPr>
          <p:cNvPr id="9" name="text-84-456">
            <a:extLst xmlns:a="http://schemas.openxmlformats.org/drawingml/2006/main">
              <a:ext uri="{FF2B5EF4-FFF2-40B4-BE49-F238E27FC236}">
                <a16:creationId xmlns:a16="http://schemas.microsoft.com/office/drawing/2014/main" id="{A3329755-2521-447C-B239-1B87AF1E3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43400"/>
            <a:ext cx="3886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673"/>
                </a:solidFill>
              </a:defRPr>
            </a:pPr>
            <a:r>
              <a:rPr sz="1500" b="0">
                <a:solidFill>
                  <a:srgbClr val="5E6673"/>
                </a:solidFill>
              </a:rPr>
              <a:t>Use a clear noun phrase for the topic; never copy the entire prompt.</a:t>
            </a:r>
          </a:p>
        </p:txBody>
      </p:sp>
      <p:sp>
        <p:nvSpPr>
          <p:cNvPr id="10" name="opening-8">
            <a:extLst xmlns:a="http://schemas.openxmlformats.org/drawingml/2006/main">
              <a:ext uri="{FF2B5EF4-FFF2-40B4-BE49-F238E27FC236}">
                <a16:creationId xmlns:a16="http://schemas.microsoft.com/office/drawing/2014/main" id="{48DC33D3-1FFA-431C-8652-8011A7754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847850"/>
            <a:ext cx="5410200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111"/>
                </a:solidFill>
              </a:defRPr>
            </a:pPr>
            <a:r>
              <a:rPr sz="2325" b="1">
                <a:solidFill>
                  <a:srgbClr val="111111"/>
                </a:solidFill>
              </a:rPr>
              <a:t>Public discussion surrounding [TOPIC] has intensified as its effects have become increasingly visible across personal, professional and institutional contexts.</a:t>
            </a:r>
          </a:p>
        </p:txBody>
      </p:sp>
      <p:sp>
        <p:nvSpPr>
          <p:cNvPr id="11" name="text-612-468">
            <a:extLst xmlns:a="http://schemas.openxmlformats.org/drawingml/2006/main">
              <a:ext uri="{FF2B5EF4-FFF2-40B4-BE49-F238E27FC236}">
                <a16:creationId xmlns:a16="http://schemas.microsoft.com/office/drawing/2014/main" id="{6DCF249C-AA94-4A95-91D9-1CFC9F09C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457700"/>
            <a:ext cx="5410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</a:defRPr>
            </a:pPr>
            <a:r>
              <a:rPr sz="1125" b="1">
                <a:solidFill>
                  <a:srgbClr val="3D8DFF"/>
                </a:solidFill>
              </a:rPr>
              <a:t>REMOTE WORKING</a:t>
            </a:r>
          </a:p>
        </p:txBody>
      </p:sp>
      <p:sp>
        <p:nvSpPr>
          <p:cNvPr id="12" name="text-612-505">
            <a:extLst xmlns:a="http://schemas.openxmlformats.org/drawingml/2006/main">
              <a:ext uri="{FF2B5EF4-FFF2-40B4-BE49-F238E27FC236}">
                <a16:creationId xmlns:a16="http://schemas.microsoft.com/office/drawing/2014/main" id="{24CD0797-CAD7-47E0-854D-98806D31C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810125"/>
            <a:ext cx="54102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Public discussion surrounding remote working has intensified as its effects have become increasingly visible across personal, professional and institutional contexts.</a:t>
            </a:r>
          </a:p>
        </p:txBody>
      </p:sp>
    </p:spTree>
    <p:extLst>
      <p:ext uri="{BB962C8B-B14F-4D97-AF65-F5344CB8AC3E}">
        <p14:creationId xmlns:p14="http://schemas.microsoft.com/office/powerpoint/2010/main" val="671240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eyebrow-15">
            <a:extLst xmlns:a="http://schemas.openxmlformats.org/drawingml/2006/main">
              <a:ext uri="{FF2B5EF4-FFF2-40B4-BE49-F238E27FC236}">
                <a16:creationId xmlns:a16="http://schemas.microsoft.com/office/drawing/2014/main" id="{B3BA6BBC-B9DC-43BE-9D61-9C47D0B73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REUSABLE OPENING</a:t>
            </a:r>
          </a:p>
        </p:txBody>
      </p:sp>
      <p:sp>
        <p:nvSpPr>
          <p:cNvPr id="2" name="title-15">
            <a:extLst xmlns:a="http://schemas.openxmlformats.org/drawingml/2006/main">
              <a:ext uri="{FF2B5EF4-FFF2-40B4-BE49-F238E27FC236}">
                <a16:creationId xmlns:a16="http://schemas.microsoft.com/office/drawing/2014/main" id="{444F8C69-ABD7-4BB9-A6B3-20AD58242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</a:defRPr>
            </a:pPr>
            <a:r>
              <a:rPr sz="2925" b="1">
                <a:solidFill>
                  <a:srgbClr val="111111"/>
                </a:solidFill>
              </a:rPr>
              <a:t>Opening 9 — Evidence-led evaluation</a:t>
            </a:r>
          </a:p>
        </p:txBody>
      </p:sp>
      <p:sp>
        <p:nvSpPr>
          <p:cNvPr id="3" name="rule-15">
            <a:extLst xmlns:a="http://schemas.openxmlformats.org/drawingml/2006/main">
              <a:ext uri="{FF2B5EF4-FFF2-40B4-BE49-F238E27FC236}">
                <a16:creationId xmlns:a16="http://schemas.microsoft.com/office/drawing/2014/main" id="{1F19A475-9B0C-412D-818C-08B42A6C6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page-15">
            <a:extLst xmlns:a="http://schemas.openxmlformats.org/drawingml/2006/main">
              <a:ext uri="{FF2B5EF4-FFF2-40B4-BE49-F238E27FC236}">
                <a16:creationId xmlns:a16="http://schemas.microsoft.com/office/drawing/2014/main" id="{14830CBD-1ED3-4F61-9457-FA6080941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9127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673"/>
                </a:solidFill>
              </a:defRPr>
            </a:pPr>
            <a:r>
              <a:rPr sz="1050" b="0">
                <a:solidFill>
                  <a:srgbClr val="5E6673"/>
                </a:solidFill>
              </a:rPr>
              <a:t>15</a:t>
            </a:r>
          </a:p>
        </p:txBody>
      </p:sp>
      <p:sp>
        <p:nvSpPr>
          <p:cNvPr id="5" name="text-70-178">
            <a:extLst xmlns:a="http://schemas.openxmlformats.org/drawingml/2006/main">
              <a:ext uri="{FF2B5EF4-FFF2-40B4-BE49-F238E27FC236}">
                <a16:creationId xmlns:a16="http://schemas.microsoft.com/office/drawing/2014/main" id="{8CC4B996-9BF1-4C23-8BF0-5494471AC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1428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3D8DFF"/>
                </a:solidFill>
              </a:defRPr>
            </a:pPr>
            <a:r>
              <a:rPr sz="5400" b="1">
                <a:solidFill>
                  <a:srgbClr val="3D8DFF"/>
                </a:solidFill>
              </a:rPr>
              <a:t>09</a:t>
            </a:r>
          </a:p>
        </p:txBody>
      </p:sp>
      <p:sp>
        <p:nvSpPr>
          <p:cNvPr id="6" name="opening-9">
            <a:extLst xmlns:a="http://schemas.openxmlformats.org/drawingml/2006/main">
              <a:ext uri="{FF2B5EF4-FFF2-40B4-BE49-F238E27FC236}">
                <a16:creationId xmlns:a16="http://schemas.microsoft.com/office/drawing/2014/main" id="{78766DB1-70E1-4900-83E1-304C56EC2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695450"/>
            <a:ext cx="876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</a:defRPr>
            </a:pPr>
            <a:r>
              <a:rPr sz="2400" b="1">
                <a:solidFill>
                  <a:srgbClr val="111111"/>
                </a:solidFill>
              </a:rPr>
              <a:t>Evaluating [TOPIC] requires balanced consideration of the available evidence, the people affected and the likely long-term consequences.</a:t>
            </a:r>
          </a:p>
        </p:txBody>
      </p:sp>
      <p:sp>
        <p:nvSpPr>
          <p:cNvPr id="7" name="model-panel-9">
            <a:extLst xmlns:a="http://schemas.openxmlformats.org/drawingml/2006/main">
              <a:ext uri="{FF2B5EF4-FFF2-40B4-BE49-F238E27FC236}">
                <a16:creationId xmlns:a16="http://schemas.microsoft.com/office/drawing/2014/main" id="{F9146D22-5384-4405-BFD6-C003D9096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52850"/>
            <a:ext cx="10382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8" name="text-94-421">
            <a:extLst xmlns:a="http://schemas.openxmlformats.org/drawingml/2006/main">
              <a:ext uri="{FF2B5EF4-FFF2-40B4-BE49-F238E27FC236}">
                <a16:creationId xmlns:a16="http://schemas.microsoft.com/office/drawing/2014/main" id="{916CD757-A3F3-4EA6-B8FE-A62AC3D14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1002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</a:defRPr>
            </a:pPr>
            <a:r>
              <a:rPr sz="1125" b="1">
                <a:solidFill>
                  <a:srgbClr val="3D8DFF"/>
                </a:solidFill>
              </a:rPr>
              <a:t>MODEL</a:t>
            </a:r>
          </a:p>
        </p:txBody>
      </p:sp>
      <p:sp>
        <p:nvSpPr>
          <p:cNvPr id="9" name="text-214-416">
            <a:extLst xmlns:a="http://schemas.openxmlformats.org/drawingml/2006/main">
              <a:ext uri="{FF2B5EF4-FFF2-40B4-BE49-F238E27FC236}">
                <a16:creationId xmlns:a16="http://schemas.microsoft.com/office/drawing/2014/main" id="{A4D118B9-EAF3-4568-B466-ADC0CDC57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962400"/>
            <a:ext cx="8667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Evaluating restrictions on private vehicles requires balanced consideration of the available evidence, the people affected and the likely long-term consequences.</a:t>
            </a:r>
          </a:p>
        </p:txBody>
      </p:sp>
      <p:sp>
        <p:nvSpPr>
          <p:cNvPr id="10" name="text-70-578">
            <a:extLst xmlns:a="http://schemas.openxmlformats.org/drawingml/2006/main">
              <a:ext uri="{FF2B5EF4-FFF2-40B4-BE49-F238E27FC236}">
                <a16:creationId xmlns:a16="http://schemas.microsoft.com/office/drawing/2014/main" id="{4122D5D6-DACD-42E6-AFA3-7C96597D8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0545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673"/>
                </a:solidFill>
              </a:defRPr>
            </a:pPr>
            <a:r>
              <a:rPr sz="1350" b="0">
                <a:solidFill>
                  <a:srgbClr val="5E6673"/>
                </a:solidFill>
              </a:rPr>
              <a:t>Best for: Research, policy, regulation and problem-solution topics</a:t>
            </a:r>
          </a:p>
        </p:txBody>
      </p:sp>
    </p:spTree>
    <p:extLst>
      <p:ext uri="{BB962C8B-B14F-4D97-AF65-F5344CB8AC3E}">
        <p14:creationId xmlns:p14="http://schemas.microsoft.com/office/powerpoint/2010/main" val="166500816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eyebrow-16">
            <a:extLst xmlns:a="http://schemas.openxmlformats.org/drawingml/2006/main">
              <a:ext uri="{FF2B5EF4-FFF2-40B4-BE49-F238E27FC236}">
                <a16:creationId xmlns:a16="http://schemas.microsoft.com/office/drawing/2014/main" id="{1D28F7BD-5091-4F34-AF48-9B966BF42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REUSABLE OPENING</a:t>
            </a:r>
          </a:p>
        </p:txBody>
      </p:sp>
      <p:sp>
        <p:nvSpPr>
          <p:cNvPr id="2" name="title-16">
            <a:extLst xmlns:a="http://schemas.openxmlformats.org/drawingml/2006/main">
              <a:ext uri="{FF2B5EF4-FFF2-40B4-BE49-F238E27FC236}">
                <a16:creationId xmlns:a16="http://schemas.microsoft.com/office/drawing/2014/main" id="{41BAB4E5-35B9-49E1-BD3A-9CFB06AB7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</a:defRPr>
            </a:pPr>
            <a:r>
              <a:rPr sz="2925" b="1">
                <a:solidFill>
                  <a:srgbClr val="111111"/>
                </a:solidFill>
              </a:rPr>
              <a:t>Opening 10 — Values and progress</a:t>
            </a:r>
          </a:p>
        </p:txBody>
      </p:sp>
      <p:sp>
        <p:nvSpPr>
          <p:cNvPr id="3" name="rule-16">
            <a:extLst xmlns:a="http://schemas.openxmlformats.org/drawingml/2006/main">
              <a:ext uri="{FF2B5EF4-FFF2-40B4-BE49-F238E27FC236}">
                <a16:creationId xmlns:a16="http://schemas.microsoft.com/office/drawing/2014/main" id="{83B3F61C-7DAD-4E5A-B7A8-0F387B11D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page-16">
            <a:extLst xmlns:a="http://schemas.openxmlformats.org/drawingml/2006/main">
              <a:ext uri="{FF2B5EF4-FFF2-40B4-BE49-F238E27FC236}">
                <a16:creationId xmlns:a16="http://schemas.microsoft.com/office/drawing/2014/main" id="{98C41ACD-7E6B-44B0-83CA-3AA9046C7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9127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673"/>
                </a:solidFill>
              </a:defRPr>
            </a:pPr>
            <a:r>
              <a:rPr sz="1050" b="0">
                <a:solidFill>
                  <a:srgbClr val="5E6673"/>
                </a:solidFill>
              </a:rPr>
              <a:t>16</a:t>
            </a:r>
          </a:p>
        </p:txBody>
      </p:sp>
      <p:sp>
        <p:nvSpPr>
          <p:cNvPr id="5" name="number-box-10">
            <a:extLst xmlns:a="http://schemas.openxmlformats.org/drawingml/2006/main">
              <a:ext uri="{FF2B5EF4-FFF2-40B4-BE49-F238E27FC236}">
                <a16:creationId xmlns:a16="http://schemas.microsoft.com/office/drawing/2014/main" id="{C04F9F02-2A3F-45FE-8FF1-E3C81FFAF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47850"/>
            <a:ext cx="781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6" name="number-10">
            <a:extLst xmlns:a="http://schemas.openxmlformats.org/drawingml/2006/main">
              <a:ext uri="{FF2B5EF4-FFF2-40B4-BE49-F238E27FC236}">
                <a16:creationId xmlns:a16="http://schemas.microsoft.com/office/drawing/2014/main" id="{CE03269D-20BD-4160-A476-1CA63B887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24050"/>
            <a:ext cx="781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7" name="opening-10">
            <a:extLst xmlns:a="http://schemas.openxmlformats.org/drawingml/2006/main">
              <a:ext uri="{FF2B5EF4-FFF2-40B4-BE49-F238E27FC236}">
                <a16:creationId xmlns:a16="http://schemas.microsoft.com/office/drawing/2014/main" id="{73F6F687-C08A-4342-8CD7-D28AB732C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809750"/>
            <a:ext cx="96202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11111"/>
                </a:solidFill>
              </a:defRPr>
            </a:pPr>
            <a:r>
              <a:rPr sz="2475" b="1">
                <a:solidFill>
                  <a:srgbClr val="111111"/>
                </a:solidFill>
              </a:rPr>
              <a:t>[TOPIC] has attracted substantial attention because its consequences extend beyond immediate convenience to wider questions of responsibility, equality and sustainable progress.</a:t>
            </a:r>
          </a:p>
        </p:txBody>
      </p:sp>
      <p:sp>
        <p:nvSpPr>
          <p:cNvPr id="8" name="rect-68-410">
            <a:extLst xmlns:a="http://schemas.openxmlformats.org/drawingml/2006/main">
              <a:ext uri="{FF2B5EF4-FFF2-40B4-BE49-F238E27FC236}">
                <a16:creationId xmlns:a16="http://schemas.microsoft.com/office/drawing/2014/main" id="{AFA0CC23-7CC0-4B1A-90A8-52CEAF143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05250"/>
            <a:ext cx="10725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9" name="text-68-444">
            <a:extLst xmlns:a="http://schemas.openxmlformats.org/drawingml/2006/main">
              <a:ext uri="{FF2B5EF4-FFF2-40B4-BE49-F238E27FC236}">
                <a16:creationId xmlns:a16="http://schemas.microsoft.com/office/drawing/2014/main" id="{9EE759C7-3E3E-49C8-BADB-E3BA462AF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291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BEST FOR</a:t>
            </a:r>
          </a:p>
        </p:txBody>
      </p:sp>
      <p:sp>
        <p:nvSpPr>
          <p:cNvPr id="10" name="text-68-476">
            <a:extLst xmlns:a="http://schemas.openxmlformats.org/drawingml/2006/main">
              <a:ext uri="{FF2B5EF4-FFF2-40B4-BE49-F238E27FC236}">
                <a16:creationId xmlns:a16="http://schemas.microsoft.com/office/drawing/2014/main" id="{0CACF4C6-2291-4745-B7B9-325C0F5F2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33900"/>
            <a:ext cx="342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Environment, society, public responsibility and development</a:t>
            </a:r>
          </a:p>
        </p:txBody>
      </p:sp>
      <p:sp>
        <p:nvSpPr>
          <p:cNvPr id="11" name="text-506-444">
            <a:extLst xmlns:a="http://schemas.openxmlformats.org/drawingml/2006/main">
              <a:ext uri="{FF2B5EF4-FFF2-40B4-BE49-F238E27FC236}">
                <a16:creationId xmlns:a16="http://schemas.microsoft.com/office/drawing/2014/main" id="{C7A937B9-0DCA-4178-9F87-13B26A77E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2291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MODEL USE</a:t>
            </a:r>
          </a:p>
        </p:txBody>
      </p:sp>
      <p:sp>
        <p:nvSpPr>
          <p:cNvPr id="12" name="text-506-476">
            <a:extLst xmlns:a="http://schemas.openxmlformats.org/drawingml/2006/main">
              <a:ext uri="{FF2B5EF4-FFF2-40B4-BE49-F238E27FC236}">
                <a16:creationId xmlns:a16="http://schemas.microsoft.com/office/drawing/2014/main" id="{8A407156-7845-4BFB-89A8-3EEC03EE9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533900"/>
            <a:ext cx="65532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The transition to renewable energy has attracted substantial attention because its consequences extend beyond immediate convenience to wider questions of responsibility, equality and sustainable progress.</a:t>
            </a:r>
          </a:p>
        </p:txBody>
      </p:sp>
    </p:spTree>
    <p:extLst>
      <p:ext uri="{BB962C8B-B14F-4D97-AF65-F5344CB8AC3E}">
        <p14:creationId xmlns:p14="http://schemas.microsoft.com/office/powerpoint/2010/main" val="139919751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eyebrow-17">
            <a:extLst xmlns:a="http://schemas.openxmlformats.org/drawingml/2006/main">
              <a:ext uri="{FF2B5EF4-FFF2-40B4-BE49-F238E27FC236}">
                <a16:creationId xmlns:a16="http://schemas.microsoft.com/office/drawing/2014/main" id="{274FEE56-2A99-4BD7-94E5-B8A0CF13D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SELECTION GUIDE</a:t>
            </a:r>
          </a:p>
        </p:txBody>
      </p:sp>
      <p:sp>
        <p:nvSpPr>
          <p:cNvPr id="2" name="title-17">
            <a:extLst xmlns:a="http://schemas.openxmlformats.org/drawingml/2006/main">
              <a:ext uri="{FF2B5EF4-FFF2-40B4-BE49-F238E27FC236}">
                <a16:creationId xmlns:a16="http://schemas.microsoft.com/office/drawing/2014/main" id="{69FEAA3C-469B-4A0A-947B-987DF3C07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</a:defRPr>
            </a:pPr>
            <a:r>
              <a:rPr sz="2925" b="1">
                <a:solidFill>
                  <a:srgbClr val="111111"/>
                </a:solidFill>
              </a:rPr>
              <a:t>Choose the opener that matches the logic of the question</a:t>
            </a:r>
          </a:p>
        </p:txBody>
      </p:sp>
      <p:sp>
        <p:nvSpPr>
          <p:cNvPr id="3" name="rule-17">
            <a:extLst xmlns:a="http://schemas.openxmlformats.org/drawingml/2006/main">
              <a:ext uri="{FF2B5EF4-FFF2-40B4-BE49-F238E27FC236}">
                <a16:creationId xmlns:a16="http://schemas.microsoft.com/office/drawing/2014/main" id="{7F74DB0C-EC50-45E0-91A7-38BC1849A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page-17">
            <a:extLst xmlns:a="http://schemas.openxmlformats.org/drawingml/2006/main">
              <a:ext uri="{FF2B5EF4-FFF2-40B4-BE49-F238E27FC236}">
                <a16:creationId xmlns:a16="http://schemas.microsoft.com/office/drawing/2014/main" id="{9C6C8A0B-5AFC-4F06-B0FF-4D4776B53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9127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673"/>
                </a:solidFill>
              </a:defRPr>
            </a:pPr>
            <a:r>
              <a:rPr sz="1050" b="0">
                <a:solidFill>
                  <a:srgbClr val="5E6673"/>
                </a:solidFill>
              </a:rPr>
              <a:t>17</a:t>
            </a:r>
          </a:p>
        </p:txBody>
      </p:sp>
      <p:sp>
        <p:nvSpPr>
          <p:cNvPr id="5" name="text-70-194">
            <a:extLst xmlns:a="http://schemas.openxmlformats.org/drawingml/2006/main">
              <a:ext uri="{FF2B5EF4-FFF2-40B4-BE49-F238E27FC236}">
                <a16:creationId xmlns:a16="http://schemas.microsoft.com/office/drawing/2014/main" id="{A37D2D91-1466-4A0C-A829-08CE1B725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4785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</a:defRPr>
            </a:pPr>
            <a:r>
              <a:rPr sz="1125" b="1">
                <a:solidFill>
                  <a:srgbClr val="3D8DFF"/>
                </a:solidFill>
              </a:rPr>
              <a:t>ALL-PURPOSE</a:t>
            </a:r>
          </a:p>
        </p:txBody>
      </p:sp>
      <p:sp>
        <p:nvSpPr>
          <p:cNvPr id="6" name="text-70-229">
            <a:extLst xmlns:a="http://schemas.openxmlformats.org/drawingml/2006/main">
              <a:ext uri="{FF2B5EF4-FFF2-40B4-BE49-F238E27FC236}">
                <a16:creationId xmlns:a16="http://schemas.microsoft.com/office/drawing/2014/main" id="{09EC4FE4-7ABE-4618-8201-1C6637FD5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81225"/>
            <a:ext cx="114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7" name="text-202-234">
            <a:extLst xmlns:a="http://schemas.openxmlformats.org/drawingml/2006/main">
              <a:ext uri="{FF2B5EF4-FFF2-40B4-BE49-F238E27FC236}">
                <a16:creationId xmlns:a16="http://schemas.microsoft.com/office/drawing/2014/main" id="{1C564114-AE2B-4A66-A41E-2677B62ED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228850"/>
            <a:ext cx="3476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Broad impact</a:t>
            </a:r>
          </a:p>
        </p:txBody>
      </p:sp>
      <p:sp>
        <p:nvSpPr>
          <p:cNvPr id="8" name="rect-70-306">
            <a:extLst xmlns:a="http://schemas.openxmlformats.org/drawingml/2006/main">
              <a:ext uri="{FF2B5EF4-FFF2-40B4-BE49-F238E27FC236}">
                <a16:creationId xmlns:a16="http://schemas.microsoft.com/office/drawing/2014/main" id="{5A378FCF-26B2-4940-A6B7-F6503CF48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1465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9" name="text-630-194">
            <a:extLst xmlns:a="http://schemas.openxmlformats.org/drawingml/2006/main">
              <a:ext uri="{FF2B5EF4-FFF2-40B4-BE49-F238E27FC236}">
                <a16:creationId xmlns:a16="http://schemas.microsoft.com/office/drawing/2014/main" id="{B9CB642F-0CDD-4DEB-827D-E7ECF037D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84785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</a:defRPr>
            </a:pPr>
            <a:r>
              <a:rPr sz="1125" b="1">
                <a:solidFill>
                  <a:srgbClr val="3D8DFF"/>
                </a:solidFill>
              </a:rPr>
              <a:t>TECH &amp; CHANGE</a:t>
            </a:r>
          </a:p>
        </p:txBody>
      </p:sp>
      <p:sp>
        <p:nvSpPr>
          <p:cNvPr id="10" name="text-630-229">
            <a:extLst xmlns:a="http://schemas.openxmlformats.org/drawingml/2006/main">
              <a:ext uri="{FF2B5EF4-FFF2-40B4-BE49-F238E27FC236}">
                <a16:creationId xmlns:a16="http://schemas.microsoft.com/office/drawing/2014/main" id="{ED0745B7-D313-429C-90FF-61549D4E8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181225"/>
            <a:ext cx="114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2 or 8</a:t>
            </a:r>
          </a:p>
        </p:txBody>
      </p:sp>
      <p:sp>
        <p:nvSpPr>
          <p:cNvPr id="11" name="text-762-234">
            <a:extLst xmlns:a="http://schemas.openxmlformats.org/drawingml/2006/main">
              <a:ext uri="{FF2B5EF4-FFF2-40B4-BE49-F238E27FC236}">
                <a16:creationId xmlns:a16="http://schemas.microsoft.com/office/drawing/2014/main" id="{5436C663-FBF1-401D-89B1-7572D2FAC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228850"/>
            <a:ext cx="3476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Growth / visible consequences</a:t>
            </a:r>
          </a:p>
        </p:txBody>
      </p:sp>
      <p:sp>
        <p:nvSpPr>
          <p:cNvPr id="12" name="rect-630-306">
            <a:extLst xmlns:a="http://schemas.openxmlformats.org/drawingml/2006/main">
              <a:ext uri="{FF2B5EF4-FFF2-40B4-BE49-F238E27FC236}">
                <a16:creationId xmlns:a16="http://schemas.microsoft.com/office/drawing/2014/main" id="{79765275-7917-4567-8175-9B670B8FA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91465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3" name="text-70-332">
            <a:extLst xmlns:a="http://schemas.openxmlformats.org/drawingml/2006/main">
              <a:ext uri="{FF2B5EF4-FFF2-40B4-BE49-F238E27FC236}">
                <a16:creationId xmlns:a16="http://schemas.microsoft.com/office/drawing/2014/main" id="{E73CCAC8-2563-4688-A00D-3E0A713AC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623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</a:defRPr>
            </a:pPr>
            <a:r>
              <a:rPr sz="1125" b="1">
                <a:solidFill>
                  <a:srgbClr val="3D8DFF"/>
                </a:solidFill>
              </a:rPr>
              <a:t>TWO-SIDED DEBATE</a:t>
            </a:r>
          </a:p>
        </p:txBody>
      </p:sp>
      <p:sp>
        <p:nvSpPr>
          <p:cNvPr id="14" name="text-70-367">
            <a:extLst xmlns:a="http://schemas.openxmlformats.org/drawingml/2006/main">
              <a:ext uri="{FF2B5EF4-FFF2-40B4-BE49-F238E27FC236}">
                <a16:creationId xmlns:a16="http://schemas.microsoft.com/office/drawing/2014/main" id="{46BB3AED-104A-42F8-AA72-06315C310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95675"/>
            <a:ext cx="114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3 or 4</a:t>
            </a:r>
          </a:p>
        </p:txBody>
      </p:sp>
      <p:sp>
        <p:nvSpPr>
          <p:cNvPr id="15" name="text-202-372">
            <a:extLst xmlns:a="http://schemas.openxmlformats.org/drawingml/2006/main">
              <a:ext uri="{FF2B5EF4-FFF2-40B4-BE49-F238E27FC236}">
                <a16:creationId xmlns:a16="http://schemas.microsoft.com/office/drawing/2014/main" id="{617F0FA9-D186-42E7-B323-22612893F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543300"/>
            <a:ext cx="3476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Contention / benefits vs risks</a:t>
            </a:r>
          </a:p>
        </p:txBody>
      </p:sp>
      <p:sp>
        <p:nvSpPr>
          <p:cNvPr id="16" name="rect-70-444">
            <a:extLst xmlns:a="http://schemas.openxmlformats.org/drawingml/2006/main">
              <a:ext uri="{FF2B5EF4-FFF2-40B4-BE49-F238E27FC236}">
                <a16:creationId xmlns:a16="http://schemas.microsoft.com/office/drawing/2014/main" id="{0411D00D-7308-4799-B153-A5242122A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2910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7" name="text-630-332">
            <a:extLst xmlns:a="http://schemas.openxmlformats.org/drawingml/2006/main">
              <a:ext uri="{FF2B5EF4-FFF2-40B4-BE49-F238E27FC236}">
                <a16:creationId xmlns:a16="http://schemas.microsoft.com/office/drawing/2014/main" id="{60A1240F-F00C-481D-A007-34389E81B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1623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</a:defRPr>
            </a:pPr>
            <a:r>
              <a:rPr sz="1125" b="1">
                <a:solidFill>
                  <a:srgbClr val="3D8DFF"/>
                </a:solidFill>
              </a:rPr>
              <a:t>POLICY &amp; EVIDENCE</a:t>
            </a:r>
          </a:p>
        </p:txBody>
      </p:sp>
      <p:sp>
        <p:nvSpPr>
          <p:cNvPr id="18" name="text-630-367">
            <a:extLst xmlns:a="http://schemas.openxmlformats.org/drawingml/2006/main">
              <a:ext uri="{FF2B5EF4-FFF2-40B4-BE49-F238E27FC236}">
                <a16:creationId xmlns:a16="http://schemas.microsoft.com/office/drawing/2014/main" id="{BDC71E7F-8251-4770-AEB2-8447AD5A7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495675"/>
            <a:ext cx="114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5, 6 or 9</a:t>
            </a:r>
          </a:p>
        </p:txBody>
      </p:sp>
      <p:sp>
        <p:nvSpPr>
          <p:cNvPr id="19" name="text-762-372">
            <a:extLst xmlns:a="http://schemas.openxmlformats.org/drawingml/2006/main">
              <a:ext uri="{FF2B5EF4-FFF2-40B4-BE49-F238E27FC236}">
                <a16:creationId xmlns:a16="http://schemas.microsoft.com/office/drawing/2014/main" id="{D47168F7-B519-4DB5-9526-34E63150D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543300"/>
            <a:ext cx="3476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Fairness / impact / evidence</a:t>
            </a:r>
          </a:p>
        </p:txBody>
      </p:sp>
      <p:sp>
        <p:nvSpPr>
          <p:cNvPr id="20" name="rect-630-444">
            <a:extLst xmlns:a="http://schemas.openxmlformats.org/drawingml/2006/main">
              <a:ext uri="{FF2B5EF4-FFF2-40B4-BE49-F238E27FC236}">
                <a16:creationId xmlns:a16="http://schemas.microsoft.com/office/drawing/2014/main" id="{1EDDCA6B-D4FB-4850-9C9F-6B26E1CDF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22910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1" name="text-70-470">
            <a:extLst xmlns:a="http://schemas.openxmlformats.org/drawingml/2006/main">
              <a:ext uri="{FF2B5EF4-FFF2-40B4-BE49-F238E27FC236}">
                <a16:creationId xmlns:a16="http://schemas.microsoft.com/office/drawing/2014/main" id="{4D0DC056-742F-4E46-8470-A46B06D3D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</a:defRPr>
            </a:pPr>
            <a:r>
              <a:rPr sz="1125" b="1">
                <a:solidFill>
                  <a:srgbClr val="3D8DFF"/>
                </a:solidFill>
              </a:rPr>
              <a:t>SCIENCE &amp; ETHICS</a:t>
            </a:r>
          </a:p>
        </p:txBody>
      </p:sp>
      <p:sp>
        <p:nvSpPr>
          <p:cNvPr id="22" name="text-70-505">
            <a:extLst xmlns:a="http://schemas.openxmlformats.org/drawingml/2006/main">
              <a:ext uri="{FF2B5EF4-FFF2-40B4-BE49-F238E27FC236}">
                <a16:creationId xmlns:a16="http://schemas.microsoft.com/office/drawing/2014/main" id="{8EF53A65-74BC-4BF0-9884-76BF77DD4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10125"/>
            <a:ext cx="114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7</a:t>
            </a:r>
          </a:p>
        </p:txBody>
      </p:sp>
      <p:sp>
        <p:nvSpPr>
          <p:cNvPr id="23" name="text-202-510">
            <a:extLst xmlns:a="http://schemas.openxmlformats.org/drawingml/2006/main">
              <a:ext uri="{FF2B5EF4-FFF2-40B4-BE49-F238E27FC236}">
                <a16:creationId xmlns:a16="http://schemas.microsoft.com/office/drawing/2014/main" id="{FA0587EA-F455-4625-8252-415095668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857750"/>
            <a:ext cx="3476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Multiple dimensions</a:t>
            </a:r>
          </a:p>
        </p:txBody>
      </p:sp>
      <p:sp>
        <p:nvSpPr>
          <p:cNvPr id="24" name="text-630-470">
            <a:extLst xmlns:a="http://schemas.openxmlformats.org/drawingml/2006/main">
              <a:ext uri="{FF2B5EF4-FFF2-40B4-BE49-F238E27FC236}">
                <a16:creationId xmlns:a16="http://schemas.microsoft.com/office/drawing/2014/main" id="{359C8BFF-9760-47F0-BBF1-6C9D74E60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7675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</a:defRPr>
            </a:pPr>
            <a:r>
              <a:rPr sz="1125" b="1">
                <a:solidFill>
                  <a:srgbClr val="3D8DFF"/>
                </a:solidFill>
              </a:rPr>
              <a:t>ENVIRONMENT &amp; SOCIETY</a:t>
            </a:r>
          </a:p>
        </p:txBody>
      </p:sp>
      <p:sp>
        <p:nvSpPr>
          <p:cNvPr id="25" name="text-630-505">
            <a:extLst xmlns:a="http://schemas.openxmlformats.org/drawingml/2006/main">
              <a:ext uri="{FF2B5EF4-FFF2-40B4-BE49-F238E27FC236}">
                <a16:creationId xmlns:a16="http://schemas.microsoft.com/office/drawing/2014/main" id="{196495ED-EAFA-4052-BED8-CD1296D66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810125"/>
            <a:ext cx="114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10</a:t>
            </a:r>
          </a:p>
        </p:txBody>
      </p:sp>
      <p:sp>
        <p:nvSpPr>
          <p:cNvPr id="26" name="text-762-510">
            <a:extLst xmlns:a="http://schemas.openxmlformats.org/drawingml/2006/main">
              <a:ext uri="{FF2B5EF4-FFF2-40B4-BE49-F238E27FC236}">
                <a16:creationId xmlns:a16="http://schemas.microsoft.com/office/drawing/2014/main" id="{6CA99796-FAB2-4BB4-A68F-0721CBF17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857750"/>
            <a:ext cx="3476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Responsibility and progress</a:t>
            </a:r>
          </a:p>
        </p:txBody>
      </p:sp>
    </p:spTree>
    <p:extLst>
      <p:ext uri="{BB962C8B-B14F-4D97-AF65-F5344CB8AC3E}">
        <p14:creationId xmlns:p14="http://schemas.microsoft.com/office/powerpoint/2010/main" val="19778375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eyebrow-18">
            <a:extLst xmlns:a="http://schemas.openxmlformats.org/drawingml/2006/main">
              <a:ext uri="{FF2B5EF4-FFF2-40B4-BE49-F238E27FC236}">
                <a16:creationId xmlns:a16="http://schemas.microsoft.com/office/drawing/2014/main" id="{6BB85255-AE44-4468-95E9-7E479F830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WORKED EXAMPLE</a:t>
            </a:r>
          </a:p>
        </p:txBody>
      </p:sp>
      <p:sp>
        <p:nvSpPr>
          <p:cNvPr id="2" name="title-18">
            <a:extLst xmlns:a="http://schemas.openxmlformats.org/drawingml/2006/main">
              <a:ext uri="{FF2B5EF4-FFF2-40B4-BE49-F238E27FC236}">
                <a16:creationId xmlns:a16="http://schemas.microsoft.com/office/drawing/2014/main" id="{5122E13F-AD47-4456-B134-2166BF7B0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</a:defRPr>
            </a:pPr>
            <a:r>
              <a:rPr sz="2925" b="1">
                <a:solidFill>
                  <a:srgbClr val="111111"/>
                </a:solidFill>
              </a:rPr>
              <a:t>A specific thesis completes the introduction</a:t>
            </a:r>
          </a:p>
        </p:txBody>
      </p:sp>
      <p:sp>
        <p:nvSpPr>
          <p:cNvPr id="3" name="rule-18">
            <a:extLst xmlns:a="http://schemas.openxmlformats.org/drawingml/2006/main">
              <a:ext uri="{FF2B5EF4-FFF2-40B4-BE49-F238E27FC236}">
                <a16:creationId xmlns:a16="http://schemas.microsoft.com/office/drawing/2014/main" id="{45A1A9CC-CAAB-4A0F-BE98-DC2DE9115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page-18">
            <a:extLst xmlns:a="http://schemas.openxmlformats.org/drawingml/2006/main">
              <a:ext uri="{FF2B5EF4-FFF2-40B4-BE49-F238E27FC236}">
                <a16:creationId xmlns:a16="http://schemas.microsoft.com/office/drawing/2014/main" id="{3BEBB37D-DFBF-443D-8CBA-B375D045E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9127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673"/>
                </a:solidFill>
              </a:defRPr>
            </a:pPr>
            <a:r>
              <a:rPr sz="1050" b="0">
                <a:solidFill>
                  <a:srgbClr val="5E6673"/>
                </a:solidFill>
              </a:rPr>
              <a:t>18</a:t>
            </a:r>
          </a:p>
        </p:txBody>
      </p:sp>
      <p:sp>
        <p:nvSpPr>
          <p:cNvPr id="5" name="text-70-190">
            <a:extLst xmlns:a="http://schemas.openxmlformats.org/drawingml/2006/main">
              <a:ext uri="{FF2B5EF4-FFF2-40B4-BE49-F238E27FC236}">
                <a16:creationId xmlns:a16="http://schemas.microsoft.com/office/drawing/2014/main" id="{02865D46-2518-45A2-85DF-6658DA8B5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</a:defRPr>
            </a:pPr>
            <a:r>
              <a:rPr sz="1125" b="1">
                <a:solidFill>
                  <a:srgbClr val="3D8DFF"/>
                </a:solidFill>
              </a:rPr>
              <a:t>PROMPT</a:t>
            </a:r>
          </a:p>
        </p:txBody>
      </p:sp>
      <p:sp>
        <p:nvSpPr>
          <p:cNvPr id="6" name="text-70-224">
            <a:extLst xmlns:a="http://schemas.openxmlformats.org/drawingml/2006/main">
              <a:ext uri="{FF2B5EF4-FFF2-40B4-BE49-F238E27FC236}">
                <a16:creationId xmlns:a16="http://schemas.microsoft.com/office/drawing/2014/main" id="{AB63C38E-EF84-4258-9C4B-33975A463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33600"/>
            <a:ext cx="1038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Artificial intelligence should be used in classrooms. To what extent do you agree?</a:t>
            </a:r>
          </a:p>
        </p:txBody>
      </p:sp>
      <p:sp>
        <p:nvSpPr>
          <p:cNvPr id="7" name="rect-70-324">
            <a:extLst xmlns:a="http://schemas.openxmlformats.org/drawingml/2006/main">
              <a:ext uri="{FF2B5EF4-FFF2-40B4-BE49-F238E27FC236}">
                <a16:creationId xmlns:a16="http://schemas.microsoft.com/office/drawing/2014/main" id="{62AD116E-1495-4D60-9708-0933D7E46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86100"/>
            <a:ext cx="1038225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9"/>
          </a:solidFill>
          <a:ln xmlns:a="http://schemas.openxmlformats.org/drawingml/2006/main" w="0">
            <a:solidFill>
              <a:srgbClr val="F5F7F9"/>
            </a:solidFill>
            <a:prstDash val="solid"/>
          </a:ln>
        </p:spPr>
      </p:sp>
      <p:sp>
        <p:nvSpPr>
          <p:cNvPr id="8" name="text-94-350">
            <a:extLst xmlns:a="http://schemas.openxmlformats.org/drawingml/2006/main">
              <a:ext uri="{FF2B5EF4-FFF2-40B4-BE49-F238E27FC236}">
                <a16:creationId xmlns:a16="http://schemas.microsoft.com/office/drawing/2014/main" id="{6EDA87AC-B827-4A79-A609-A785289A9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337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</a:defRPr>
            </a:pPr>
            <a:r>
              <a:rPr sz="1125" b="1">
                <a:solidFill>
                  <a:srgbClr val="3D8DFF"/>
                </a:solidFill>
              </a:rPr>
              <a:t>OPENING</a:t>
            </a:r>
          </a:p>
        </p:txBody>
      </p:sp>
      <p:sp>
        <p:nvSpPr>
          <p:cNvPr id="9" name="text-214-344">
            <a:extLst xmlns:a="http://schemas.openxmlformats.org/drawingml/2006/main">
              <a:ext uri="{FF2B5EF4-FFF2-40B4-BE49-F238E27FC236}">
                <a16:creationId xmlns:a16="http://schemas.microsoft.com/office/drawing/2014/main" id="{D02B6FAF-49B6-44BB-A017-BF55E8992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276600"/>
            <a:ext cx="857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The use of artificial intelligence in classrooms has become a significant subject of public and academic debate because of its far-reaching consequences for learners and teachers.</a:t>
            </a:r>
          </a:p>
        </p:txBody>
      </p:sp>
      <p:sp>
        <p:nvSpPr>
          <p:cNvPr id="10" name="text-94-446">
            <a:extLst xmlns:a="http://schemas.openxmlformats.org/drawingml/2006/main">
              <a:ext uri="{FF2B5EF4-FFF2-40B4-BE49-F238E27FC236}">
                <a16:creationId xmlns:a16="http://schemas.microsoft.com/office/drawing/2014/main" id="{BF24CD3B-AEDF-4D22-8E14-44967CE1D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481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</a:defRPr>
            </a:pPr>
            <a:r>
              <a:rPr sz="1125" b="1">
                <a:solidFill>
                  <a:srgbClr val="3D8DFF"/>
                </a:solidFill>
              </a:rPr>
              <a:t>THESIS</a:t>
            </a:r>
          </a:p>
        </p:txBody>
      </p:sp>
      <p:sp>
        <p:nvSpPr>
          <p:cNvPr id="11" name="text-214-438">
            <a:extLst xmlns:a="http://schemas.openxmlformats.org/drawingml/2006/main">
              <a:ext uri="{FF2B5EF4-FFF2-40B4-BE49-F238E27FC236}">
                <a16:creationId xmlns:a16="http://schemas.microsoft.com/office/drawing/2014/main" id="{D6C839F4-797D-4532-A406-97AE5B8A4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171950"/>
            <a:ext cx="8572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Having considered both perspectives, I agree that AI should support classroom instruction because it can provide personalised feedback and reduce teachers’ routine workload.</a:t>
            </a:r>
          </a:p>
        </p:txBody>
      </p:sp>
      <p:sp>
        <p:nvSpPr>
          <p:cNvPr id="12" name="text-70-576">
            <a:extLst xmlns:a="http://schemas.openxmlformats.org/drawingml/2006/main">
              <a:ext uri="{FF2B5EF4-FFF2-40B4-BE49-F238E27FC236}">
                <a16:creationId xmlns:a16="http://schemas.microsoft.com/office/drawing/2014/main" id="{9CA5EE05-575A-4926-BFD3-2F59D34EA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8640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57A55"/>
                </a:solidFill>
              </a:defRPr>
            </a:pPr>
            <a:r>
              <a:rPr sz="1500" b="1">
                <a:solidFill>
                  <a:srgbClr val="157A55"/>
                </a:solidFill>
              </a:rPr>
              <a:t>Two sentences · clear position · two body ideas</a:t>
            </a:r>
          </a:p>
        </p:txBody>
      </p:sp>
    </p:spTree>
    <p:extLst>
      <p:ext uri="{BB962C8B-B14F-4D97-AF65-F5344CB8AC3E}">
        <p14:creationId xmlns:p14="http://schemas.microsoft.com/office/powerpoint/2010/main" val="14597238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-19">
            <a:extLst xmlns:a="http://schemas.openxmlformats.org/drawingml/2006/main">
              <a:ext uri="{FF2B5EF4-FFF2-40B4-BE49-F238E27FC236}">
                <a16:creationId xmlns:a16="http://schemas.microsoft.com/office/drawing/2014/main" id="{19645F60-925A-4117-8FC7-03AACB3CD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GUIDED PRACTICE</a:t>
            </a:r>
          </a:p>
        </p:txBody>
      </p:sp>
      <p:sp>
        <p:nvSpPr>
          <p:cNvPr id="2" name="title-19">
            <a:extLst xmlns:a="http://schemas.openxmlformats.org/drawingml/2006/main">
              <a:ext uri="{FF2B5EF4-FFF2-40B4-BE49-F238E27FC236}">
                <a16:creationId xmlns:a16="http://schemas.microsoft.com/office/drawing/2014/main" id="{D958181F-4E71-4F84-BB6A-7BC6D0310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</a:defRPr>
            </a:pPr>
            <a:r>
              <a:rPr sz="2925" b="1">
                <a:solidFill>
                  <a:srgbClr val="111111"/>
                </a:solidFill>
              </a:rPr>
              <a:t>Your turn: choose, paraphrase and take a position</a:t>
            </a:r>
          </a:p>
        </p:txBody>
      </p:sp>
      <p:sp>
        <p:nvSpPr>
          <p:cNvPr id="3" name="rule-19">
            <a:extLst xmlns:a="http://schemas.openxmlformats.org/drawingml/2006/main">
              <a:ext uri="{FF2B5EF4-FFF2-40B4-BE49-F238E27FC236}">
                <a16:creationId xmlns:a16="http://schemas.microsoft.com/office/drawing/2014/main" id="{3E2F21BC-78CE-4D19-834D-30D90E428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page-19">
            <a:extLst xmlns:a="http://schemas.openxmlformats.org/drawingml/2006/main">
              <a:ext uri="{FF2B5EF4-FFF2-40B4-BE49-F238E27FC236}">
                <a16:creationId xmlns:a16="http://schemas.microsoft.com/office/drawing/2014/main" id="{69E5C00F-0539-4544-978D-9C3794EA8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9127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673"/>
                </a:solidFill>
              </a:defRPr>
            </a:pPr>
            <a:r>
              <a:rPr sz="1050" b="0">
                <a:solidFill>
                  <a:srgbClr val="5E6673"/>
                </a:solidFill>
              </a:rPr>
              <a:t>19</a:t>
            </a:r>
          </a:p>
        </p:txBody>
      </p:sp>
      <p:sp>
        <p:nvSpPr>
          <p:cNvPr id="5" name="text-70-190">
            <a:extLst xmlns:a="http://schemas.openxmlformats.org/drawingml/2006/main">
              <a:ext uri="{FF2B5EF4-FFF2-40B4-BE49-F238E27FC236}">
                <a16:creationId xmlns:a16="http://schemas.microsoft.com/office/drawing/2014/main" id="{F6EFE269-9234-40D3-86B9-6AF995B63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533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8DFF"/>
                </a:solidFill>
              </a:defRPr>
            </a:pPr>
            <a:r>
              <a:rPr sz="2400" b="1">
                <a:solidFill>
                  <a:srgbClr val="3D8DFF"/>
                </a:solidFill>
              </a:rPr>
              <a:t>A</a:t>
            </a:r>
          </a:p>
        </p:txBody>
      </p:sp>
      <p:sp>
        <p:nvSpPr>
          <p:cNvPr id="6" name="text-154-190">
            <a:extLst xmlns:a="http://schemas.openxmlformats.org/drawingml/2006/main">
              <a:ext uri="{FF2B5EF4-FFF2-40B4-BE49-F238E27FC236}">
                <a16:creationId xmlns:a16="http://schemas.microsoft.com/office/drawing/2014/main" id="{D4773C9B-FAA5-48DA-9C73-BC13AB882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80975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Public transportation should be free for everyone.</a:t>
            </a:r>
          </a:p>
        </p:txBody>
      </p:sp>
      <p:sp>
        <p:nvSpPr>
          <p:cNvPr id="7" name="text-962-196">
            <a:extLst xmlns:a="http://schemas.openxmlformats.org/drawingml/2006/main">
              <a:ext uri="{FF2B5EF4-FFF2-40B4-BE49-F238E27FC236}">
                <a16:creationId xmlns:a16="http://schemas.microsoft.com/office/drawing/2014/main" id="{523689B6-3B57-41B4-A7E0-C860244AF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866900"/>
            <a:ext cx="188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E6673"/>
                </a:solidFill>
              </a:defRPr>
            </a:pPr>
            <a:r>
              <a:rPr sz="1350" b="0">
                <a:solidFill>
                  <a:srgbClr val="5E6673"/>
                </a:solidFill>
              </a:rPr>
              <a:t>Opening no. ____</a:t>
            </a:r>
          </a:p>
        </p:txBody>
      </p:sp>
      <p:sp>
        <p:nvSpPr>
          <p:cNvPr id="8" name="rect-154-264">
            <a:extLst xmlns:a="http://schemas.openxmlformats.org/drawingml/2006/main">
              <a:ext uri="{FF2B5EF4-FFF2-40B4-BE49-F238E27FC236}">
                <a16:creationId xmlns:a16="http://schemas.microsoft.com/office/drawing/2014/main" id="{3A0C18B9-9DFE-4EFB-9D51-BA6B72496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514600"/>
            <a:ext cx="9582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9" name="text-70-318">
            <a:extLst xmlns:a="http://schemas.openxmlformats.org/drawingml/2006/main">
              <a:ext uri="{FF2B5EF4-FFF2-40B4-BE49-F238E27FC236}">
                <a16:creationId xmlns:a16="http://schemas.microsoft.com/office/drawing/2014/main" id="{346E7197-AC91-4D2E-B362-FB29C322D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28950"/>
            <a:ext cx="533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8DFF"/>
                </a:solidFill>
              </a:defRPr>
            </a:pPr>
            <a:r>
              <a:rPr sz="2400" b="1">
                <a:solidFill>
                  <a:srgbClr val="3D8DFF"/>
                </a:solidFill>
              </a:rPr>
              <a:t>B</a:t>
            </a:r>
          </a:p>
        </p:txBody>
      </p:sp>
      <p:sp>
        <p:nvSpPr>
          <p:cNvPr id="10" name="text-154-318">
            <a:extLst xmlns:a="http://schemas.openxmlformats.org/drawingml/2006/main">
              <a:ext uri="{FF2B5EF4-FFF2-40B4-BE49-F238E27FC236}">
                <a16:creationId xmlns:a16="http://schemas.microsoft.com/office/drawing/2014/main" id="{FE5AD7D4-370A-4510-B6A9-1B215A2E9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02895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Scientific research should receive more government funding.</a:t>
            </a:r>
          </a:p>
        </p:txBody>
      </p:sp>
      <p:sp>
        <p:nvSpPr>
          <p:cNvPr id="11" name="text-962-324">
            <a:extLst xmlns:a="http://schemas.openxmlformats.org/drawingml/2006/main">
              <a:ext uri="{FF2B5EF4-FFF2-40B4-BE49-F238E27FC236}">
                <a16:creationId xmlns:a16="http://schemas.microsoft.com/office/drawing/2014/main" id="{D0B1B547-420B-4C5D-AA71-E0EEA79D8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086100"/>
            <a:ext cx="188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E6673"/>
                </a:solidFill>
              </a:defRPr>
            </a:pPr>
            <a:r>
              <a:rPr sz="1350" b="0">
                <a:solidFill>
                  <a:srgbClr val="5E6673"/>
                </a:solidFill>
              </a:rPr>
              <a:t>Opening no. ____</a:t>
            </a:r>
          </a:p>
        </p:txBody>
      </p:sp>
      <p:sp>
        <p:nvSpPr>
          <p:cNvPr id="12" name="rect-154-392">
            <a:extLst xmlns:a="http://schemas.openxmlformats.org/drawingml/2006/main">
              <a:ext uri="{FF2B5EF4-FFF2-40B4-BE49-F238E27FC236}">
                <a16:creationId xmlns:a16="http://schemas.microsoft.com/office/drawing/2014/main" id="{069E68D4-BFE5-4A23-9FE0-CC7B80B9A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733800"/>
            <a:ext cx="9582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3" name="text-70-446">
            <a:extLst xmlns:a="http://schemas.openxmlformats.org/drawingml/2006/main">
              <a:ext uri="{FF2B5EF4-FFF2-40B4-BE49-F238E27FC236}">
                <a16:creationId xmlns:a16="http://schemas.microsoft.com/office/drawing/2014/main" id="{739DC1E7-3B1A-4837-8089-53E0F7CEE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48150"/>
            <a:ext cx="533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8DFF"/>
                </a:solidFill>
              </a:defRPr>
            </a:pPr>
            <a:r>
              <a:rPr sz="2400" b="1">
                <a:solidFill>
                  <a:srgbClr val="3D8DFF"/>
                </a:solidFill>
              </a:rPr>
              <a:t>C</a:t>
            </a:r>
          </a:p>
        </p:txBody>
      </p:sp>
      <p:sp>
        <p:nvSpPr>
          <p:cNvPr id="14" name="text-154-446">
            <a:extLst xmlns:a="http://schemas.openxmlformats.org/drawingml/2006/main">
              <a:ext uri="{FF2B5EF4-FFF2-40B4-BE49-F238E27FC236}">
                <a16:creationId xmlns:a16="http://schemas.microsoft.com/office/drawing/2014/main" id="{DAD7178C-3343-4746-9D18-7F98A1C68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24815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Social media does more harm than good.</a:t>
            </a:r>
          </a:p>
        </p:txBody>
      </p:sp>
      <p:sp>
        <p:nvSpPr>
          <p:cNvPr id="15" name="text-962-452">
            <a:extLst xmlns:a="http://schemas.openxmlformats.org/drawingml/2006/main">
              <a:ext uri="{FF2B5EF4-FFF2-40B4-BE49-F238E27FC236}">
                <a16:creationId xmlns:a16="http://schemas.microsoft.com/office/drawing/2014/main" id="{B770BEF1-E6E3-477F-B4D9-0AA601C59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305300"/>
            <a:ext cx="188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E6673"/>
                </a:solidFill>
              </a:defRPr>
            </a:pPr>
            <a:r>
              <a:rPr sz="1350" b="0">
                <a:solidFill>
                  <a:srgbClr val="5E6673"/>
                </a:solidFill>
              </a:rPr>
              <a:t>Opening no. ____</a:t>
            </a:r>
          </a:p>
        </p:txBody>
      </p:sp>
      <p:sp>
        <p:nvSpPr>
          <p:cNvPr id="16" name="rect-154-520">
            <a:extLst xmlns:a="http://schemas.openxmlformats.org/drawingml/2006/main">
              <a:ext uri="{FF2B5EF4-FFF2-40B4-BE49-F238E27FC236}">
                <a16:creationId xmlns:a16="http://schemas.microsoft.com/office/drawing/2014/main" id="{89276C21-6D22-40D7-B84B-81F0A5223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953000"/>
            <a:ext cx="9582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7" name="rect-70-584">
            <a:extLst xmlns:a="http://schemas.openxmlformats.org/drawingml/2006/main">
              <a:ext uri="{FF2B5EF4-FFF2-40B4-BE49-F238E27FC236}">
                <a16:creationId xmlns:a16="http://schemas.microsoft.com/office/drawing/2014/main" id="{1A98CF26-BB25-4B3E-90F6-F90FD8E16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62600"/>
            <a:ext cx="10382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18" name="text-92-592">
            <a:extLst xmlns:a="http://schemas.openxmlformats.org/drawingml/2006/main">
              <a:ext uri="{FF2B5EF4-FFF2-40B4-BE49-F238E27FC236}">
                <a16:creationId xmlns:a16="http://schemas.microsoft.com/office/drawing/2014/main" id="{29892330-0251-464D-9792-B4B0F2075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38800"/>
            <a:ext cx="9963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Write two sentences: one opening + one thesis with two reasons.</a:t>
            </a:r>
          </a:p>
        </p:txBody>
      </p:sp>
    </p:spTree>
    <p:extLst>
      <p:ext uri="{BB962C8B-B14F-4D97-AF65-F5344CB8AC3E}">
        <p14:creationId xmlns:p14="http://schemas.microsoft.com/office/powerpoint/2010/main" val="6327372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eyebrow-20">
            <a:extLst xmlns:a="http://schemas.openxmlformats.org/drawingml/2006/main">
              <a:ext uri="{FF2B5EF4-FFF2-40B4-BE49-F238E27FC236}">
                <a16:creationId xmlns:a16="http://schemas.microsoft.com/office/drawing/2014/main" id="{9BAB8C6D-E6BB-4645-85D6-1BDABB5E0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ANSWER CHECK</a:t>
            </a:r>
          </a:p>
        </p:txBody>
      </p:sp>
      <p:sp>
        <p:nvSpPr>
          <p:cNvPr id="2" name="title-20">
            <a:extLst xmlns:a="http://schemas.openxmlformats.org/drawingml/2006/main">
              <a:ext uri="{FF2B5EF4-FFF2-40B4-BE49-F238E27FC236}">
                <a16:creationId xmlns:a16="http://schemas.microsoft.com/office/drawing/2014/main" id="{9BEDB8C3-F202-46CB-83B7-6611AEF9E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</a:defRPr>
            </a:pPr>
            <a:r>
              <a:rPr sz="2925" b="1">
                <a:solidFill>
                  <a:srgbClr val="111111"/>
                </a:solidFill>
              </a:rPr>
              <a:t>Model answers show that several openings can be correct</a:t>
            </a:r>
          </a:p>
        </p:txBody>
      </p:sp>
      <p:sp>
        <p:nvSpPr>
          <p:cNvPr id="3" name="rule-20">
            <a:extLst xmlns:a="http://schemas.openxmlformats.org/drawingml/2006/main">
              <a:ext uri="{FF2B5EF4-FFF2-40B4-BE49-F238E27FC236}">
                <a16:creationId xmlns:a16="http://schemas.microsoft.com/office/drawing/2014/main" id="{E92ACB77-3B0C-420F-A144-334A69FE2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page-20">
            <a:extLst xmlns:a="http://schemas.openxmlformats.org/drawingml/2006/main">
              <a:ext uri="{FF2B5EF4-FFF2-40B4-BE49-F238E27FC236}">
                <a16:creationId xmlns:a16="http://schemas.microsoft.com/office/drawing/2014/main" id="{C0E6ADD8-A618-41DD-A73B-4FC269C3F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9127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673"/>
                </a:solidFill>
              </a:defRPr>
            </a:pPr>
            <a:r>
              <a:rPr sz="1050" b="0">
                <a:solidFill>
                  <a:srgbClr val="5E6673"/>
                </a:solidFill>
              </a:rPr>
              <a:t>20</a:t>
            </a:r>
          </a:p>
        </p:txBody>
      </p:sp>
      <p:sp>
        <p:nvSpPr>
          <p:cNvPr id="5" name="text-70-188">
            <a:extLst xmlns:a="http://schemas.openxmlformats.org/drawingml/2006/main">
              <a:ext uri="{FF2B5EF4-FFF2-40B4-BE49-F238E27FC236}">
                <a16:creationId xmlns:a16="http://schemas.microsoft.com/office/drawing/2014/main" id="{96A36073-E1A8-470D-8972-ACF7A2475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</a:defRPr>
            </a:pPr>
            <a:r>
              <a:rPr sz="1275" b="1">
                <a:solidFill>
                  <a:srgbClr val="3D8DFF"/>
                </a:solidFill>
              </a:rPr>
              <a:t>A · Opening 6</a:t>
            </a:r>
          </a:p>
        </p:txBody>
      </p:sp>
      <p:sp>
        <p:nvSpPr>
          <p:cNvPr id="6" name="text-300-186">
            <a:extLst xmlns:a="http://schemas.openxmlformats.org/drawingml/2006/main">
              <a:ext uri="{FF2B5EF4-FFF2-40B4-BE49-F238E27FC236}">
                <a16:creationId xmlns:a16="http://schemas.microsoft.com/office/drawing/2014/main" id="{10B5D820-9789-48DD-BFCD-DBF549931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771650"/>
            <a:ext cx="8191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The question of free public transportation deserves careful examination, as decisions in this area may affect both individual opportunities and collective wellbeing.</a:t>
            </a:r>
          </a:p>
        </p:txBody>
      </p:sp>
      <p:sp>
        <p:nvSpPr>
          <p:cNvPr id="7" name="rect-70-304">
            <a:extLst xmlns:a="http://schemas.openxmlformats.org/drawingml/2006/main">
              <a:ext uri="{FF2B5EF4-FFF2-40B4-BE49-F238E27FC236}">
                <a16:creationId xmlns:a16="http://schemas.microsoft.com/office/drawing/2014/main" id="{B5C4D164-05DC-49C9-9DAB-B8F86924B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9560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8" name="text-70-332">
            <a:extLst xmlns:a="http://schemas.openxmlformats.org/drawingml/2006/main">
              <a:ext uri="{FF2B5EF4-FFF2-40B4-BE49-F238E27FC236}">
                <a16:creationId xmlns:a16="http://schemas.microsoft.com/office/drawing/2014/main" id="{8F6E9DB7-3EFF-447C-8F36-0BED7214B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623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</a:defRPr>
            </a:pPr>
            <a:r>
              <a:rPr sz="1275" b="1">
                <a:solidFill>
                  <a:srgbClr val="3D8DFF"/>
                </a:solidFill>
              </a:rPr>
              <a:t>B · Opening 9</a:t>
            </a:r>
          </a:p>
        </p:txBody>
      </p:sp>
      <p:sp>
        <p:nvSpPr>
          <p:cNvPr id="9" name="text-300-330">
            <a:extLst xmlns:a="http://schemas.openxmlformats.org/drawingml/2006/main">
              <a:ext uri="{FF2B5EF4-FFF2-40B4-BE49-F238E27FC236}">
                <a16:creationId xmlns:a16="http://schemas.microsoft.com/office/drawing/2014/main" id="{9C8FE70C-C372-4ECB-8BB2-9D984E7AC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143250"/>
            <a:ext cx="8191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Evaluating greater government funding for scientific research requires balanced consideration of the available evidence, the people affected and the likely long-term consequences.</a:t>
            </a:r>
          </a:p>
        </p:txBody>
      </p:sp>
      <p:sp>
        <p:nvSpPr>
          <p:cNvPr id="10" name="rect-70-448">
            <a:extLst xmlns:a="http://schemas.openxmlformats.org/drawingml/2006/main">
              <a:ext uri="{FF2B5EF4-FFF2-40B4-BE49-F238E27FC236}">
                <a16:creationId xmlns:a16="http://schemas.microsoft.com/office/drawing/2014/main" id="{EFDF1AA8-1FE3-4A1D-87D0-9F6EB7081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1" name="text-70-476">
            <a:extLst xmlns:a="http://schemas.openxmlformats.org/drawingml/2006/main">
              <a:ext uri="{FF2B5EF4-FFF2-40B4-BE49-F238E27FC236}">
                <a16:creationId xmlns:a16="http://schemas.microsoft.com/office/drawing/2014/main" id="{5DAC21C8-F07F-45F7-8F59-483D994D5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339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</a:defRPr>
            </a:pPr>
            <a:r>
              <a:rPr sz="1275" b="1">
                <a:solidFill>
                  <a:srgbClr val="3D8DFF"/>
                </a:solidFill>
              </a:rPr>
              <a:t>C · Opening 3</a:t>
            </a:r>
          </a:p>
        </p:txBody>
      </p:sp>
      <p:sp>
        <p:nvSpPr>
          <p:cNvPr id="12" name="text-300-474">
            <a:extLst xmlns:a="http://schemas.openxmlformats.org/drawingml/2006/main">
              <a:ext uri="{FF2B5EF4-FFF2-40B4-BE49-F238E27FC236}">
                <a16:creationId xmlns:a16="http://schemas.microsoft.com/office/drawing/2014/main" id="{C5150851-0A77-4B0F-8001-A9DE230DF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514850"/>
            <a:ext cx="8191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The social impact of social media remains a contentious matter, largely because reasonable people may evaluate its immediate advantages and broader implications in markedly different ways.</a:t>
            </a:r>
          </a:p>
        </p:txBody>
      </p:sp>
      <p:sp>
        <p:nvSpPr>
          <p:cNvPr id="13" name="text-70-620">
            <a:extLst xmlns:a="http://schemas.openxmlformats.org/drawingml/2006/main">
              <a:ext uri="{FF2B5EF4-FFF2-40B4-BE49-F238E27FC236}">
                <a16:creationId xmlns:a16="http://schemas.microsoft.com/office/drawing/2014/main" id="{2BC7F4A4-7CE0-463B-AAC1-C88554F38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57A55"/>
                </a:solidFill>
              </a:defRPr>
            </a:pPr>
            <a:r>
              <a:rPr sz="1425" b="1">
                <a:solidFill>
                  <a:srgbClr val="157A55"/>
                </a:solidFill>
              </a:rPr>
              <a:t>A different opening is acceptable if the topic phrase and logic remain accurate.</a:t>
            </a:r>
          </a:p>
        </p:txBody>
      </p:sp>
    </p:spTree>
    <p:extLst>
      <p:ext uri="{BB962C8B-B14F-4D97-AF65-F5344CB8AC3E}">
        <p14:creationId xmlns:p14="http://schemas.microsoft.com/office/powerpoint/2010/main" val="81223333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eyebrow-21">
            <a:extLst xmlns:a="http://schemas.openxmlformats.org/drawingml/2006/main">
              <a:ext uri="{FF2B5EF4-FFF2-40B4-BE49-F238E27FC236}">
                <a16:creationId xmlns:a16="http://schemas.microsoft.com/office/drawing/2014/main" id="{7335CB24-AC24-4777-B507-A43718FB0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FINAL CHECK</a:t>
            </a:r>
          </a:p>
        </p:txBody>
      </p:sp>
      <p:sp>
        <p:nvSpPr>
          <p:cNvPr id="2" name="title-21">
            <a:extLst xmlns:a="http://schemas.openxmlformats.org/drawingml/2006/main">
              <a:ext uri="{FF2B5EF4-FFF2-40B4-BE49-F238E27FC236}">
                <a16:creationId xmlns:a16="http://schemas.microsoft.com/office/drawing/2014/main" id="{35418391-3B1F-4C35-80CE-17BCA4739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</a:defRPr>
            </a:pPr>
            <a:r>
              <a:rPr sz="2925" b="1">
                <a:solidFill>
                  <a:srgbClr val="111111"/>
                </a:solidFill>
              </a:rPr>
              <a:t>Before moving to Body Paragraph 1, check five things</a:t>
            </a:r>
          </a:p>
        </p:txBody>
      </p:sp>
      <p:sp>
        <p:nvSpPr>
          <p:cNvPr id="3" name="rule-21">
            <a:extLst xmlns:a="http://schemas.openxmlformats.org/drawingml/2006/main">
              <a:ext uri="{FF2B5EF4-FFF2-40B4-BE49-F238E27FC236}">
                <a16:creationId xmlns:a16="http://schemas.microsoft.com/office/drawing/2014/main" id="{80366993-54D3-440E-B092-F251EF382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page-21">
            <a:extLst xmlns:a="http://schemas.openxmlformats.org/drawingml/2006/main">
              <a:ext uri="{FF2B5EF4-FFF2-40B4-BE49-F238E27FC236}">
                <a16:creationId xmlns:a16="http://schemas.microsoft.com/office/drawing/2014/main" id="{E289CADE-D107-40B0-99F3-437A8448E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9127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673"/>
                </a:solidFill>
              </a:defRPr>
            </a:pPr>
            <a:r>
              <a:rPr sz="1050" b="0">
                <a:solidFill>
                  <a:srgbClr val="5E6673"/>
                </a:solidFill>
              </a:rPr>
              <a:t>21</a:t>
            </a:r>
          </a:p>
        </p:txBody>
      </p:sp>
      <p:sp>
        <p:nvSpPr>
          <p:cNvPr id="5" name="check-0">
            <a:extLst xmlns:a="http://schemas.openxmlformats.org/drawingml/2006/main">
              <a:ext uri="{FF2B5EF4-FFF2-40B4-BE49-F238E27FC236}">
                <a16:creationId xmlns:a16="http://schemas.microsoft.com/office/drawing/2014/main" id="{4AABEED4-38CE-4DC9-9EC8-EB1A44510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6" name="text-72-191">
            <a:extLst xmlns:a="http://schemas.openxmlformats.org/drawingml/2006/main">
              <a:ext uri="{FF2B5EF4-FFF2-40B4-BE49-F238E27FC236}">
                <a16:creationId xmlns:a16="http://schemas.microsoft.com/office/drawing/2014/main" id="{E769B6C6-6B73-4509-A874-05CE56263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192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7" name="text-132-190">
            <a:extLst xmlns:a="http://schemas.openxmlformats.org/drawingml/2006/main">
              <a:ext uri="{FF2B5EF4-FFF2-40B4-BE49-F238E27FC236}">
                <a16:creationId xmlns:a16="http://schemas.microsoft.com/office/drawing/2014/main" id="{199CF4BF-0A8E-41C6-A3A9-AB341E01E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80975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The topic is named or accurately paraphrased.</a:t>
            </a:r>
          </a:p>
        </p:txBody>
      </p:sp>
      <p:sp>
        <p:nvSpPr>
          <p:cNvPr id="8" name="check-1">
            <a:extLst xmlns:a="http://schemas.openxmlformats.org/drawingml/2006/main">
              <a:ext uri="{FF2B5EF4-FFF2-40B4-BE49-F238E27FC236}">
                <a16:creationId xmlns:a16="http://schemas.microsoft.com/office/drawing/2014/main" id="{15B96BB4-A3B8-40F3-84A9-E2FBEE985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9" name="text-72-267">
            <a:extLst xmlns:a="http://schemas.openxmlformats.org/drawingml/2006/main">
              <a:ext uri="{FF2B5EF4-FFF2-40B4-BE49-F238E27FC236}">
                <a16:creationId xmlns:a16="http://schemas.microsoft.com/office/drawing/2014/main" id="{8D8DE0E4-FDDA-4834-8FCD-005F30E32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431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0" name="text-132-266">
            <a:extLst xmlns:a="http://schemas.openxmlformats.org/drawingml/2006/main">
              <a:ext uri="{FF2B5EF4-FFF2-40B4-BE49-F238E27FC236}">
                <a16:creationId xmlns:a16="http://schemas.microsoft.com/office/drawing/2014/main" id="{BD45EE9F-3CDF-49A6-9EAB-A102E2F83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53365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No unclear “this issue” appears before the topic.</a:t>
            </a:r>
          </a:p>
        </p:txBody>
      </p:sp>
      <p:sp>
        <p:nvSpPr>
          <p:cNvPr id="11" name="check-2">
            <a:extLst xmlns:a="http://schemas.openxmlformats.org/drawingml/2006/main">
              <a:ext uri="{FF2B5EF4-FFF2-40B4-BE49-F238E27FC236}">
                <a16:creationId xmlns:a16="http://schemas.microsoft.com/office/drawing/2014/main" id="{D25CE380-28CA-4BE5-BE66-910FDC55F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56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2" name="text-72-343">
            <a:extLst xmlns:a="http://schemas.openxmlformats.org/drawingml/2006/main">
              <a:ext uri="{FF2B5EF4-FFF2-40B4-BE49-F238E27FC236}">
                <a16:creationId xmlns:a16="http://schemas.microsoft.com/office/drawing/2014/main" id="{96DBABAE-5FFF-4596-AB35-67F0209FF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670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3" name="text-132-342">
            <a:extLst xmlns:a="http://schemas.openxmlformats.org/drawingml/2006/main">
              <a:ext uri="{FF2B5EF4-FFF2-40B4-BE49-F238E27FC236}">
                <a16:creationId xmlns:a16="http://schemas.microsoft.com/office/drawing/2014/main" id="{D1E08871-6F01-4B73-9971-26F448FBE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25755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The position is unmistakable: agree, disagree or partly agree.</a:t>
            </a:r>
          </a:p>
        </p:txBody>
      </p:sp>
      <p:sp>
        <p:nvSpPr>
          <p:cNvPr id="14" name="check-3">
            <a:extLst xmlns:a="http://schemas.openxmlformats.org/drawingml/2006/main">
              <a:ext uri="{FF2B5EF4-FFF2-40B4-BE49-F238E27FC236}">
                <a16:creationId xmlns:a16="http://schemas.microsoft.com/office/drawing/2014/main" id="{17C47845-9739-43F9-98E5-DA7F76E94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5" name="text-72-419">
            <a:extLst xmlns:a="http://schemas.openxmlformats.org/drawingml/2006/main">
              <a:ext uri="{FF2B5EF4-FFF2-40B4-BE49-F238E27FC236}">
                <a16:creationId xmlns:a16="http://schemas.microsoft.com/office/drawing/2014/main" id="{AC148874-7019-467E-AE62-699E47CA1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909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6" name="text-132-418">
            <a:extLst xmlns:a="http://schemas.openxmlformats.org/drawingml/2006/main">
              <a:ext uri="{FF2B5EF4-FFF2-40B4-BE49-F238E27FC236}">
                <a16:creationId xmlns:a16="http://schemas.microsoft.com/office/drawing/2014/main" id="{F2B7A5DB-26DC-4D2D-9677-8C5C12820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8145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Two ideas preview the two body paragraphs.</a:t>
            </a:r>
          </a:p>
        </p:txBody>
      </p:sp>
      <p:sp>
        <p:nvSpPr>
          <p:cNvPr id="17" name="check-4">
            <a:extLst xmlns:a="http://schemas.openxmlformats.org/drawingml/2006/main">
              <a:ext uri="{FF2B5EF4-FFF2-40B4-BE49-F238E27FC236}">
                <a16:creationId xmlns:a16="http://schemas.microsoft.com/office/drawing/2014/main" id="{020EF01A-2469-4149-B148-50829ACA5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434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8" name="text-72-495">
            <a:extLst xmlns:a="http://schemas.openxmlformats.org/drawingml/2006/main">
              <a:ext uri="{FF2B5EF4-FFF2-40B4-BE49-F238E27FC236}">
                <a16:creationId xmlns:a16="http://schemas.microsoft.com/office/drawing/2014/main" id="{EAAA73CB-4450-4016-8C1E-D32222244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148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9" name="text-132-494">
            <a:extLst xmlns:a="http://schemas.openxmlformats.org/drawingml/2006/main">
              <a:ext uri="{FF2B5EF4-FFF2-40B4-BE49-F238E27FC236}">
                <a16:creationId xmlns:a16="http://schemas.microsoft.com/office/drawing/2014/main" id="{44E8C24F-570E-4F47-B3EC-F782754C2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70535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The introduction is concise, relevant and grammatically controlled.</a:t>
            </a:r>
          </a:p>
        </p:txBody>
      </p:sp>
      <p:sp>
        <p:nvSpPr>
          <p:cNvPr id="20" name="rect-72-594">
            <a:extLst xmlns:a="http://schemas.openxmlformats.org/drawingml/2006/main">
              <a:ext uri="{FF2B5EF4-FFF2-40B4-BE49-F238E27FC236}">
                <a16:creationId xmlns:a16="http://schemas.microsoft.com/office/drawing/2014/main" id="{8A1FF251-7B2E-48B1-AEB7-F2A9944DA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009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21" name="text-92-601">
            <a:extLst xmlns:a="http://schemas.openxmlformats.org/drawingml/2006/main">
              <a:ext uri="{FF2B5EF4-FFF2-40B4-BE49-F238E27FC236}">
                <a16:creationId xmlns:a16="http://schemas.microsoft.com/office/drawing/2014/main" id="{AE0A1B01-9811-4597-8510-8B533DA1A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24525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Clear and specific beats complicated and generic.</a:t>
            </a:r>
          </a:p>
        </p:txBody>
      </p:sp>
    </p:spTree>
    <p:extLst>
      <p:ext uri="{BB962C8B-B14F-4D97-AF65-F5344CB8AC3E}">
        <p14:creationId xmlns:p14="http://schemas.microsoft.com/office/powerpoint/2010/main" val="9887526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2026-09-02T03:40:47.3160000Z</dcterms:created>
  <dcterms:modified xsi:type="dcterms:W3CDTF">2026-09-02T03:40:47.3160000Z</dcterms:modified>
</coreProperties>
</file>